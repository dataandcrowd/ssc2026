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410"/>
        </a:solidFill>
      </p:bgPr>
    </p:bg>
    <p:spTree>
      <p:nvGrpSpPr>
        <p:cNvPr id="1" name=""/>
        <p:cNvGrpSpPr/>
        <p:nvPr/>
      </p:nvGrpSpPr>
      <p:grpSpPr>
        <a:xfrm>
          <a:off x="0" y="0"/>
          <a:ext cx="0" cy="0"/>
          <a:chOff x="0" y="0"/>
          <a:chExt cx="0" cy="0"/>
        </a:xfrm>
      </p:grpSpPr>
      <p:sp>
        <p:nvSpPr>
          <p:cNvPr id="2" name="Shape 0"/>
          <p:cNvSpPr/>
          <p:nvPr/>
        </p:nvSpPr>
        <p:spPr>
          <a:xfrm>
            <a:off x="10058400" y="914400"/>
            <a:ext cx="457200" cy="457200"/>
          </a:xfrm>
          <a:prstGeom prst="ellipse">
            <a:avLst/>
          </a:prstGeom>
          <a:solidFill>
            <a:srgbClr val="CC785C"/>
          </a:solidFill>
          <a:ln w="12700">
            <a:solidFill>
              <a:srgbClr val="CC785C"/>
            </a:solidFill>
            <a:prstDash val="solid"/>
          </a:ln>
        </p:spPr>
      </p:sp>
      <p:sp>
        <p:nvSpPr>
          <p:cNvPr id="3" name="Shape 1"/>
          <p:cNvSpPr/>
          <p:nvPr/>
        </p:nvSpPr>
        <p:spPr>
          <a:xfrm>
            <a:off x="10789920" y="1554480"/>
            <a:ext cx="320040" cy="320040"/>
          </a:xfrm>
          <a:prstGeom prst="ellipse">
            <a:avLst/>
          </a:prstGeom>
          <a:solidFill>
            <a:srgbClr val="B85042"/>
          </a:solidFill>
          <a:ln w="12700">
            <a:solidFill>
              <a:srgbClr val="B85042"/>
            </a:solidFill>
            <a:prstDash val="solid"/>
          </a:ln>
        </p:spPr>
      </p:sp>
      <p:sp>
        <p:nvSpPr>
          <p:cNvPr id="4" name="Shape 2"/>
          <p:cNvSpPr/>
          <p:nvPr/>
        </p:nvSpPr>
        <p:spPr>
          <a:xfrm>
            <a:off x="11247120" y="2057400"/>
            <a:ext cx="201168" cy="201168"/>
          </a:xfrm>
          <a:prstGeom prst="ellipse">
            <a:avLst/>
          </a:prstGeom>
          <a:solidFill>
            <a:srgbClr val="A7BEAE"/>
          </a:solidFill>
          <a:ln w="12700">
            <a:solidFill>
              <a:srgbClr val="A7BEAE"/>
            </a:solidFill>
            <a:prstDash val="solid"/>
          </a:ln>
        </p:spPr>
      </p:sp>
      <p:sp>
        <p:nvSpPr>
          <p:cNvPr id="5" name="Text 3"/>
          <p:cNvSpPr/>
          <p:nvPr/>
        </p:nvSpPr>
        <p:spPr>
          <a:xfrm>
            <a:off x="640080" y="914400"/>
            <a:ext cx="7315200" cy="365760"/>
          </a:xfrm>
          <a:prstGeom prst="rect">
            <a:avLst/>
          </a:prstGeom>
          <a:noFill/>
          <a:ln/>
        </p:spPr>
        <p:txBody>
          <a:bodyPr wrap="square" lIns="0" tIns="0" rIns="0" bIns="0" rtlCol="0" anchor="ctr"/>
          <a:lstStyle/>
          <a:p>
            <a:pPr indent="0" marL="0">
              <a:buNone/>
            </a:pPr>
            <a:r>
              <a:rPr lang="en-US" sz="1400" b="1" spc="400" kern="0" dirty="0">
                <a:solidFill>
                  <a:srgbClr val="CC785C"/>
                </a:solidFill>
                <a:latin typeface="Calibri" pitchFamily="34" charset="0"/>
                <a:ea typeface="Calibri" pitchFamily="34" charset="-122"/>
                <a:cs typeface="Calibri" pitchFamily="34" charset="-120"/>
              </a:rPr>
              <a:t>ToU equity lab meeting</a:t>
            </a:r>
            <a:endParaRPr lang="en-US" sz="1400" dirty="0"/>
          </a:p>
        </p:txBody>
      </p:sp>
      <p:sp>
        <p:nvSpPr>
          <p:cNvPr id="6" name="Text 4"/>
          <p:cNvSpPr/>
          <p:nvPr/>
        </p:nvSpPr>
        <p:spPr>
          <a:xfrm>
            <a:off x="640080" y="1463040"/>
            <a:ext cx="10515600" cy="100584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Who pays the fees?</a:t>
            </a:r>
            <a:endParaRPr lang="en-US" sz="5200" dirty="0"/>
          </a:p>
        </p:txBody>
      </p:sp>
      <p:sp>
        <p:nvSpPr>
          <p:cNvPr id="7" name="Text 5"/>
          <p:cNvSpPr/>
          <p:nvPr/>
        </p:nvSpPr>
        <p:spPr>
          <a:xfrm>
            <a:off x="640080" y="2651760"/>
            <a:ext cx="10515600" cy="731520"/>
          </a:xfrm>
          <a:prstGeom prst="rect">
            <a:avLst/>
          </a:prstGeom>
          <a:noFill/>
          <a:ln/>
        </p:spPr>
        <p:txBody>
          <a:bodyPr wrap="square" lIns="0" tIns="0" rIns="0" bIns="0" rtlCol="0" anchor="ctr"/>
          <a:lstStyle/>
          <a:p>
            <a:pPr indent="0" marL="0">
              <a:buNone/>
            </a:pPr>
            <a:r>
              <a:rPr lang="en-US" sz="2200" i="1" dirty="0">
                <a:solidFill>
                  <a:srgbClr val="F0EEE5"/>
                </a:solidFill>
                <a:latin typeface="Georgia" pitchFamily="34" charset="0"/>
                <a:ea typeface="Georgia" pitchFamily="34" charset="-122"/>
                <a:cs typeface="Georgia" pitchFamily="34" charset="-120"/>
              </a:rPr>
              <a:t>Accessibility-based equity of congestion charging scenarios in Auckland</a:t>
            </a:r>
            <a:endParaRPr lang="en-US" sz="2200" dirty="0"/>
          </a:p>
        </p:txBody>
      </p:sp>
      <p:sp>
        <p:nvSpPr>
          <p:cNvPr id="8" name="Shape 6"/>
          <p:cNvSpPr/>
          <p:nvPr/>
        </p:nvSpPr>
        <p:spPr>
          <a:xfrm>
            <a:off x="640080" y="4114800"/>
            <a:ext cx="1371600" cy="36576"/>
          </a:xfrm>
          <a:prstGeom prst="rect">
            <a:avLst/>
          </a:prstGeom>
          <a:solidFill>
            <a:srgbClr val="CC785C"/>
          </a:solidFill>
          <a:ln w="12700">
            <a:solidFill>
              <a:srgbClr val="CC785C"/>
            </a:solidFill>
            <a:prstDash val="solid"/>
          </a:ln>
        </p:spPr>
      </p:sp>
      <p:sp>
        <p:nvSpPr>
          <p:cNvPr id="9" name="Text 7"/>
          <p:cNvSpPr/>
          <p:nvPr/>
        </p:nvSpPr>
        <p:spPr>
          <a:xfrm>
            <a:off x="640080" y="4297680"/>
            <a:ext cx="7315200" cy="13716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Hyesop Shin</a:t>
            </a:r>
            <a:endParaRPr lang="en-US" sz="1800" dirty="0"/>
          </a:p>
          <a:p>
            <a:pPr indent="0" marL="0">
              <a:buNone/>
            </a:pPr>
            <a:r>
              <a:rPr lang="en-US" sz="1400" dirty="0">
                <a:solidFill>
                  <a:srgbClr val="F0EEE5"/>
                </a:solidFill>
                <a:latin typeface="Calibri" pitchFamily="34" charset="0"/>
                <a:ea typeface="Calibri" pitchFamily="34" charset="-122"/>
                <a:cs typeface="Calibri" pitchFamily="34" charset="-120"/>
              </a:rPr>
              <a:t>University of Auckland</a:t>
            </a:r>
            <a:endParaRPr lang="en-US" sz="1800" dirty="0"/>
          </a:p>
          <a:p>
            <a:pPr indent="0" marL="0">
              <a:buNone/>
            </a:pPr>
            <a:r>
              <a:rPr lang="en-US" sz="1400" dirty="0">
                <a:solidFill>
                  <a:srgbClr val="857F72"/>
                </a:solidFill>
                <a:latin typeface="Calibri" pitchFamily="34" charset="0"/>
                <a:ea typeface="Calibri" pitchFamily="34" charset="-122"/>
                <a:cs typeface="Calibri" pitchFamily="34" charset="-120"/>
              </a:rPr>
              <a:t>GTFS isochrone working group</a:t>
            </a:r>
            <a:endParaRPr lang="en-US" sz="1800" dirty="0"/>
          </a:p>
        </p:txBody>
      </p:sp>
      <p:sp>
        <p:nvSpPr>
          <p:cNvPr id="10" name="Text 8"/>
          <p:cNvSpPr/>
          <p:nvPr/>
        </p:nvSpPr>
        <p:spPr>
          <a:xfrm>
            <a:off x="8778240" y="5943600"/>
            <a:ext cx="2286000" cy="274320"/>
          </a:xfrm>
          <a:prstGeom prst="rect">
            <a:avLst/>
          </a:prstGeom>
          <a:noFill/>
          <a:ln/>
        </p:spPr>
        <p:txBody>
          <a:bodyPr wrap="square" lIns="0" tIns="0" rIns="0" bIns="0" rtlCol="0" anchor="ctr"/>
          <a:lstStyle/>
          <a:p>
            <a:pPr algn="r" indent="0" marL="0">
              <a:buNone/>
            </a:pPr>
            <a:r>
              <a:rPr lang="en-US" sz="1100" dirty="0">
                <a:solidFill>
                  <a:srgbClr val="857F72"/>
                </a:solidFill>
                <a:latin typeface="Calibri" pitchFamily="34" charset="0"/>
                <a:ea typeface="Calibri" pitchFamily="34" charset="-122"/>
                <a:cs typeface="Calibri" pitchFamily="34" charset="-120"/>
              </a:rPr>
              <a:t>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298448"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298448"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THE QUESTION</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200" i="1" dirty="0">
                <a:solidFill>
                  <a:srgbClr val="857F72"/>
                </a:solidFill>
                <a:latin typeface="Georgia" pitchFamily="34" charset="0"/>
                <a:ea typeface="Georgia" pitchFamily="34" charset="-122"/>
                <a:cs typeface="Georgia" pitchFamily="34" charset="-120"/>
              </a:rPr>
              <a:t>The research question</a:t>
            </a:r>
            <a:endParaRPr lang="en-US" sz="2200" dirty="0"/>
          </a:p>
        </p:txBody>
      </p:sp>
      <p:sp>
        <p:nvSpPr>
          <p:cNvPr id="5" name="Text 3"/>
          <p:cNvSpPr/>
          <p:nvPr/>
        </p:nvSpPr>
        <p:spPr>
          <a:xfrm>
            <a:off x="640080" y="2011680"/>
            <a:ext cx="10972800" cy="2377440"/>
          </a:xfrm>
          <a:prstGeom prst="rect">
            <a:avLst/>
          </a:prstGeom>
          <a:noFill/>
          <a:ln/>
        </p:spPr>
        <p:txBody>
          <a:bodyPr wrap="square" lIns="0" tIns="0" rIns="0" bIns="0" rtlCol="0" anchor="ctr"/>
          <a:lstStyle/>
          <a:p>
            <a:pPr indent="0" marL="0">
              <a:buNone/>
            </a:pPr>
            <a:r>
              <a:rPr lang="en-US" sz="2800" dirty="0">
                <a:solidFill>
                  <a:srgbClr val="2C1810"/>
                </a:solidFill>
                <a:latin typeface="Georgia" pitchFamily="34" charset="0"/>
                <a:ea typeface="Georgia" pitchFamily="34" charset="-122"/>
                <a:cs typeface="Georgia" pitchFamily="34" charset="-120"/>
              </a:rPr>
              <a:t>Who would face a Time of Use charge in Auckland </a:t>
            </a:r>
            <a:pPr indent="0" marL="0">
              <a:buNone/>
            </a:pPr>
            <a:r>
              <a:rPr lang="en-US" sz="2800" b="1" dirty="0">
                <a:solidFill>
                  <a:srgbClr val="B85042"/>
                </a:solidFill>
                <a:latin typeface="Georgia" pitchFamily="34" charset="0"/>
                <a:ea typeface="Georgia" pitchFamily="34" charset="-122"/>
                <a:cs typeface="Georgia" pitchFamily="34" charset="-120"/>
              </a:rPr>
              <a:t>without a viable public transport alternative</a:t>
            </a:r>
            <a:pPr indent="0" marL="0">
              <a:buNone/>
            </a:pPr>
            <a:r>
              <a:rPr lang="en-US" sz="2800" dirty="0">
                <a:solidFill>
                  <a:srgbClr val="2C1810"/>
                </a:solidFill>
                <a:latin typeface="Georgia" pitchFamily="34" charset="0"/>
                <a:ea typeface="Georgia" pitchFamily="34" charset="-122"/>
                <a:cs typeface="Georgia" pitchFamily="34" charset="-120"/>
              </a:rPr>
              <a:t> under each of the six shortlisted scenarios, and how would that burden be distributed against area-level deprivation?</a:t>
            </a:r>
            <a:endParaRPr lang="en-US" sz="2800" dirty="0"/>
          </a:p>
        </p:txBody>
      </p:sp>
      <p:sp>
        <p:nvSpPr>
          <p:cNvPr id="6" name="Shape 4"/>
          <p:cNvSpPr/>
          <p:nvPr/>
        </p:nvSpPr>
        <p:spPr>
          <a:xfrm>
            <a:off x="640080" y="4937760"/>
            <a:ext cx="3474720" cy="1188720"/>
          </a:xfrm>
          <a:prstGeom prst="rect">
            <a:avLst/>
          </a:prstGeom>
          <a:solidFill>
            <a:srgbClr val="FAF8F2"/>
          </a:solidFill>
          <a:ln w="12700">
            <a:solidFill>
              <a:srgbClr val="FAF8F2"/>
            </a:solidFill>
            <a:prstDash val="solid"/>
          </a:ln>
        </p:spPr>
      </p:sp>
      <p:sp>
        <p:nvSpPr>
          <p:cNvPr id="7" name="Shape 5"/>
          <p:cNvSpPr/>
          <p:nvPr/>
        </p:nvSpPr>
        <p:spPr>
          <a:xfrm>
            <a:off x="640080" y="4937760"/>
            <a:ext cx="73152" cy="1188720"/>
          </a:xfrm>
          <a:prstGeom prst="rect">
            <a:avLst/>
          </a:prstGeom>
          <a:solidFill>
            <a:srgbClr val="CC785C"/>
          </a:solidFill>
          <a:ln w="12700">
            <a:solidFill>
              <a:srgbClr val="CC785C"/>
            </a:solidFill>
            <a:prstDash val="solid"/>
          </a:ln>
        </p:spPr>
      </p:sp>
      <p:sp>
        <p:nvSpPr>
          <p:cNvPr id="8" name="Text 6"/>
          <p:cNvSpPr/>
          <p:nvPr/>
        </p:nvSpPr>
        <p:spPr>
          <a:xfrm>
            <a:off x="868680" y="5029200"/>
            <a:ext cx="3200400" cy="320040"/>
          </a:xfrm>
          <a:prstGeom prst="rect">
            <a:avLst/>
          </a:prstGeom>
          <a:noFill/>
          <a:ln/>
        </p:spPr>
        <p:txBody>
          <a:bodyPr wrap="square" lIns="0" tIns="0" rIns="0" bIns="0"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Burden</a:t>
            </a:r>
            <a:endParaRPr lang="en-US" sz="1100" dirty="0"/>
          </a:p>
        </p:txBody>
      </p:sp>
      <p:sp>
        <p:nvSpPr>
          <p:cNvPr id="9" name="Text 7"/>
          <p:cNvSpPr/>
          <p:nvPr/>
        </p:nvSpPr>
        <p:spPr>
          <a:xfrm>
            <a:off x="868680" y="5349240"/>
            <a:ext cx="3200400" cy="777240"/>
          </a:xfrm>
          <a:prstGeom prst="rect">
            <a:avLst/>
          </a:prstGeom>
          <a:noFill/>
          <a:ln/>
        </p:spPr>
        <p:txBody>
          <a:bodyPr wrap="square" lIns="0" tIns="0" rIns="0" bIns="0" rtlCol="0" anchor="ctr"/>
          <a:lstStyle/>
          <a:p>
            <a:pPr indent="0" marL="0">
              <a:buNone/>
            </a:pPr>
            <a:r>
              <a:rPr lang="en-US" sz="1300" dirty="0">
                <a:solidFill>
                  <a:srgbClr val="2C1810"/>
                </a:solidFill>
                <a:latin typeface="Calibri" pitchFamily="34" charset="0"/>
                <a:ea typeface="Calibri" pitchFamily="34" charset="-122"/>
                <a:cs typeface="Calibri" pitchFamily="34" charset="-120"/>
              </a:rPr>
              <a:t>Who would pay the charge under each scenario?</a:t>
            </a:r>
            <a:endParaRPr lang="en-US" sz="1300" dirty="0"/>
          </a:p>
        </p:txBody>
      </p:sp>
      <p:sp>
        <p:nvSpPr>
          <p:cNvPr id="10" name="Shape 8"/>
          <p:cNvSpPr/>
          <p:nvPr/>
        </p:nvSpPr>
        <p:spPr>
          <a:xfrm>
            <a:off x="4389120" y="4937760"/>
            <a:ext cx="3474720" cy="1188720"/>
          </a:xfrm>
          <a:prstGeom prst="rect">
            <a:avLst/>
          </a:prstGeom>
          <a:solidFill>
            <a:srgbClr val="FAF8F2"/>
          </a:solidFill>
          <a:ln w="12700">
            <a:solidFill>
              <a:srgbClr val="FAF8F2"/>
            </a:solidFill>
            <a:prstDash val="solid"/>
          </a:ln>
        </p:spPr>
      </p:sp>
      <p:sp>
        <p:nvSpPr>
          <p:cNvPr id="11" name="Shape 9"/>
          <p:cNvSpPr/>
          <p:nvPr/>
        </p:nvSpPr>
        <p:spPr>
          <a:xfrm>
            <a:off x="4389120" y="4937760"/>
            <a:ext cx="73152" cy="1188720"/>
          </a:xfrm>
          <a:prstGeom prst="rect">
            <a:avLst/>
          </a:prstGeom>
          <a:solidFill>
            <a:srgbClr val="CC785C"/>
          </a:solidFill>
          <a:ln w="12700">
            <a:solidFill>
              <a:srgbClr val="CC785C"/>
            </a:solidFill>
            <a:prstDash val="solid"/>
          </a:ln>
        </p:spPr>
      </p:sp>
      <p:sp>
        <p:nvSpPr>
          <p:cNvPr id="12" name="Text 10"/>
          <p:cNvSpPr/>
          <p:nvPr/>
        </p:nvSpPr>
        <p:spPr>
          <a:xfrm>
            <a:off x="4617720" y="5029200"/>
            <a:ext cx="3200400" cy="320040"/>
          </a:xfrm>
          <a:prstGeom prst="rect">
            <a:avLst/>
          </a:prstGeom>
          <a:noFill/>
          <a:ln/>
        </p:spPr>
        <p:txBody>
          <a:bodyPr wrap="square" lIns="0" tIns="0" rIns="0" bIns="0"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Alternative</a:t>
            </a:r>
            <a:endParaRPr lang="en-US" sz="1100" dirty="0"/>
          </a:p>
        </p:txBody>
      </p:sp>
      <p:sp>
        <p:nvSpPr>
          <p:cNvPr id="13" name="Text 11"/>
          <p:cNvSpPr/>
          <p:nvPr/>
        </p:nvSpPr>
        <p:spPr>
          <a:xfrm>
            <a:off x="4617720" y="5349240"/>
            <a:ext cx="3200400" cy="777240"/>
          </a:xfrm>
          <a:prstGeom prst="rect">
            <a:avLst/>
          </a:prstGeom>
          <a:noFill/>
          <a:ln/>
        </p:spPr>
        <p:txBody>
          <a:bodyPr wrap="square" lIns="0" tIns="0" rIns="0" bIns="0" rtlCol="0" anchor="ctr"/>
          <a:lstStyle/>
          <a:p>
            <a:pPr indent="0" marL="0">
              <a:buNone/>
            </a:pPr>
            <a:r>
              <a:rPr lang="en-US" sz="1300" dirty="0">
                <a:solidFill>
                  <a:srgbClr val="2C1810"/>
                </a:solidFill>
                <a:latin typeface="Calibri" pitchFamily="34" charset="0"/>
                <a:ea typeface="Calibri" pitchFamily="34" charset="-122"/>
                <a:cs typeface="Calibri" pitchFamily="34" charset="-120"/>
              </a:rPr>
              <a:t>Does that population have a viable 45-minute public transport alternative?</a:t>
            </a:r>
            <a:endParaRPr lang="en-US" sz="1300" dirty="0"/>
          </a:p>
        </p:txBody>
      </p:sp>
      <p:sp>
        <p:nvSpPr>
          <p:cNvPr id="14" name="Shape 12"/>
          <p:cNvSpPr/>
          <p:nvPr/>
        </p:nvSpPr>
        <p:spPr>
          <a:xfrm>
            <a:off x="8138160" y="4937760"/>
            <a:ext cx="3474720" cy="1188720"/>
          </a:xfrm>
          <a:prstGeom prst="rect">
            <a:avLst/>
          </a:prstGeom>
          <a:solidFill>
            <a:srgbClr val="FAF8F2"/>
          </a:solidFill>
          <a:ln w="12700">
            <a:solidFill>
              <a:srgbClr val="FAF8F2"/>
            </a:solidFill>
            <a:prstDash val="solid"/>
          </a:ln>
        </p:spPr>
      </p:sp>
      <p:sp>
        <p:nvSpPr>
          <p:cNvPr id="15" name="Shape 13"/>
          <p:cNvSpPr/>
          <p:nvPr/>
        </p:nvSpPr>
        <p:spPr>
          <a:xfrm>
            <a:off x="8138160" y="4937760"/>
            <a:ext cx="73152" cy="1188720"/>
          </a:xfrm>
          <a:prstGeom prst="rect">
            <a:avLst/>
          </a:prstGeom>
          <a:solidFill>
            <a:srgbClr val="CC785C"/>
          </a:solidFill>
          <a:ln w="12700">
            <a:solidFill>
              <a:srgbClr val="CC785C"/>
            </a:solidFill>
            <a:prstDash val="solid"/>
          </a:ln>
        </p:spPr>
      </p:sp>
      <p:sp>
        <p:nvSpPr>
          <p:cNvPr id="16" name="Text 14"/>
          <p:cNvSpPr/>
          <p:nvPr/>
        </p:nvSpPr>
        <p:spPr>
          <a:xfrm>
            <a:off x="8366760" y="5029200"/>
            <a:ext cx="3200400" cy="320040"/>
          </a:xfrm>
          <a:prstGeom prst="rect">
            <a:avLst/>
          </a:prstGeom>
          <a:noFill/>
          <a:ln/>
        </p:spPr>
        <p:txBody>
          <a:bodyPr wrap="square" lIns="0" tIns="0" rIns="0" bIns="0"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Distribution</a:t>
            </a:r>
            <a:endParaRPr lang="en-US" sz="1100" dirty="0"/>
          </a:p>
        </p:txBody>
      </p:sp>
      <p:sp>
        <p:nvSpPr>
          <p:cNvPr id="17" name="Text 15"/>
          <p:cNvSpPr/>
          <p:nvPr/>
        </p:nvSpPr>
        <p:spPr>
          <a:xfrm>
            <a:off x="8366760" y="5349240"/>
            <a:ext cx="3200400" cy="777240"/>
          </a:xfrm>
          <a:prstGeom prst="rect">
            <a:avLst/>
          </a:prstGeom>
          <a:noFill/>
          <a:ln/>
        </p:spPr>
        <p:txBody>
          <a:bodyPr wrap="square" lIns="0" tIns="0" rIns="0" bIns="0" rtlCol="0" anchor="ctr"/>
          <a:lstStyle/>
          <a:p>
            <a:pPr indent="0" marL="0">
              <a:buNone/>
            </a:pPr>
            <a:r>
              <a:rPr lang="en-US" sz="1300" dirty="0">
                <a:solidFill>
                  <a:srgbClr val="2C1810"/>
                </a:solidFill>
                <a:latin typeface="Calibri" pitchFamily="34" charset="0"/>
                <a:ea typeface="Calibri" pitchFamily="34" charset="-122"/>
                <a:cs typeface="Calibri" pitchFamily="34" charset="-120"/>
              </a:rPr>
              <a:t>How does the burden sit against area-level deprivation?</a:t>
            </a:r>
            <a:endParaRPr lang="en-US" sz="1300" dirty="0"/>
          </a:p>
        </p:txBody>
      </p:sp>
      <p:sp>
        <p:nvSpPr>
          <p:cNvPr id="18" name="Text 16"/>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19" name="Text 17"/>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453896"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453896"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AUCKLAND, 2029</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800" dirty="0">
                <a:solidFill>
                  <a:srgbClr val="2C1810"/>
                </a:solidFill>
                <a:latin typeface="Georgia" pitchFamily="34" charset="0"/>
                <a:ea typeface="Georgia" pitchFamily="34" charset="-122"/>
                <a:cs typeface="Georgia" pitchFamily="34" charset="-120"/>
              </a:rPr>
              <a:t>Congestion pricing is no longer a hypothetical.</a:t>
            </a:r>
            <a:endParaRPr lang="en-US" sz="2800" dirty="0"/>
          </a:p>
        </p:txBody>
      </p:sp>
      <p:sp>
        <p:nvSpPr>
          <p:cNvPr id="5" name="Text 3"/>
          <p:cNvSpPr/>
          <p:nvPr/>
        </p:nvSpPr>
        <p:spPr>
          <a:xfrm>
            <a:off x="640080" y="2011680"/>
            <a:ext cx="10972800" cy="914400"/>
          </a:xfrm>
          <a:prstGeom prst="rect">
            <a:avLst/>
          </a:prstGeom>
          <a:noFill/>
          <a:ln/>
        </p:spPr>
        <p:txBody>
          <a:bodyPr wrap="square" lIns="0" tIns="0" rIns="0" bIns="0" rtlCol="0" anchor="ctr"/>
          <a:lstStyle/>
          <a:p>
            <a:pPr indent="0" marL="0">
              <a:buNone/>
            </a:pPr>
            <a:r>
              <a:rPr lang="en-US" sz="1500" dirty="0">
                <a:solidFill>
                  <a:srgbClr val="2C1810"/>
                </a:solidFill>
                <a:latin typeface="Calibri" pitchFamily="34" charset="0"/>
                <a:ea typeface="Calibri" pitchFamily="34" charset="-122"/>
                <a:cs typeface="Calibri" pitchFamily="34" charset="-120"/>
              </a:rPr>
              <a:t>The Land Transport (Time of Use Charging) Amendment Act 2025 sets the legal frame. Auckland Transport has six shortlisted scenarios. We do not adjudicate whether pricing should happen, but which option carries which equity cost.</a:t>
            </a:r>
            <a:endParaRPr lang="en-US" sz="1500" dirty="0"/>
          </a:p>
        </p:txBody>
      </p:sp>
      <p:sp>
        <p:nvSpPr>
          <p:cNvPr id="6" name="Shape 4"/>
          <p:cNvSpPr/>
          <p:nvPr/>
        </p:nvSpPr>
        <p:spPr>
          <a:xfrm>
            <a:off x="640080" y="3383280"/>
            <a:ext cx="3474720" cy="2468880"/>
          </a:xfrm>
          <a:prstGeom prst="rect">
            <a:avLst/>
          </a:prstGeom>
          <a:solidFill>
            <a:srgbClr val="FAF8F2"/>
          </a:solidFill>
          <a:ln w="12700">
            <a:solidFill>
              <a:srgbClr val="FAF8F2"/>
            </a:solidFill>
            <a:prstDash val="solid"/>
          </a:ln>
        </p:spPr>
      </p:sp>
      <p:sp>
        <p:nvSpPr>
          <p:cNvPr id="7" name="Text 5"/>
          <p:cNvSpPr/>
          <p:nvPr/>
        </p:nvSpPr>
        <p:spPr>
          <a:xfrm>
            <a:off x="640080" y="3749040"/>
            <a:ext cx="3474720" cy="1097280"/>
          </a:xfrm>
          <a:prstGeom prst="rect">
            <a:avLst/>
          </a:prstGeom>
          <a:noFill/>
          <a:ln/>
        </p:spPr>
        <p:txBody>
          <a:bodyPr wrap="square" lIns="0" tIns="0" rIns="0" bIns="0" rtlCol="0" anchor="ctr"/>
          <a:lstStyle/>
          <a:p>
            <a:pPr algn="ctr" indent="0" marL="0">
              <a:buNone/>
            </a:pPr>
            <a:r>
              <a:rPr lang="en-US" sz="6000" b="1" dirty="0">
                <a:solidFill>
                  <a:srgbClr val="CC785C"/>
                </a:solidFill>
                <a:latin typeface="Georgia" pitchFamily="34" charset="0"/>
                <a:ea typeface="Georgia" pitchFamily="34" charset="-122"/>
                <a:cs typeface="Georgia" pitchFamily="34" charset="-120"/>
              </a:rPr>
              <a:t>84.7%</a:t>
            </a:r>
            <a:endParaRPr lang="en-US" sz="6000" dirty="0"/>
          </a:p>
        </p:txBody>
      </p:sp>
      <p:sp>
        <p:nvSpPr>
          <p:cNvPr id="8" name="Text 6"/>
          <p:cNvSpPr/>
          <p:nvPr/>
        </p:nvSpPr>
        <p:spPr>
          <a:xfrm>
            <a:off x="914400" y="5029200"/>
            <a:ext cx="2926080" cy="731520"/>
          </a:xfrm>
          <a:prstGeom prst="rect">
            <a:avLst/>
          </a:prstGeom>
          <a:noFill/>
          <a:ln/>
        </p:spPr>
        <p:txBody>
          <a:bodyPr wrap="square" lIns="0" tIns="0" rIns="0" bIns="0" rtlCol="0" anchor="ctr"/>
          <a:lstStyle/>
          <a:p>
            <a:pPr algn="ctr" indent="0" marL="0">
              <a:buNone/>
            </a:pPr>
            <a:r>
              <a:rPr lang="en-US" sz="1200" dirty="0">
                <a:solidFill>
                  <a:srgbClr val="2C1810"/>
                </a:solidFill>
                <a:latin typeface="Calibri" pitchFamily="34" charset="0"/>
                <a:ea typeface="Calibri" pitchFamily="34" charset="-122"/>
                <a:cs typeface="Calibri" pitchFamily="34" charset="-120"/>
              </a:rPr>
              <a:t>of Aucklanders travel by car (Census 2023)</a:t>
            </a:r>
            <a:endParaRPr lang="en-US" sz="1200" dirty="0"/>
          </a:p>
        </p:txBody>
      </p:sp>
      <p:sp>
        <p:nvSpPr>
          <p:cNvPr id="9" name="Shape 7"/>
          <p:cNvSpPr/>
          <p:nvPr/>
        </p:nvSpPr>
        <p:spPr>
          <a:xfrm>
            <a:off x="4389120" y="3383280"/>
            <a:ext cx="3474720" cy="2468880"/>
          </a:xfrm>
          <a:prstGeom prst="rect">
            <a:avLst/>
          </a:prstGeom>
          <a:solidFill>
            <a:srgbClr val="FAF8F2"/>
          </a:solidFill>
          <a:ln w="12700">
            <a:solidFill>
              <a:srgbClr val="FAF8F2"/>
            </a:solidFill>
            <a:prstDash val="solid"/>
          </a:ln>
        </p:spPr>
      </p:sp>
      <p:sp>
        <p:nvSpPr>
          <p:cNvPr id="10" name="Text 8"/>
          <p:cNvSpPr/>
          <p:nvPr/>
        </p:nvSpPr>
        <p:spPr>
          <a:xfrm>
            <a:off x="4389120" y="3749040"/>
            <a:ext cx="3474720" cy="1097280"/>
          </a:xfrm>
          <a:prstGeom prst="rect">
            <a:avLst/>
          </a:prstGeom>
          <a:noFill/>
          <a:ln/>
        </p:spPr>
        <p:txBody>
          <a:bodyPr wrap="square" lIns="0" tIns="0" rIns="0" bIns="0" rtlCol="0" anchor="ctr"/>
          <a:lstStyle/>
          <a:p>
            <a:pPr algn="ctr" indent="0" marL="0">
              <a:buNone/>
            </a:pPr>
            <a:r>
              <a:rPr lang="en-US" sz="6000" b="1" dirty="0">
                <a:solidFill>
                  <a:srgbClr val="CC785C"/>
                </a:solidFill>
                <a:latin typeface="Georgia" pitchFamily="34" charset="0"/>
                <a:ea typeface="Georgia" pitchFamily="34" charset="-122"/>
                <a:cs typeface="Georgia" pitchFamily="34" charset="-120"/>
              </a:rPr>
              <a:t>NZ$6</a:t>
            </a:r>
            <a:endParaRPr lang="en-US" sz="6000" dirty="0"/>
          </a:p>
        </p:txBody>
      </p:sp>
      <p:sp>
        <p:nvSpPr>
          <p:cNvPr id="11" name="Text 9"/>
          <p:cNvSpPr/>
          <p:nvPr/>
        </p:nvSpPr>
        <p:spPr>
          <a:xfrm>
            <a:off x="4663440" y="5029200"/>
            <a:ext cx="2926080" cy="731520"/>
          </a:xfrm>
          <a:prstGeom prst="rect">
            <a:avLst/>
          </a:prstGeom>
          <a:noFill/>
          <a:ln/>
        </p:spPr>
        <p:txBody>
          <a:bodyPr wrap="square" lIns="0" tIns="0" rIns="0" bIns="0" rtlCol="0" anchor="ctr"/>
          <a:lstStyle/>
          <a:p>
            <a:pPr algn="ctr" indent="0" marL="0">
              <a:buNone/>
            </a:pPr>
            <a:r>
              <a:rPr lang="en-US" sz="1200" dirty="0">
                <a:solidFill>
                  <a:srgbClr val="2C1810"/>
                </a:solidFill>
                <a:latin typeface="Calibri" pitchFamily="34" charset="0"/>
                <a:ea typeface="Calibri" pitchFamily="34" charset="-122"/>
                <a:cs typeface="Calibri" pitchFamily="34" charset="-120"/>
              </a:rPr>
              <a:t>peak cordon charge under consideration</a:t>
            </a:r>
            <a:endParaRPr lang="en-US" sz="1200" dirty="0"/>
          </a:p>
        </p:txBody>
      </p:sp>
      <p:sp>
        <p:nvSpPr>
          <p:cNvPr id="12" name="Shape 10"/>
          <p:cNvSpPr/>
          <p:nvPr/>
        </p:nvSpPr>
        <p:spPr>
          <a:xfrm>
            <a:off x="8138160" y="3383280"/>
            <a:ext cx="3474720" cy="2468880"/>
          </a:xfrm>
          <a:prstGeom prst="rect">
            <a:avLst/>
          </a:prstGeom>
          <a:solidFill>
            <a:srgbClr val="FAF8F2"/>
          </a:solidFill>
          <a:ln w="12700">
            <a:solidFill>
              <a:srgbClr val="FAF8F2"/>
            </a:solidFill>
            <a:prstDash val="solid"/>
          </a:ln>
        </p:spPr>
      </p:sp>
      <p:sp>
        <p:nvSpPr>
          <p:cNvPr id="13" name="Text 11"/>
          <p:cNvSpPr/>
          <p:nvPr/>
        </p:nvSpPr>
        <p:spPr>
          <a:xfrm>
            <a:off x="8138160" y="3749040"/>
            <a:ext cx="3474720" cy="1097280"/>
          </a:xfrm>
          <a:prstGeom prst="rect">
            <a:avLst/>
          </a:prstGeom>
          <a:noFill/>
          <a:ln/>
        </p:spPr>
        <p:txBody>
          <a:bodyPr wrap="square" lIns="0" tIns="0" rIns="0" bIns="0" rtlCol="0" anchor="ctr"/>
          <a:lstStyle/>
          <a:p>
            <a:pPr algn="ctr" indent="0" marL="0">
              <a:buNone/>
            </a:pPr>
            <a:r>
              <a:rPr lang="en-US" sz="6000" b="1" dirty="0">
                <a:solidFill>
                  <a:srgbClr val="CC785C"/>
                </a:solidFill>
                <a:latin typeface="Georgia" pitchFamily="34" charset="0"/>
                <a:ea typeface="Georgia" pitchFamily="34" charset="-122"/>
                <a:cs typeface="Georgia" pitchFamily="34" charset="-120"/>
              </a:rPr>
              <a:t>6</a:t>
            </a:r>
            <a:endParaRPr lang="en-US" sz="6000" dirty="0"/>
          </a:p>
        </p:txBody>
      </p:sp>
      <p:sp>
        <p:nvSpPr>
          <p:cNvPr id="14" name="Text 12"/>
          <p:cNvSpPr/>
          <p:nvPr/>
        </p:nvSpPr>
        <p:spPr>
          <a:xfrm>
            <a:off x="8412480" y="5029200"/>
            <a:ext cx="2926080" cy="731520"/>
          </a:xfrm>
          <a:prstGeom prst="rect">
            <a:avLst/>
          </a:prstGeom>
          <a:noFill/>
          <a:ln/>
        </p:spPr>
        <p:txBody>
          <a:bodyPr wrap="square" lIns="0" tIns="0" rIns="0" bIns="0" rtlCol="0" anchor="ctr"/>
          <a:lstStyle/>
          <a:p>
            <a:pPr algn="ctr" indent="0" marL="0">
              <a:buNone/>
            </a:pPr>
            <a:r>
              <a:rPr lang="en-US" sz="1200" dirty="0">
                <a:solidFill>
                  <a:srgbClr val="2C1810"/>
                </a:solidFill>
                <a:latin typeface="Calibri" pitchFamily="34" charset="0"/>
                <a:ea typeface="Calibri" pitchFamily="34" charset="-122"/>
                <a:cs typeface="Calibri" pitchFamily="34" charset="-120"/>
              </a:rPr>
              <a:t>shortlisted scenarios, three families</a:t>
            </a:r>
            <a:endParaRPr lang="en-US" sz="1200" dirty="0"/>
          </a:p>
        </p:txBody>
      </p:sp>
      <p:sp>
        <p:nvSpPr>
          <p:cNvPr id="15" name="Text 13"/>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16" name="Text 14"/>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687068"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687068"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THE SIX SCENARIOS</a:t>
            </a:r>
            <a:endParaRPr lang="en-US" sz="1000" dirty="0"/>
          </a:p>
        </p:txBody>
      </p:sp>
      <p:sp>
        <p:nvSpPr>
          <p:cNvPr id="4" name="Text 2"/>
          <p:cNvSpPr/>
          <p:nvPr/>
        </p:nvSpPr>
        <p:spPr>
          <a:xfrm>
            <a:off x="640080" y="1371600"/>
            <a:ext cx="4754880" cy="548640"/>
          </a:xfrm>
          <a:prstGeom prst="rect">
            <a:avLst/>
          </a:prstGeom>
          <a:noFill/>
          <a:ln/>
        </p:spPr>
        <p:txBody>
          <a:bodyPr wrap="square" lIns="0" tIns="0" rIns="0" bIns="0" rtlCol="0" anchor="ctr"/>
          <a:lstStyle/>
          <a:p>
            <a:pPr indent="0" marL="0">
              <a:buNone/>
            </a:pPr>
            <a:r>
              <a:rPr lang="en-US" sz="2200" dirty="0">
                <a:solidFill>
                  <a:srgbClr val="2C1810"/>
                </a:solidFill>
                <a:latin typeface="Georgia" pitchFamily="34" charset="0"/>
                <a:ea typeface="Georgia" pitchFamily="34" charset="-122"/>
                <a:cs typeface="Georgia" pitchFamily="34" charset="-120"/>
              </a:rPr>
              <a:t>Three families, six footprints.</a:t>
            </a:r>
            <a:endParaRPr lang="en-US" sz="2200" dirty="0"/>
          </a:p>
        </p:txBody>
      </p:sp>
      <p:sp>
        <p:nvSpPr>
          <p:cNvPr id="5" name="Shape 3"/>
          <p:cNvSpPr/>
          <p:nvPr/>
        </p:nvSpPr>
        <p:spPr>
          <a:xfrm>
            <a:off x="640080" y="2103120"/>
            <a:ext cx="411480" cy="411480"/>
          </a:xfrm>
          <a:prstGeom prst="ellipse">
            <a:avLst/>
          </a:prstGeom>
          <a:solidFill>
            <a:srgbClr val="A7BEAE"/>
          </a:solidFill>
          <a:ln w="12700">
            <a:solidFill>
              <a:srgbClr val="A7BEAE"/>
            </a:solidFill>
            <a:prstDash val="solid"/>
          </a:ln>
        </p:spPr>
      </p:sp>
      <p:sp>
        <p:nvSpPr>
          <p:cNvPr id="6" name="Text 4"/>
          <p:cNvSpPr/>
          <p:nvPr/>
        </p:nvSpPr>
        <p:spPr>
          <a:xfrm>
            <a:off x="640080" y="21031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188720" y="2139696"/>
            <a:ext cx="4114800" cy="36576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City centre cordons</a:t>
            </a:r>
            <a:endParaRPr lang="en-US" sz="1400" dirty="0"/>
          </a:p>
        </p:txBody>
      </p:sp>
      <p:sp>
        <p:nvSpPr>
          <p:cNvPr id="8" name="Text 6"/>
          <p:cNvSpPr/>
          <p:nvPr/>
        </p:nvSpPr>
        <p:spPr>
          <a:xfrm>
            <a:off x="1188720" y="2606040"/>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1a, CBD only (15)</a:t>
            </a:r>
            <a:endParaRPr lang="en-US" sz="1100" dirty="0"/>
          </a:p>
        </p:txBody>
      </p:sp>
      <p:sp>
        <p:nvSpPr>
          <p:cNvPr id="9" name="Text 7"/>
          <p:cNvSpPr/>
          <p:nvPr/>
        </p:nvSpPr>
        <p:spPr>
          <a:xfrm>
            <a:off x="1188720" y="2898648"/>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1c, CBD + fringe (27)</a:t>
            </a:r>
            <a:endParaRPr lang="en-US" sz="1100" dirty="0"/>
          </a:p>
        </p:txBody>
      </p:sp>
      <p:sp>
        <p:nvSpPr>
          <p:cNvPr id="10" name="Shape 8"/>
          <p:cNvSpPr/>
          <p:nvPr/>
        </p:nvSpPr>
        <p:spPr>
          <a:xfrm>
            <a:off x="640080" y="3355848"/>
            <a:ext cx="411480" cy="411480"/>
          </a:xfrm>
          <a:prstGeom prst="ellipse">
            <a:avLst/>
          </a:prstGeom>
          <a:solidFill>
            <a:srgbClr val="CC785C"/>
          </a:solidFill>
          <a:ln w="12700">
            <a:solidFill>
              <a:srgbClr val="CC785C"/>
            </a:solidFill>
            <a:prstDash val="solid"/>
          </a:ln>
        </p:spPr>
      </p:sp>
      <p:sp>
        <p:nvSpPr>
          <p:cNvPr id="11" name="Text 9"/>
          <p:cNvSpPr/>
          <p:nvPr/>
        </p:nvSpPr>
        <p:spPr>
          <a:xfrm>
            <a:off x="640080" y="335584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2" name="Text 10"/>
          <p:cNvSpPr/>
          <p:nvPr/>
        </p:nvSpPr>
        <p:spPr>
          <a:xfrm>
            <a:off x="1188720" y="3392424"/>
            <a:ext cx="4114800" cy="36576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Isthmus double cordon</a:t>
            </a:r>
            <a:endParaRPr lang="en-US" sz="1400" dirty="0"/>
          </a:p>
        </p:txBody>
      </p:sp>
      <p:sp>
        <p:nvSpPr>
          <p:cNvPr id="13" name="Text 11"/>
          <p:cNvSpPr/>
          <p:nvPr/>
        </p:nvSpPr>
        <p:spPr>
          <a:xfrm>
            <a:off x="1188720" y="3858768"/>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2c, expanded inner isthmus (158)</a:t>
            </a:r>
            <a:endParaRPr lang="en-US" sz="1100" dirty="0"/>
          </a:p>
        </p:txBody>
      </p:sp>
      <p:sp>
        <p:nvSpPr>
          <p:cNvPr id="14" name="Shape 12"/>
          <p:cNvSpPr/>
          <p:nvPr/>
        </p:nvSpPr>
        <p:spPr>
          <a:xfrm>
            <a:off x="640080" y="4315968"/>
            <a:ext cx="411480" cy="411480"/>
          </a:xfrm>
          <a:prstGeom prst="ellipse">
            <a:avLst/>
          </a:prstGeom>
          <a:solidFill>
            <a:srgbClr val="B85042"/>
          </a:solidFill>
          <a:ln w="12700">
            <a:solidFill>
              <a:srgbClr val="B85042"/>
            </a:solidFill>
            <a:prstDash val="solid"/>
          </a:ln>
        </p:spPr>
      </p:sp>
      <p:sp>
        <p:nvSpPr>
          <p:cNvPr id="15" name="Text 13"/>
          <p:cNvSpPr/>
          <p:nvPr/>
        </p:nvSpPr>
        <p:spPr>
          <a:xfrm>
            <a:off x="640080" y="431596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188720" y="4352544"/>
            <a:ext cx="4114800" cy="36576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Motorway corridors</a:t>
            </a:r>
            <a:endParaRPr lang="en-US" sz="1400" dirty="0"/>
          </a:p>
        </p:txBody>
      </p:sp>
      <p:sp>
        <p:nvSpPr>
          <p:cNvPr id="17" name="Text 15"/>
          <p:cNvSpPr/>
          <p:nvPr/>
        </p:nvSpPr>
        <p:spPr>
          <a:xfrm>
            <a:off x="1188720" y="4818888"/>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3b, core motorways (173)</a:t>
            </a:r>
            <a:endParaRPr lang="en-US" sz="1100" dirty="0"/>
          </a:p>
        </p:txBody>
      </p:sp>
      <p:sp>
        <p:nvSpPr>
          <p:cNvPr id="18" name="Text 16"/>
          <p:cNvSpPr/>
          <p:nvPr/>
        </p:nvSpPr>
        <p:spPr>
          <a:xfrm>
            <a:off x="1188720" y="5111496"/>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3c, core motorways + CBD (188)</a:t>
            </a:r>
            <a:endParaRPr lang="en-US" sz="1100" dirty="0"/>
          </a:p>
        </p:txBody>
      </p:sp>
      <p:sp>
        <p:nvSpPr>
          <p:cNvPr id="19" name="Text 17"/>
          <p:cNvSpPr/>
          <p:nvPr/>
        </p:nvSpPr>
        <p:spPr>
          <a:xfrm>
            <a:off x="1188720" y="5404104"/>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3e, motorway hotspots (22)</a:t>
            </a:r>
            <a:endParaRPr lang="en-US" sz="1100" dirty="0"/>
          </a:p>
        </p:txBody>
      </p:sp>
      <p:pic>
        <p:nvPicPr>
          <p:cNvPr id="20" name="Image 0" descr="figs/fig0_scenario_boundaries.png">    </p:cNvPr>
          <p:cNvPicPr>
            <a:picLocks noChangeAspect="1"/>
          </p:cNvPicPr>
          <p:nvPr/>
        </p:nvPicPr>
        <p:blipFill>
          <a:blip r:embed="rId1"/>
          <a:stretch>
            <a:fillRect/>
          </a:stretch>
        </p:blipFill>
        <p:spPr>
          <a:xfrm>
            <a:off x="4937760" y="1463040"/>
            <a:ext cx="6583680" cy="5060021"/>
          </a:xfrm>
          <a:prstGeom prst="rect">
            <a:avLst/>
          </a:prstGeom>
        </p:spPr>
      </p:pic>
      <p:sp>
        <p:nvSpPr>
          <p:cNvPr id="21" name="Text 18"/>
          <p:cNvSpPr/>
          <p:nvPr/>
        </p:nvSpPr>
        <p:spPr>
          <a:xfrm>
            <a:off x="4937760" y="6568781"/>
            <a:ext cx="6583680" cy="320040"/>
          </a:xfrm>
          <a:prstGeom prst="rect">
            <a:avLst/>
          </a:prstGeom>
          <a:noFill/>
          <a:ln/>
        </p:spPr>
        <p:txBody>
          <a:bodyPr wrap="square" lIns="0" tIns="0" rIns="0" bIns="0" rtlCol="0" anchor="ctr"/>
          <a:lstStyle/>
          <a:p>
            <a:pPr algn="ctr" indent="0" marL="0">
              <a:buNone/>
            </a:pPr>
            <a:r>
              <a:rPr lang="en-US" sz="1000" i="1" dirty="0">
                <a:solidFill>
                  <a:srgbClr val="857F72"/>
                </a:solidFill>
                <a:latin typeface="Calibri" pitchFamily="34" charset="0"/>
                <a:ea typeface="Calibri" pitchFamily="34" charset="-122"/>
                <a:cs typeface="Calibri" pitchFamily="34" charset="-120"/>
              </a:rPr>
              <a:t>Charged SA2s shaded by family; pays without alternative overlaid in deeper colour.</a:t>
            </a:r>
            <a:endParaRPr lang="en-US" sz="1000" dirty="0"/>
          </a:p>
        </p:txBody>
      </p:sp>
      <p:sp>
        <p:nvSpPr>
          <p:cNvPr id="22" name="Text 19"/>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23" name="Text 20"/>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914400"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91440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600" dirty="0">
                <a:solidFill>
                  <a:srgbClr val="2C1810"/>
                </a:solidFill>
                <a:latin typeface="Georgia" pitchFamily="34" charset="0"/>
                <a:ea typeface="Georgia" pitchFamily="34" charset="-122"/>
                <a:cs typeface="Georgia" pitchFamily="34" charset="-120"/>
              </a:rPr>
              <a:t>Five steps from raw GTFS to a scenario equity index.</a:t>
            </a:r>
            <a:endParaRPr lang="en-US" sz="2600" dirty="0"/>
          </a:p>
        </p:txBody>
      </p:sp>
      <p:sp>
        <p:nvSpPr>
          <p:cNvPr id="5" name="Shape 3"/>
          <p:cNvSpPr/>
          <p:nvPr/>
        </p:nvSpPr>
        <p:spPr>
          <a:xfrm>
            <a:off x="640080" y="2286000"/>
            <a:ext cx="2148840" cy="3657600"/>
          </a:xfrm>
          <a:prstGeom prst="rect">
            <a:avLst/>
          </a:prstGeom>
          <a:solidFill>
            <a:srgbClr val="FAF8F2"/>
          </a:solidFill>
          <a:ln w="12700">
            <a:solidFill>
              <a:srgbClr val="FAF8F2"/>
            </a:solidFill>
            <a:prstDash val="solid"/>
          </a:ln>
        </p:spPr>
      </p:sp>
      <p:sp>
        <p:nvSpPr>
          <p:cNvPr id="6" name="Shape 4"/>
          <p:cNvSpPr/>
          <p:nvPr/>
        </p:nvSpPr>
        <p:spPr>
          <a:xfrm>
            <a:off x="1394460" y="2606040"/>
            <a:ext cx="640080" cy="640080"/>
          </a:xfrm>
          <a:prstGeom prst="ellipse">
            <a:avLst/>
          </a:prstGeom>
          <a:solidFill>
            <a:srgbClr val="CC785C"/>
          </a:solidFill>
          <a:ln w="12700">
            <a:solidFill>
              <a:srgbClr val="CC785C"/>
            </a:solidFill>
            <a:prstDash val="solid"/>
          </a:ln>
        </p:spPr>
      </p:sp>
      <p:sp>
        <p:nvSpPr>
          <p:cNvPr id="7" name="Text 5"/>
          <p:cNvSpPr/>
          <p:nvPr/>
        </p:nvSpPr>
        <p:spPr>
          <a:xfrm>
            <a:off x="1394460"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822960"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Routing</a:t>
            </a:r>
            <a:endParaRPr lang="en-US" sz="1400" dirty="0"/>
          </a:p>
        </p:txBody>
      </p:sp>
      <p:sp>
        <p:nvSpPr>
          <p:cNvPr id="9" name="Text 7"/>
          <p:cNvSpPr/>
          <p:nvPr/>
        </p:nvSpPr>
        <p:spPr>
          <a:xfrm>
            <a:off x="822960"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r5py over the Auckland Transport GTFS feed (22 April 2026) and OpenStreetMap walking network. Origins are SA2 population-weighted centroids.</a:t>
            </a:r>
            <a:endParaRPr lang="en-US" sz="1100" dirty="0"/>
          </a:p>
        </p:txBody>
      </p:sp>
      <p:sp>
        <p:nvSpPr>
          <p:cNvPr id="10" name="Shape 8"/>
          <p:cNvSpPr/>
          <p:nvPr/>
        </p:nvSpPr>
        <p:spPr>
          <a:xfrm>
            <a:off x="2889504" y="2286000"/>
            <a:ext cx="2148840" cy="3657600"/>
          </a:xfrm>
          <a:prstGeom prst="rect">
            <a:avLst/>
          </a:prstGeom>
          <a:solidFill>
            <a:srgbClr val="FAF8F2"/>
          </a:solidFill>
          <a:ln w="12700">
            <a:solidFill>
              <a:srgbClr val="FAF8F2"/>
            </a:solidFill>
            <a:prstDash val="solid"/>
          </a:ln>
        </p:spPr>
      </p:sp>
      <p:sp>
        <p:nvSpPr>
          <p:cNvPr id="11" name="Shape 9"/>
          <p:cNvSpPr/>
          <p:nvPr/>
        </p:nvSpPr>
        <p:spPr>
          <a:xfrm>
            <a:off x="3643884" y="2606040"/>
            <a:ext cx="640080" cy="640080"/>
          </a:xfrm>
          <a:prstGeom prst="ellipse">
            <a:avLst/>
          </a:prstGeom>
          <a:solidFill>
            <a:srgbClr val="CC785C"/>
          </a:solidFill>
          <a:ln w="12700">
            <a:solidFill>
              <a:srgbClr val="CC785C"/>
            </a:solidFill>
            <a:prstDash val="solid"/>
          </a:ln>
        </p:spPr>
      </p:sp>
      <p:sp>
        <p:nvSpPr>
          <p:cNvPr id="12" name="Text 10"/>
          <p:cNvSpPr/>
          <p:nvPr/>
        </p:nvSpPr>
        <p:spPr>
          <a:xfrm>
            <a:off x="3643884"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3072384"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Accessibility</a:t>
            </a:r>
            <a:endParaRPr lang="en-US" sz="1400" dirty="0"/>
          </a:p>
        </p:txBody>
      </p:sp>
      <p:sp>
        <p:nvSpPr>
          <p:cNvPr id="14" name="Text 12"/>
          <p:cNvSpPr/>
          <p:nvPr/>
        </p:nvSpPr>
        <p:spPr>
          <a:xfrm>
            <a:off x="3072384"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Jobs reachable within a 45-minute weekday peak window, 07:00 to 09:00, combined walk and PT. 45 min chosen because Auckland's mean commute is 32 min.</a:t>
            </a:r>
            <a:endParaRPr lang="en-US" sz="1100" dirty="0"/>
          </a:p>
        </p:txBody>
      </p:sp>
      <p:sp>
        <p:nvSpPr>
          <p:cNvPr id="15" name="Shape 13"/>
          <p:cNvSpPr/>
          <p:nvPr/>
        </p:nvSpPr>
        <p:spPr>
          <a:xfrm>
            <a:off x="5138928" y="2286000"/>
            <a:ext cx="2148840" cy="3657600"/>
          </a:xfrm>
          <a:prstGeom prst="rect">
            <a:avLst/>
          </a:prstGeom>
          <a:solidFill>
            <a:srgbClr val="FAF8F2"/>
          </a:solidFill>
          <a:ln w="12700">
            <a:solidFill>
              <a:srgbClr val="FAF8F2"/>
            </a:solidFill>
            <a:prstDash val="solid"/>
          </a:ln>
        </p:spPr>
      </p:sp>
      <p:sp>
        <p:nvSpPr>
          <p:cNvPr id="16" name="Shape 14"/>
          <p:cNvSpPr/>
          <p:nvPr/>
        </p:nvSpPr>
        <p:spPr>
          <a:xfrm>
            <a:off x="5893308" y="2606040"/>
            <a:ext cx="640080" cy="640080"/>
          </a:xfrm>
          <a:prstGeom prst="ellipse">
            <a:avLst/>
          </a:prstGeom>
          <a:solidFill>
            <a:srgbClr val="CC785C"/>
          </a:solidFill>
          <a:ln w="12700">
            <a:solidFill>
              <a:srgbClr val="CC785C"/>
            </a:solidFill>
            <a:prstDash val="solid"/>
          </a:ln>
        </p:spPr>
      </p:sp>
      <p:sp>
        <p:nvSpPr>
          <p:cNvPr id="17" name="Text 15"/>
          <p:cNvSpPr/>
          <p:nvPr/>
        </p:nvSpPr>
        <p:spPr>
          <a:xfrm>
            <a:off x="5893308"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5321808"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Q75 cut-point</a:t>
            </a:r>
            <a:endParaRPr lang="en-US" sz="1400" dirty="0"/>
          </a:p>
        </p:txBody>
      </p:sp>
      <p:sp>
        <p:nvSpPr>
          <p:cNvPr id="19" name="Text 17"/>
          <p:cNvSpPr/>
          <p:nvPr/>
        </p:nvSpPr>
        <p:spPr>
          <a:xfrm>
            <a:off x="5321808"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Pre-specified within-Auckland Q75 of access_45min, 104,812 jobs. The top quartile is a conservative test for what counts as a viable alternative.</a:t>
            </a:r>
            <a:endParaRPr lang="en-US" sz="1100" dirty="0"/>
          </a:p>
        </p:txBody>
      </p:sp>
      <p:sp>
        <p:nvSpPr>
          <p:cNvPr id="20" name="Shape 18"/>
          <p:cNvSpPr/>
          <p:nvPr/>
        </p:nvSpPr>
        <p:spPr>
          <a:xfrm>
            <a:off x="7388352" y="2286000"/>
            <a:ext cx="2148840" cy="3657600"/>
          </a:xfrm>
          <a:prstGeom prst="rect">
            <a:avLst/>
          </a:prstGeom>
          <a:solidFill>
            <a:srgbClr val="FAF8F2"/>
          </a:solidFill>
          <a:ln w="12700">
            <a:solidFill>
              <a:srgbClr val="FAF8F2"/>
            </a:solidFill>
            <a:prstDash val="solid"/>
          </a:ln>
        </p:spPr>
      </p:sp>
      <p:sp>
        <p:nvSpPr>
          <p:cNvPr id="21" name="Shape 19"/>
          <p:cNvSpPr/>
          <p:nvPr/>
        </p:nvSpPr>
        <p:spPr>
          <a:xfrm>
            <a:off x="8142732" y="2606040"/>
            <a:ext cx="640080" cy="640080"/>
          </a:xfrm>
          <a:prstGeom prst="ellipse">
            <a:avLst/>
          </a:prstGeom>
          <a:solidFill>
            <a:srgbClr val="CC785C"/>
          </a:solidFill>
          <a:ln w="12700">
            <a:solidFill>
              <a:srgbClr val="CC785C"/>
            </a:solidFill>
            <a:prstDash val="solid"/>
          </a:ln>
        </p:spPr>
      </p:sp>
      <p:sp>
        <p:nvSpPr>
          <p:cNvPr id="22" name="Text 20"/>
          <p:cNvSpPr/>
          <p:nvPr/>
        </p:nvSpPr>
        <p:spPr>
          <a:xfrm>
            <a:off x="8142732"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3" name="Text 21"/>
          <p:cNvSpPr/>
          <p:nvPr/>
        </p:nvSpPr>
        <p:spPr>
          <a:xfrm>
            <a:off x="7571232"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Burden class</a:t>
            </a:r>
            <a:endParaRPr lang="en-US" sz="1400" dirty="0"/>
          </a:p>
        </p:txBody>
      </p:sp>
      <p:sp>
        <p:nvSpPr>
          <p:cNvPr id="24" name="Text 22"/>
          <p:cNvSpPr/>
          <p:nvPr/>
        </p:nvSpPr>
        <p:spPr>
          <a:xfrm>
            <a:off x="7571232"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Each SA2 coded pays_with_alternative, pays_without_alternative, or does_not_pay. Cross-tabulated against NZDep2023 decile.</a:t>
            </a:r>
            <a:endParaRPr lang="en-US" sz="1100" dirty="0"/>
          </a:p>
        </p:txBody>
      </p:sp>
      <p:sp>
        <p:nvSpPr>
          <p:cNvPr id="25" name="Shape 23"/>
          <p:cNvSpPr/>
          <p:nvPr/>
        </p:nvSpPr>
        <p:spPr>
          <a:xfrm>
            <a:off x="9637776" y="2286000"/>
            <a:ext cx="2148840" cy="3657600"/>
          </a:xfrm>
          <a:prstGeom prst="rect">
            <a:avLst/>
          </a:prstGeom>
          <a:solidFill>
            <a:srgbClr val="FAF8F2"/>
          </a:solidFill>
          <a:ln w="12700">
            <a:solidFill>
              <a:srgbClr val="FAF8F2"/>
            </a:solidFill>
            <a:prstDash val="solid"/>
          </a:ln>
        </p:spPr>
      </p:sp>
      <p:sp>
        <p:nvSpPr>
          <p:cNvPr id="26" name="Shape 24"/>
          <p:cNvSpPr/>
          <p:nvPr/>
        </p:nvSpPr>
        <p:spPr>
          <a:xfrm>
            <a:off x="10392156" y="2606040"/>
            <a:ext cx="640080" cy="640080"/>
          </a:xfrm>
          <a:prstGeom prst="ellipse">
            <a:avLst/>
          </a:prstGeom>
          <a:solidFill>
            <a:srgbClr val="CC785C"/>
          </a:solidFill>
          <a:ln w="12700">
            <a:solidFill>
              <a:srgbClr val="CC785C"/>
            </a:solidFill>
            <a:prstDash val="solid"/>
          </a:ln>
        </p:spPr>
      </p:sp>
      <p:sp>
        <p:nvSpPr>
          <p:cNvPr id="27" name="Text 25"/>
          <p:cNvSpPr/>
          <p:nvPr/>
        </p:nvSpPr>
        <p:spPr>
          <a:xfrm>
            <a:off x="10392156"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28" name="Text 26"/>
          <p:cNvSpPr/>
          <p:nvPr/>
        </p:nvSpPr>
        <p:spPr>
          <a:xfrm>
            <a:off x="9820656"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Equity index</a:t>
            </a:r>
            <a:endParaRPr lang="en-US" sz="1400" dirty="0"/>
          </a:p>
        </p:txBody>
      </p:sp>
      <p:sp>
        <p:nvSpPr>
          <p:cNvPr id="29" name="Text 27"/>
          <p:cNvSpPr/>
          <p:nvPr/>
        </p:nvSpPr>
        <p:spPr>
          <a:xfrm>
            <a:off x="9820656"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Wagstaff Concentration Index of access_45min against NZDep2023, both baseline (619 SA2s) and per-scenario on the charged subset. SA1-population-weighted.</a:t>
            </a:r>
            <a:endParaRPr lang="en-US" sz="1100" dirty="0"/>
          </a:p>
        </p:txBody>
      </p:sp>
      <p:sp>
        <p:nvSpPr>
          <p:cNvPr id="30" name="Text 28"/>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31" name="Text 29"/>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987552"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987552"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BASELINE</a:t>
            </a:r>
            <a:endParaRPr lang="en-US" sz="1000" dirty="0"/>
          </a:p>
        </p:txBody>
      </p:sp>
      <p:sp>
        <p:nvSpPr>
          <p:cNvPr id="4" name="Text 2"/>
          <p:cNvSpPr/>
          <p:nvPr/>
        </p:nvSpPr>
        <p:spPr>
          <a:xfrm>
            <a:off x="640080" y="1371600"/>
            <a:ext cx="10972800" cy="640080"/>
          </a:xfrm>
          <a:prstGeom prst="rect">
            <a:avLst/>
          </a:prstGeom>
          <a:noFill/>
          <a:ln/>
        </p:spPr>
        <p:txBody>
          <a:bodyPr wrap="square" lIns="0" tIns="0" rIns="0" bIns="0" rtlCol="0" anchor="ctr"/>
          <a:lstStyle/>
          <a:p>
            <a:pPr indent="0" marL="0">
              <a:buNone/>
            </a:pPr>
            <a:r>
              <a:rPr lang="en-US" sz="2600" dirty="0">
                <a:solidFill>
                  <a:srgbClr val="2C1810"/>
                </a:solidFill>
                <a:latin typeface="Georgia" pitchFamily="34" charset="0"/>
                <a:ea typeface="Georgia" pitchFamily="34" charset="-122"/>
                <a:cs typeface="Georgia" pitchFamily="34" charset="-120"/>
              </a:rPr>
              <a:t>Auckland's access surface is non-monotonic.</a:t>
            </a:r>
            <a:endParaRPr lang="en-US" sz="2600" dirty="0"/>
          </a:p>
        </p:txBody>
      </p:sp>
      <p:sp>
        <p:nvSpPr>
          <p:cNvPr id="5" name="Text 3"/>
          <p:cNvSpPr/>
          <p:nvPr/>
        </p:nvSpPr>
        <p:spPr>
          <a:xfrm>
            <a:off x="640080" y="2194560"/>
            <a:ext cx="4572000" cy="3291840"/>
          </a:xfrm>
          <a:prstGeom prst="rect">
            <a:avLst/>
          </a:prstGeom>
          <a:noFill/>
          <a:ln/>
        </p:spPr>
        <p:txBody>
          <a:bodyPr wrap="square" lIns="0" tIns="0" rIns="0" bIns="0" rtlCol="0" anchor="ctr"/>
          <a:lstStyle/>
          <a:p>
            <a:pPr indent="0" marL="0">
              <a:spcAft>
                <a:spcPts val="600"/>
              </a:spcAft>
              <a:buNone/>
            </a:pPr>
            <a:r>
              <a:rPr lang="en-US" sz="1600" b="1" dirty="0">
                <a:solidFill>
                  <a:srgbClr val="B85042"/>
                </a:solidFill>
                <a:latin typeface="Calibri" pitchFamily="34" charset="0"/>
                <a:ea typeface="Calibri" pitchFamily="34" charset="-122"/>
                <a:cs typeface="Calibri" pitchFamily="34" charset="-120"/>
              </a:rPr>
              <a:t>Two low-access tails.</a:t>
            </a:r>
            <a:endParaRPr lang="en-US" sz="1300" dirty="0"/>
          </a:p>
          <a:p>
            <a:pPr indent="0" marL="0">
              <a:spcAft>
                <a:spcPts val="600"/>
              </a:spcAft>
              <a:buNone/>
            </a:pPr>
            <a:r>
              <a:rPr lang="en-US" sz="800" dirty="0">
                <a:solidFill>
                  <a:srgbClr val="2C1810"/>
                </a:solidFill>
                <a:latin typeface="Calibri" pitchFamily="34" charset="0"/>
                <a:ea typeface="Calibri" pitchFamily="34" charset="-122"/>
                <a:cs typeface="Calibri" pitchFamily="34" charset="-120"/>
              </a:rPr>
              <a:t> </a:t>
            </a:r>
            <a:endParaRPr lang="en-US" sz="1300" dirty="0"/>
          </a:p>
          <a:p>
            <a:pPr indent="0" marL="0">
              <a:spcAft>
                <a:spcPts val="600"/>
              </a:spcAft>
              <a:buNone/>
            </a:pPr>
            <a:r>
              <a:rPr lang="en-US" sz="1300" b="1" dirty="0">
                <a:solidFill>
                  <a:srgbClr val="2C1810"/>
                </a:solidFill>
                <a:latin typeface="Calibri" pitchFamily="34" charset="0"/>
                <a:ea typeface="Calibri" pitchFamily="34" charset="-122"/>
                <a:cs typeface="Calibri" pitchFamily="34" charset="-120"/>
              </a:rPr>
              <a:t>Decile 1 </a:t>
            </a:r>
            <a:pPr indent="0" marL="0">
              <a:spcAft>
                <a:spcPts val="600"/>
              </a:spcAft>
              <a:buNone/>
            </a:pPr>
            <a:r>
              <a:rPr lang="en-US" sz="1300" dirty="0">
                <a:solidFill>
                  <a:srgbClr val="2C1810"/>
                </a:solidFill>
                <a:latin typeface="Calibri" pitchFamily="34" charset="0"/>
                <a:ea typeface="Calibri" pitchFamily="34" charset="-122"/>
                <a:cs typeface="Calibri" pitchFamily="34" charset="-120"/>
              </a:rPr>
              <a:t>is affluent rural fringe (Coatesville, Riverhead, Kumeu, Maraetai). Low access by choice, not constraint.</a:t>
            </a:r>
            <a:endParaRPr lang="en-US" sz="1300" dirty="0"/>
          </a:p>
          <a:p>
            <a:pPr indent="0" marL="0">
              <a:spcAft>
                <a:spcPts val="600"/>
              </a:spcAft>
              <a:buNone/>
            </a:pPr>
            <a:r>
              <a:rPr lang="en-US" sz="800" dirty="0">
                <a:solidFill>
                  <a:srgbClr val="2C1810"/>
                </a:solidFill>
                <a:latin typeface="Calibri" pitchFamily="34" charset="0"/>
                <a:ea typeface="Calibri" pitchFamily="34" charset="-122"/>
                <a:cs typeface="Calibri" pitchFamily="34" charset="-120"/>
              </a:rPr>
              <a:t> </a:t>
            </a:r>
            <a:endParaRPr lang="en-US" sz="1300" dirty="0"/>
          </a:p>
          <a:p>
            <a:pPr indent="0" marL="0">
              <a:spcAft>
                <a:spcPts val="600"/>
              </a:spcAft>
              <a:buNone/>
            </a:pPr>
            <a:r>
              <a:rPr lang="en-US" sz="1300" b="1" dirty="0">
                <a:solidFill>
                  <a:srgbClr val="2C1810"/>
                </a:solidFill>
                <a:latin typeface="Calibri" pitchFamily="34" charset="0"/>
                <a:ea typeface="Calibri" pitchFamily="34" charset="-122"/>
                <a:cs typeface="Calibri" pitchFamily="34" charset="-120"/>
              </a:rPr>
              <a:t>Decile 10 </a:t>
            </a:r>
            <a:pPr indent="0" marL="0">
              <a:spcAft>
                <a:spcPts val="600"/>
              </a:spcAft>
              <a:buNone/>
            </a:pPr>
            <a:r>
              <a:rPr lang="en-US" sz="1300" dirty="0">
                <a:solidFill>
                  <a:srgbClr val="2C1810"/>
                </a:solidFill>
                <a:latin typeface="Calibri" pitchFamily="34" charset="0"/>
                <a:ea typeface="Calibri" pitchFamily="34" charset="-122"/>
                <a:cs typeface="Calibri" pitchFamily="34" charset="-120"/>
              </a:rPr>
              <a:t>is the outer south and outer west (Manurewa, Papakura, Henderson, Ranui). Low access as a binding constraint.</a:t>
            </a:r>
            <a:endParaRPr lang="en-US" sz="1300" dirty="0"/>
          </a:p>
          <a:p>
            <a:pPr indent="0" marL="0">
              <a:spcAft>
                <a:spcPts val="600"/>
              </a:spcAft>
              <a:buNone/>
            </a:pPr>
            <a:r>
              <a:rPr lang="en-US" sz="800" dirty="0">
                <a:solidFill>
                  <a:srgbClr val="2C1810"/>
                </a:solidFill>
                <a:latin typeface="Calibri" pitchFamily="34" charset="0"/>
                <a:ea typeface="Calibri" pitchFamily="34" charset="-122"/>
                <a:cs typeface="Calibri" pitchFamily="34" charset="-120"/>
              </a:rPr>
              <a:t> </a:t>
            </a:r>
            <a:endParaRPr lang="en-US" sz="1300" dirty="0"/>
          </a:p>
          <a:p>
            <a:pPr indent="0" marL="0">
              <a:spcAft>
                <a:spcPts val="600"/>
              </a:spcAft>
              <a:buNone/>
            </a:pPr>
            <a:r>
              <a:rPr lang="en-US" sz="1300" b="1" dirty="0">
                <a:solidFill>
                  <a:srgbClr val="2C1810"/>
                </a:solidFill>
                <a:latin typeface="Calibri" pitchFamily="34" charset="0"/>
                <a:ea typeface="Calibri" pitchFamily="34" charset="-122"/>
                <a:cs typeface="Calibri" pitchFamily="34" charset="-120"/>
              </a:rPr>
              <a:t>Peak at D6-7 </a:t>
            </a:r>
            <a:pPr indent="0" marL="0">
              <a:spcAft>
                <a:spcPts val="600"/>
              </a:spcAft>
              <a:buNone/>
            </a:pPr>
            <a:r>
              <a:rPr lang="en-US" sz="1300" dirty="0">
                <a:solidFill>
                  <a:srgbClr val="2C1810"/>
                </a:solidFill>
                <a:latin typeface="Calibri" pitchFamily="34" charset="0"/>
                <a:ea typeface="Calibri" pitchFamily="34" charset="-122"/>
                <a:cs typeface="Calibri" pitchFamily="34" charset="-120"/>
              </a:rPr>
              <a:t>averages around 82,000 reachable jobs.</a:t>
            </a:r>
            <a:endParaRPr lang="en-US" sz="1300" dirty="0"/>
          </a:p>
        </p:txBody>
      </p:sp>
      <p:pic>
        <p:nvPicPr>
          <p:cNvPr id="6" name="Image 0" descr="figs/fig2_accessibility_by_deprivation.png">    </p:cNvPr>
          <p:cNvPicPr>
            <a:picLocks noChangeAspect="1"/>
          </p:cNvPicPr>
          <p:nvPr/>
        </p:nvPicPr>
        <p:blipFill>
          <a:blip r:embed="rId1"/>
          <a:stretch>
            <a:fillRect/>
          </a:stretch>
        </p:blipFill>
        <p:spPr>
          <a:xfrm>
            <a:off x="5120640" y="2103120"/>
            <a:ext cx="6400800" cy="3173013"/>
          </a:xfrm>
          <a:prstGeom prst="rect">
            <a:avLst/>
          </a:prstGeom>
        </p:spPr>
      </p:pic>
      <p:sp>
        <p:nvSpPr>
          <p:cNvPr id="7" name="Text 4"/>
          <p:cNvSpPr/>
          <p:nvPr/>
        </p:nvSpPr>
        <p:spPr>
          <a:xfrm>
            <a:off x="5120640" y="5367573"/>
            <a:ext cx="6400800" cy="457200"/>
          </a:xfrm>
          <a:prstGeom prst="rect">
            <a:avLst/>
          </a:prstGeom>
          <a:noFill/>
          <a:ln/>
        </p:spPr>
        <p:txBody>
          <a:bodyPr wrap="square" lIns="0" tIns="0" rIns="0" bIns="0" rtlCol="0" anchor="ctr"/>
          <a:lstStyle/>
          <a:p>
            <a:pPr algn="ctr" indent="0" marL="0">
              <a:buNone/>
            </a:pPr>
            <a:r>
              <a:rPr lang="en-US" sz="1000" i="1" dirty="0">
                <a:solidFill>
                  <a:srgbClr val="857F72"/>
                </a:solidFill>
                <a:latin typeface="Calibri" pitchFamily="34" charset="0"/>
                <a:ea typeface="Calibri" pitchFamily="34" charset="-122"/>
                <a:cs typeface="Calibri" pitchFamily="34" charset="-120"/>
              </a:rPr>
              <a:t>Box plots of access_45min by NZDep decile, with LOWESS trend. Q75 line at 86k jobs (this older run uses an earlier weighting; current table uses 104,812).</a:t>
            </a:r>
            <a:endParaRPr lang="en-US" sz="1000" dirty="0"/>
          </a:p>
        </p:txBody>
      </p:sp>
      <p:sp>
        <p:nvSpPr>
          <p:cNvPr id="8" name="Shape 5"/>
          <p:cNvSpPr/>
          <p:nvPr/>
        </p:nvSpPr>
        <p:spPr>
          <a:xfrm>
            <a:off x="640080" y="5760720"/>
            <a:ext cx="10881360" cy="640080"/>
          </a:xfrm>
          <a:prstGeom prst="rect">
            <a:avLst/>
          </a:prstGeom>
          <a:solidFill>
            <a:srgbClr val="1F1410"/>
          </a:solidFill>
          <a:ln w="12700">
            <a:solidFill>
              <a:srgbClr val="1F1410"/>
            </a:solidFill>
            <a:prstDash val="solid"/>
          </a:ln>
        </p:spPr>
      </p:sp>
      <p:sp>
        <p:nvSpPr>
          <p:cNvPr id="9" name="Text 6"/>
          <p:cNvSpPr/>
          <p:nvPr/>
        </p:nvSpPr>
        <p:spPr>
          <a:xfrm>
            <a:off x="914400" y="5760720"/>
            <a:ext cx="10332720" cy="640080"/>
          </a:xfrm>
          <a:prstGeom prst="rect">
            <a:avLst/>
          </a:prstGeom>
          <a:noFill/>
          <a:ln/>
        </p:spPr>
        <p:txBody>
          <a:bodyPr wrap="square" lIns="0" tIns="0" rIns="0" bIns="0" rtlCol="0" anchor="ctr"/>
          <a:lstStyle/>
          <a:p>
            <a:pPr indent="0" marL="0">
              <a:buNone/>
            </a:pPr>
            <a:r>
              <a:rPr lang="en-US" sz="1300" b="1" dirty="0">
                <a:solidFill>
                  <a:srgbClr val="F0EEE5"/>
                </a:solidFill>
                <a:latin typeface="Calibri" pitchFamily="34" charset="0"/>
                <a:ea typeface="Calibri" pitchFamily="34" charset="-122"/>
                <a:cs typeface="Calibri" pitchFamily="34" charset="-120"/>
              </a:rPr>
              <a:t>Overall CI sits near zero (+0.031) </a:t>
            </a:r>
            <a:pPr indent="0" marL="0">
              <a:buNone/>
            </a:pPr>
            <a:r>
              <a:rPr lang="en-US" sz="1300" dirty="0">
                <a:solidFill>
                  <a:srgbClr val="F0EEE5"/>
                </a:solidFill>
                <a:latin typeface="Calibri" pitchFamily="34" charset="0"/>
                <a:ea typeface="Calibri" pitchFamily="34" charset="-122"/>
                <a:cs typeface="Calibri" pitchFamily="34" charset="-120"/>
              </a:rPr>
              <a:t>because the two low tails average out. The right answer is the D8-10 subgroup CI of -0.083.</a:t>
            </a:r>
            <a:endParaRPr lang="en-US" sz="1300" dirty="0"/>
          </a:p>
        </p:txBody>
      </p:sp>
      <p:sp>
        <p:nvSpPr>
          <p:cNvPr id="10" name="Text 7"/>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11" name="Text 8"/>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1410"/>
        </a:solidFill>
      </p:bgPr>
    </p:bg>
    <p:spTree>
      <p:nvGrpSpPr>
        <p:cNvPr id="1" name=""/>
        <p:cNvGrpSpPr/>
        <p:nvPr/>
      </p:nvGrpSpPr>
      <p:grpSpPr>
        <a:xfrm>
          <a:off x="0" y="0"/>
          <a:ext cx="0" cy="0"/>
          <a:chOff x="0" y="0"/>
          <a:chExt cx="0" cy="0"/>
        </a:xfrm>
      </p:grpSpPr>
      <p:sp>
        <p:nvSpPr>
          <p:cNvPr id="2" name="Shape 0"/>
          <p:cNvSpPr/>
          <p:nvPr/>
        </p:nvSpPr>
        <p:spPr>
          <a:xfrm>
            <a:off x="640080" y="640080"/>
            <a:ext cx="987552"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987552"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HEADLINE</a:t>
            </a:r>
            <a:endParaRPr lang="en-US" sz="1000" dirty="0"/>
          </a:p>
        </p:txBody>
      </p:sp>
      <p:sp>
        <p:nvSpPr>
          <p:cNvPr id="4" name="Text 2"/>
          <p:cNvSpPr/>
          <p:nvPr/>
        </p:nvSpPr>
        <p:spPr>
          <a:xfrm>
            <a:off x="640080" y="1280160"/>
            <a:ext cx="10972800" cy="640080"/>
          </a:xfrm>
          <a:prstGeom prst="rect">
            <a:avLst/>
          </a:prstGeom>
          <a:noFill/>
          <a:ln/>
        </p:spPr>
        <p:txBody>
          <a:bodyPr wrap="square" lIns="0" tIns="0" rIns="0" bIns="0" rtlCol="0" anchor="ctr"/>
          <a:lstStyle/>
          <a:p>
            <a:pPr indent="0" marL="0">
              <a:buNone/>
            </a:pPr>
            <a:r>
              <a:rPr lang="en-US" sz="3000" dirty="0">
                <a:solidFill>
                  <a:srgbClr val="F0EEE5"/>
                </a:solidFill>
                <a:latin typeface="Georgia" pitchFamily="34" charset="0"/>
                <a:ea typeface="Georgia" pitchFamily="34" charset="-122"/>
                <a:cs typeface="Georgia" pitchFamily="34" charset="-120"/>
              </a:rPr>
              <a:t>One in five Aucklanders.</a:t>
            </a:r>
            <a:endParaRPr lang="en-US" sz="3000" dirty="0"/>
          </a:p>
        </p:txBody>
      </p:sp>
      <p:sp>
        <p:nvSpPr>
          <p:cNvPr id="5" name="Text 3"/>
          <p:cNvSpPr/>
          <p:nvPr/>
        </p:nvSpPr>
        <p:spPr>
          <a:xfrm>
            <a:off x="640080" y="2194560"/>
            <a:ext cx="10972800" cy="2011680"/>
          </a:xfrm>
          <a:prstGeom prst="rect">
            <a:avLst/>
          </a:prstGeom>
          <a:noFill/>
          <a:ln/>
        </p:spPr>
        <p:txBody>
          <a:bodyPr wrap="square" lIns="0" tIns="0" rIns="0" bIns="0" rtlCol="0" anchor="ctr"/>
          <a:lstStyle/>
          <a:p>
            <a:pPr algn="ctr" indent="0" marL="0">
              <a:buNone/>
            </a:pPr>
            <a:r>
              <a:rPr lang="en-US" sz="18000" b="1" dirty="0">
                <a:solidFill>
                  <a:srgbClr val="CC785C"/>
                </a:solidFill>
                <a:latin typeface="Georgia" pitchFamily="34" charset="0"/>
                <a:ea typeface="Georgia" pitchFamily="34" charset="-122"/>
                <a:cs typeface="Georgia" pitchFamily="34" charset="-120"/>
              </a:rPr>
              <a:t>20.7%</a:t>
            </a:r>
            <a:endParaRPr lang="en-US" sz="18000" dirty="0"/>
          </a:p>
        </p:txBody>
      </p:sp>
      <p:sp>
        <p:nvSpPr>
          <p:cNvPr id="6" name="Text 4"/>
          <p:cNvSpPr/>
          <p:nvPr/>
        </p:nvSpPr>
        <p:spPr>
          <a:xfrm>
            <a:off x="2011680" y="4572000"/>
            <a:ext cx="8686800" cy="1188720"/>
          </a:xfrm>
          <a:prstGeom prst="rect">
            <a:avLst/>
          </a:prstGeom>
          <a:noFill/>
          <a:ln/>
        </p:spPr>
        <p:txBody>
          <a:bodyPr wrap="square" lIns="0" tIns="0" rIns="0" bIns="0" rtlCol="0" anchor="ctr"/>
          <a:lstStyle/>
          <a:p>
            <a:pPr algn="ctr" indent="0" marL="0">
              <a:buNone/>
            </a:pPr>
            <a:r>
              <a:rPr lang="en-US" sz="1800" i="1" dirty="0">
                <a:solidFill>
                  <a:srgbClr val="F0EEE5"/>
                </a:solidFill>
                <a:latin typeface="Georgia" pitchFamily="34" charset="0"/>
                <a:ea typeface="Georgia" pitchFamily="34" charset="-122"/>
                <a:cs typeface="Georgia" pitchFamily="34" charset="-120"/>
              </a:rPr>
              <a:t>of Auckland's 1.65 million people would face the charge under 3b or 3c with no viable 45-minute public transport alternative</a:t>
            </a:r>
            <a:endParaRPr lang="en-US" sz="1800" dirty="0"/>
          </a:p>
        </p:txBody>
      </p:sp>
      <p:sp>
        <p:nvSpPr>
          <p:cNvPr id="7" name="Text 5"/>
          <p:cNvSpPr/>
          <p:nvPr/>
        </p:nvSpPr>
        <p:spPr>
          <a:xfrm>
            <a:off x="640080" y="5852160"/>
            <a:ext cx="10972800" cy="365760"/>
          </a:xfrm>
          <a:prstGeom prst="rect">
            <a:avLst/>
          </a:prstGeom>
          <a:noFill/>
          <a:ln/>
        </p:spPr>
        <p:txBody>
          <a:bodyPr wrap="square" lIns="0" tIns="0" rIns="0" bIns="0" rtlCol="0" anchor="ctr"/>
          <a:lstStyle/>
          <a:p>
            <a:pPr algn="ctr" indent="0" marL="0">
              <a:buNone/>
            </a:pPr>
            <a:r>
              <a:rPr lang="en-US" sz="1300" spc="100" kern="0" dirty="0">
                <a:solidFill>
                  <a:srgbClr val="857F72"/>
                </a:solidFill>
                <a:latin typeface="Calibri" pitchFamily="34" charset="0"/>
                <a:ea typeface="Calibri" pitchFamily="34" charset="-122"/>
                <a:cs typeface="Calibri" pitchFamily="34" charset="-120"/>
              </a:rPr>
              <a:t>340,908 residents | 120 SA2s | mostly outer south and outer west</a:t>
            </a:r>
            <a:endParaRPr lang="en-US" sz="1300" dirty="0"/>
          </a:p>
        </p:txBody>
      </p:sp>
      <p:sp>
        <p:nvSpPr>
          <p:cNvPr id="8" name="Text 6"/>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9" name="Text 7"/>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2308860"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230886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TABLE 1, BURDEN INCIDENCE</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400" dirty="0">
                <a:solidFill>
                  <a:srgbClr val="2C1810"/>
                </a:solidFill>
                <a:latin typeface="Georgia" pitchFamily="34" charset="0"/>
                <a:ea typeface="Georgia" pitchFamily="34" charset="-122"/>
                <a:cs typeface="Georgia" pitchFamily="34" charset="-120"/>
              </a:rPr>
              <a:t>How many residents pay without an alternative?</a:t>
            </a:r>
            <a:endParaRPr lang="en-US" sz="2400" dirty="0"/>
          </a:p>
        </p:txBody>
      </p:sp>
      <p:sp>
        <p:nvSpPr>
          <p:cNvPr id="5" name="Text 3"/>
          <p:cNvSpPr/>
          <p:nvPr/>
        </p:nvSpPr>
        <p:spPr>
          <a:xfrm>
            <a:off x="640080" y="1965960"/>
            <a:ext cx="10972800" cy="502920"/>
          </a:xfrm>
          <a:prstGeom prst="rect">
            <a:avLst/>
          </a:prstGeom>
          <a:noFill/>
          <a:ln/>
        </p:spPr>
        <p:txBody>
          <a:bodyPr wrap="square" lIns="0" tIns="0" rIns="0" bIns="0" rtlCol="0" anchor="ctr"/>
          <a:lstStyle/>
          <a:p>
            <a:pPr indent="0" marL="0">
              <a:buNone/>
            </a:pPr>
            <a:r>
              <a:rPr lang="en-US" sz="1100" i="1" dirty="0">
                <a:solidFill>
                  <a:srgbClr val="857F72"/>
                </a:solidFill>
                <a:latin typeface="Calibri" pitchFamily="34" charset="0"/>
                <a:ea typeface="Calibri" pitchFamily="34" charset="-122"/>
                <a:cs typeface="Calibri" pitchFamily="34" charset="-120"/>
              </a:rPr>
              <a:t>45-minute Q75 cut-point = 104,812 reachable jobs. Residents column = SA1-summed Census 2023 usually resident count in 'pays without alternative' SA2s.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3108960"/>
                <a:gridCol w="1828800"/>
                <a:gridCol w="2286000"/>
                <a:gridCol w="2286000"/>
                <a:gridCol w="1371600"/>
              </a:tblGrid>
              <a:tr h="457200">
                <a:tc>
                  <a:txBody>
                    <a:bodyPr/>
                    <a:lstStyle/>
                    <a:p>
                      <a:pPr indent="0" marL="0">
                        <a:buNone/>
                      </a:pPr>
                      <a:r>
                        <a:rPr lang="en-US" sz="1200" b="1" dirty="0">
                          <a:solidFill>
                            <a:srgbClr val="F0EEE5"/>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Charged SA2</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Pays without alt SA2</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Residents affected</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 of Auckland (1.65M)</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1a, City centre cordon</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1c, City centre + fringe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2c, Isthmus double cordon</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57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151,050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b="1" dirty="0">
                          <a:solidFill>
                            <a:srgbClr val="2C1810"/>
                          </a:solidFill>
                          <a:latin typeface="Calibri" pitchFamily="34" charset="0"/>
                          <a:ea typeface="Calibri" pitchFamily="34" charset="-122"/>
                          <a:cs typeface="Calibri" pitchFamily="34" charset="-120"/>
                        </a:rPr>
                        <a:t>3b, Core motorways</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173</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340,908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20.7%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b="1" dirty="0">
                          <a:solidFill>
                            <a:srgbClr val="2C1810"/>
                          </a:solidFill>
                          <a:latin typeface="Calibri" pitchFamily="34" charset="0"/>
                          <a:ea typeface="Calibri" pitchFamily="34" charset="-122"/>
                          <a:cs typeface="Calibri" pitchFamily="34" charset="-120"/>
                        </a:rPr>
                        <a:t>3c, Core motorways + CBD</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188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340,908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20.7%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3e, Motorway hotspots</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28,614</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bl>
          </a:graphicData>
        </a:graphic>
      </p:graphicFrame>
      <p:sp>
        <p:nvSpPr>
          <p:cNvPr id="7" name="Text 4"/>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8" name="Text 5"/>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920240"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92024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TABLE 2, SCENARIO CI</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400" dirty="0">
                <a:solidFill>
                  <a:srgbClr val="2C1810"/>
                </a:solidFill>
                <a:latin typeface="Georgia" pitchFamily="34" charset="0"/>
                <a:ea typeface="Georgia" pitchFamily="34" charset="-122"/>
                <a:cs typeface="Georgia" pitchFamily="34" charset="-120"/>
              </a:rPr>
              <a:t>Same six scenarios, different question.</a:t>
            </a:r>
            <a:endParaRPr lang="en-US" sz="2400" dirty="0"/>
          </a:p>
        </p:txBody>
      </p:sp>
      <p:sp>
        <p:nvSpPr>
          <p:cNvPr id="5" name="Text 3"/>
          <p:cNvSpPr/>
          <p:nvPr/>
        </p:nvSpPr>
        <p:spPr>
          <a:xfrm>
            <a:off x="640080" y="1920240"/>
            <a:ext cx="10972800" cy="640080"/>
          </a:xfrm>
          <a:prstGeom prst="rect">
            <a:avLst/>
          </a:prstGeom>
          <a:noFill/>
          <a:ln/>
        </p:spPr>
        <p:txBody>
          <a:bodyPr wrap="square" lIns="0" tIns="0" rIns="0" bIns="0" rtlCol="0" anchor="ctr"/>
          <a:lstStyle/>
          <a:p>
            <a:pPr indent="0" marL="0">
              <a:buNone/>
            </a:pPr>
            <a:r>
              <a:rPr lang="en-US" sz="1100" i="1" dirty="0">
                <a:solidFill>
                  <a:srgbClr val="857F72"/>
                </a:solidFill>
                <a:latin typeface="Calibri" pitchFamily="34" charset="0"/>
                <a:ea typeface="Calibri" pitchFamily="34" charset="-122"/>
                <a:cs typeface="Calibri" pitchFamily="34" charset="-120"/>
              </a:rPr>
              <a:t>Among the SA2s that would pay, do the more deprived ones have lower 45-minute accessibility? Wagstaff CI restricted to the charged subset, population-weighted by SA1 usually resident count. Baseline (all 619 SA2s) CI(access_45min) = +0.031, D8-10 = -0.083.</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97480"/>
          <a:ext cx="10881360" cy="914400"/>
        </p:xfrm>
        <a:graphic>
          <a:graphicData uri="http://schemas.openxmlformats.org/drawingml/2006/table">
            <a:tbl>
              <a:tblPr/>
              <a:tblGrid>
                <a:gridCol w="2926080"/>
                <a:gridCol w="1554480"/>
                <a:gridCol w="2377440"/>
                <a:gridCol w="2377440"/>
                <a:gridCol w="1645920"/>
              </a:tblGrid>
              <a:tr h="457200">
                <a:tc>
                  <a:txBody>
                    <a:bodyPr/>
                    <a:lstStyle/>
                    <a:p>
                      <a:pPr indent="0" marL="0">
                        <a:buNone/>
                      </a:pPr>
                      <a:r>
                        <a:rPr lang="en-US" sz="1200" b="1" dirty="0">
                          <a:solidFill>
                            <a:srgbClr val="F0EEE5"/>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Charged SA2</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Residents in charged SA2</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CI(access_45min | charged)</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Equity reading</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1a, City centre cordon</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31,107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-0.005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i="1" dirty="0">
                          <a:solidFill>
                            <a:srgbClr val="2C1810"/>
                          </a:solidFill>
                          <a:latin typeface="Calibri" pitchFamily="34" charset="0"/>
                          <a:ea typeface="Calibri" pitchFamily="34" charset="-122"/>
                          <a:cs typeface="Calibri" pitchFamily="34" charset="-120"/>
                        </a:rPr>
                        <a:t>not equity-active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1c, City centre + fringe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57,420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+0.029</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i="1" dirty="0">
                          <a:solidFill>
                            <a:srgbClr val="2C1810"/>
                          </a:solidFill>
                          <a:latin typeface="Calibri" pitchFamily="34" charset="0"/>
                          <a:ea typeface="Calibri" pitchFamily="34" charset="-122"/>
                          <a:cs typeface="Calibri" pitchFamily="34" charset="-120"/>
                        </a:rPr>
                        <a:t>not equity-active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2c, Isthmus double cordon</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414,066</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+0.010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i="1" dirty="0">
                          <a:solidFill>
                            <a:srgbClr val="2C1810"/>
                          </a:solidFill>
                          <a:latin typeface="Calibri" pitchFamily="34" charset="0"/>
                          <a:ea typeface="Calibri" pitchFamily="34" charset="-122"/>
                          <a:cs typeface="Calibri" pitchFamily="34" charset="-120"/>
                        </a:rPr>
                        <a:t>near-zero</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b="1" dirty="0">
                          <a:solidFill>
                            <a:srgbClr val="2C1810"/>
                          </a:solidFill>
                          <a:latin typeface="Calibri" pitchFamily="34" charset="0"/>
                          <a:ea typeface="Calibri" pitchFamily="34" charset="-122"/>
                          <a:cs typeface="Calibri" pitchFamily="34" charset="-120"/>
                        </a:rPr>
                        <a:t>3b, Core motorways</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173</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476,415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-0.166</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i="1" dirty="0">
                          <a:solidFill>
                            <a:srgbClr val="B85042"/>
                          </a:solidFill>
                          <a:latin typeface="Calibri" pitchFamily="34" charset="0"/>
                          <a:ea typeface="Calibri" pitchFamily="34" charset="-122"/>
                          <a:cs typeface="Calibri" pitchFamily="34" charset="-120"/>
                        </a:rPr>
                        <a:t>strongly regressive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b="1" dirty="0">
                          <a:solidFill>
                            <a:srgbClr val="2C1810"/>
                          </a:solidFill>
                          <a:latin typeface="Calibri" pitchFamily="34" charset="0"/>
                          <a:ea typeface="Calibri" pitchFamily="34" charset="-122"/>
                          <a:cs typeface="Calibri" pitchFamily="34" charset="-120"/>
                        </a:rPr>
                        <a:t>3c, Core motorways + CBD</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188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507,522</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-0.120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i="1" dirty="0">
                          <a:solidFill>
                            <a:srgbClr val="B85042"/>
                          </a:solidFill>
                          <a:latin typeface="Calibri" pitchFamily="34" charset="0"/>
                          <a:ea typeface="Calibri" pitchFamily="34" charset="-122"/>
                          <a:cs typeface="Calibri" pitchFamily="34" charset="-120"/>
                        </a:rPr>
                        <a:t>regressive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3e, Motorway hotspots</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51,588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+0.046</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i="1" dirty="0">
                          <a:solidFill>
                            <a:srgbClr val="2C1810"/>
                          </a:solidFill>
                          <a:latin typeface="Calibri" pitchFamily="34" charset="0"/>
                          <a:ea typeface="Calibri" pitchFamily="34" charset="-122"/>
                          <a:cs typeface="Calibri" pitchFamily="34" charset="-120"/>
                        </a:rPr>
                        <a:t>near-zero</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bl>
          </a:graphicData>
        </a:graphic>
      </p:graphicFrame>
      <p:sp>
        <p:nvSpPr>
          <p:cNvPr id="7" name="Text 4"/>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8" name="Text 5"/>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842516"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842516"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THE 3b vs 3c PUZZLE</a:t>
            </a:r>
            <a:endParaRPr lang="en-US" sz="1000" dirty="0"/>
          </a:p>
        </p:txBody>
      </p:sp>
      <p:sp>
        <p:nvSpPr>
          <p:cNvPr id="4" name="Text 2"/>
          <p:cNvSpPr/>
          <p:nvPr/>
        </p:nvSpPr>
        <p:spPr>
          <a:xfrm>
            <a:off x="640080" y="1371600"/>
            <a:ext cx="10972800" cy="822960"/>
          </a:xfrm>
          <a:prstGeom prst="rect">
            <a:avLst/>
          </a:prstGeom>
          <a:noFill/>
          <a:ln/>
        </p:spPr>
        <p:txBody>
          <a:bodyPr wrap="square" lIns="0" tIns="0" rIns="0" bIns="0" rtlCol="0" anchor="ctr"/>
          <a:lstStyle/>
          <a:p>
            <a:pPr indent="0" marL="0">
              <a:buNone/>
            </a:pPr>
            <a:r>
              <a:rPr lang="en-US" sz="2400" dirty="0">
                <a:solidFill>
                  <a:srgbClr val="2C1810"/>
                </a:solidFill>
                <a:latin typeface="Georgia" pitchFamily="34" charset="0"/>
                <a:ea typeface="Georgia" pitchFamily="34" charset="-122"/>
                <a:cs typeface="Georgia" pitchFamily="34" charset="-120"/>
              </a:rPr>
              <a:t>Adding the CBD compresses the CI but leaves the burden unchanged.</a:t>
            </a:r>
            <a:endParaRPr lang="en-US" sz="2400" dirty="0"/>
          </a:p>
        </p:txBody>
      </p:sp>
      <p:sp>
        <p:nvSpPr>
          <p:cNvPr id="5" name="Shape 3"/>
          <p:cNvSpPr/>
          <p:nvPr/>
        </p:nvSpPr>
        <p:spPr>
          <a:xfrm>
            <a:off x="640080" y="2560320"/>
            <a:ext cx="5303520" cy="2286000"/>
          </a:xfrm>
          <a:prstGeom prst="rect">
            <a:avLst/>
          </a:prstGeom>
          <a:solidFill>
            <a:srgbClr val="FAF8F2"/>
          </a:solidFill>
          <a:ln w="12700">
            <a:solidFill>
              <a:srgbClr val="FAF8F2"/>
            </a:solidFill>
            <a:prstDash val="solid"/>
          </a:ln>
        </p:spPr>
      </p:sp>
      <p:sp>
        <p:nvSpPr>
          <p:cNvPr id="6" name="Shape 4"/>
          <p:cNvSpPr/>
          <p:nvPr/>
        </p:nvSpPr>
        <p:spPr>
          <a:xfrm>
            <a:off x="640080" y="2560320"/>
            <a:ext cx="109728" cy="2286000"/>
          </a:xfrm>
          <a:prstGeom prst="rect">
            <a:avLst/>
          </a:prstGeom>
          <a:solidFill>
            <a:srgbClr val="B85042"/>
          </a:solidFill>
          <a:ln w="12700">
            <a:solidFill>
              <a:srgbClr val="B85042"/>
            </a:solidFill>
            <a:prstDash val="solid"/>
          </a:ln>
        </p:spPr>
      </p:sp>
      <p:sp>
        <p:nvSpPr>
          <p:cNvPr id="7" name="Text 5"/>
          <p:cNvSpPr/>
          <p:nvPr/>
        </p:nvSpPr>
        <p:spPr>
          <a:xfrm>
            <a:off x="914400" y="2743200"/>
            <a:ext cx="1371600" cy="640080"/>
          </a:xfrm>
          <a:prstGeom prst="rect">
            <a:avLst/>
          </a:prstGeom>
          <a:noFill/>
          <a:ln/>
        </p:spPr>
        <p:txBody>
          <a:bodyPr wrap="square" lIns="0" tIns="0" rIns="0" bIns="0" rtlCol="0" anchor="ctr"/>
          <a:lstStyle/>
          <a:p>
            <a:pPr indent="0" marL="0">
              <a:buNone/>
            </a:pPr>
            <a:r>
              <a:rPr lang="en-US" sz="3600" b="1" dirty="0">
                <a:solidFill>
                  <a:srgbClr val="B85042"/>
                </a:solidFill>
                <a:latin typeface="Georgia" pitchFamily="34" charset="0"/>
                <a:ea typeface="Georgia" pitchFamily="34" charset="-122"/>
                <a:cs typeface="Georgia" pitchFamily="34" charset="-120"/>
              </a:rPr>
              <a:t>3b</a:t>
            </a:r>
            <a:endParaRPr lang="en-US" sz="3600" dirty="0"/>
          </a:p>
        </p:txBody>
      </p:sp>
      <p:sp>
        <p:nvSpPr>
          <p:cNvPr id="8" name="Text 6"/>
          <p:cNvSpPr/>
          <p:nvPr/>
        </p:nvSpPr>
        <p:spPr>
          <a:xfrm>
            <a:off x="914400" y="3429000"/>
            <a:ext cx="4754880" cy="365760"/>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Core motorways</a:t>
            </a:r>
            <a:endParaRPr lang="en-US" sz="1400" dirty="0"/>
          </a:p>
        </p:txBody>
      </p:sp>
      <p:sp>
        <p:nvSpPr>
          <p:cNvPr id="9" name="Text 7"/>
          <p:cNvSpPr/>
          <p:nvPr/>
        </p:nvSpPr>
        <p:spPr>
          <a:xfrm>
            <a:off x="2468880" y="2788920"/>
            <a:ext cx="3383280" cy="502920"/>
          </a:xfrm>
          <a:prstGeom prst="rect">
            <a:avLst/>
          </a:prstGeom>
          <a:noFill/>
          <a:ln/>
        </p:spPr>
        <p:txBody>
          <a:bodyPr wrap="square" lIns="0" tIns="0" rIns="0" bIns="0" rtlCol="0" anchor="ctr"/>
          <a:lstStyle/>
          <a:p>
            <a:pPr algn="r" indent="0" marL="0">
              <a:buNone/>
            </a:pPr>
            <a:r>
              <a:rPr lang="en-US" sz="2800" b="1" dirty="0">
                <a:solidFill>
                  <a:srgbClr val="2C1810"/>
                </a:solidFill>
                <a:latin typeface="Georgia" pitchFamily="34" charset="0"/>
                <a:ea typeface="Georgia" pitchFamily="34" charset="-122"/>
                <a:cs typeface="Georgia" pitchFamily="34" charset="-120"/>
              </a:rPr>
              <a:t>CI -0.166</a:t>
            </a:r>
            <a:endParaRPr lang="en-US" sz="2800" dirty="0"/>
          </a:p>
        </p:txBody>
      </p:sp>
      <p:sp>
        <p:nvSpPr>
          <p:cNvPr id="10" name="Text 8"/>
          <p:cNvSpPr/>
          <p:nvPr/>
        </p:nvSpPr>
        <p:spPr>
          <a:xfrm>
            <a:off x="914400" y="3931920"/>
            <a:ext cx="4754880" cy="73152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340,908 residents | 120 no-alt SA2s</a:t>
            </a:r>
            <a:endParaRPr lang="en-US" sz="1200" dirty="0"/>
          </a:p>
        </p:txBody>
      </p:sp>
      <p:sp>
        <p:nvSpPr>
          <p:cNvPr id="11" name="Shape 9"/>
          <p:cNvSpPr/>
          <p:nvPr/>
        </p:nvSpPr>
        <p:spPr>
          <a:xfrm>
            <a:off x="6217920" y="2560320"/>
            <a:ext cx="5303520" cy="2286000"/>
          </a:xfrm>
          <a:prstGeom prst="rect">
            <a:avLst/>
          </a:prstGeom>
          <a:solidFill>
            <a:srgbClr val="FAF8F2"/>
          </a:solidFill>
          <a:ln w="12700">
            <a:solidFill>
              <a:srgbClr val="FAF8F2"/>
            </a:solidFill>
            <a:prstDash val="solid"/>
          </a:ln>
        </p:spPr>
      </p:sp>
      <p:sp>
        <p:nvSpPr>
          <p:cNvPr id="12" name="Shape 10"/>
          <p:cNvSpPr/>
          <p:nvPr/>
        </p:nvSpPr>
        <p:spPr>
          <a:xfrm>
            <a:off x="6217920" y="2560320"/>
            <a:ext cx="109728" cy="2286000"/>
          </a:xfrm>
          <a:prstGeom prst="rect">
            <a:avLst/>
          </a:prstGeom>
          <a:solidFill>
            <a:srgbClr val="CC785C"/>
          </a:solidFill>
          <a:ln w="12700">
            <a:solidFill>
              <a:srgbClr val="CC785C"/>
            </a:solidFill>
            <a:prstDash val="solid"/>
          </a:ln>
        </p:spPr>
      </p:sp>
      <p:sp>
        <p:nvSpPr>
          <p:cNvPr id="13" name="Text 11"/>
          <p:cNvSpPr/>
          <p:nvPr/>
        </p:nvSpPr>
        <p:spPr>
          <a:xfrm>
            <a:off x="6492240" y="2743200"/>
            <a:ext cx="1371600" cy="640080"/>
          </a:xfrm>
          <a:prstGeom prst="rect">
            <a:avLst/>
          </a:prstGeom>
          <a:noFill/>
          <a:ln/>
        </p:spPr>
        <p:txBody>
          <a:bodyPr wrap="square" lIns="0" tIns="0" rIns="0" bIns="0" rtlCol="0" anchor="ctr"/>
          <a:lstStyle/>
          <a:p>
            <a:pPr indent="0" marL="0">
              <a:buNone/>
            </a:pPr>
            <a:r>
              <a:rPr lang="en-US" sz="3600" b="1" dirty="0">
                <a:solidFill>
                  <a:srgbClr val="CC785C"/>
                </a:solidFill>
                <a:latin typeface="Georgia" pitchFamily="34" charset="0"/>
                <a:ea typeface="Georgia" pitchFamily="34" charset="-122"/>
                <a:cs typeface="Georgia" pitchFamily="34" charset="-120"/>
              </a:rPr>
              <a:t>3c</a:t>
            </a:r>
            <a:endParaRPr lang="en-US" sz="3600" dirty="0"/>
          </a:p>
        </p:txBody>
      </p:sp>
      <p:sp>
        <p:nvSpPr>
          <p:cNvPr id="14" name="Text 12"/>
          <p:cNvSpPr/>
          <p:nvPr/>
        </p:nvSpPr>
        <p:spPr>
          <a:xfrm>
            <a:off x="6492240" y="3429000"/>
            <a:ext cx="4754880" cy="365760"/>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Core motorways + CBD</a:t>
            </a:r>
            <a:endParaRPr lang="en-US" sz="1400" dirty="0"/>
          </a:p>
        </p:txBody>
      </p:sp>
      <p:sp>
        <p:nvSpPr>
          <p:cNvPr id="15" name="Text 13"/>
          <p:cNvSpPr/>
          <p:nvPr/>
        </p:nvSpPr>
        <p:spPr>
          <a:xfrm>
            <a:off x="8046720" y="2788920"/>
            <a:ext cx="3383280" cy="502920"/>
          </a:xfrm>
          <a:prstGeom prst="rect">
            <a:avLst/>
          </a:prstGeom>
          <a:noFill/>
          <a:ln/>
        </p:spPr>
        <p:txBody>
          <a:bodyPr wrap="square" lIns="0" tIns="0" rIns="0" bIns="0" rtlCol="0" anchor="ctr"/>
          <a:lstStyle/>
          <a:p>
            <a:pPr algn="r" indent="0" marL="0">
              <a:buNone/>
            </a:pPr>
            <a:r>
              <a:rPr lang="en-US" sz="2800" b="1" dirty="0">
                <a:solidFill>
                  <a:srgbClr val="2C1810"/>
                </a:solidFill>
                <a:latin typeface="Georgia" pitchFamily="34" charset="0"/>
                <a:ea typeface="Georgia" pitchFamily="34" charset="-122"/>
                <a:cs typeface="Georgia" pitchFamily="34" charset="-120"/>
              </a:rPr>
              <a:t>CI -0.120</a:t>
            </a:r>
            <a:endParaRPr lang="en-US" sz="2800" dirty="0"/>
          </a:p>
        </p:txBody>
      </p:sp>
      <p:sp>
        <p:nvSpPr>
          <p:cNvPr id="16" name="Text 14"/>
          <p:cNvSpPr/>
          <p:nvPr/>
        </p:nvSpPr>
        <p:spPr>
          <a:xfrm>
            <a:off x="6492240" y="3931920"/>
            <a:ext cx="4754880" cy="73152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340,908 residents | 120 no-alt SA2s</a:t>
            </a:r>
            <a:endParaRPr lang="en-US" sz="1200" dirty="0"/>
          </a:p>
        </p:txBody>
      </p:sp>
      <p:sp>
        <p:nvSpPr>
          <p:cNvPr id="17" name="Shape 15"/>
          <p:cNvSpPr/>
          <p:nvPr/>
        </p:nvSpPr>
        <p:spPr>
          <a:xfrm>
            <a:off x="640080" y="5120640"/>
            <a:ext cx="10881360" cy="1097280"/>
          </a:xfrm>
          <a:prstGeom prst="rect">
            <a:avLst/>
          </a:prstGeom>
          <a:solidFill>
            <a:srgbClr val="1F1410"/>
          </a:solidFill>
          <a:ln w="12700">
            <a:solidFill>
              <a:srgbClr val="1F1410"/>
            </a:solidFill>
            <a:prstDash val="solid"/>
          </a:ln>
        </p:spPr>
      </p:sp>
      <p:sp>
        <p:nvSpPr>
          <p:cNvPr id="18" name="Text 16"/>
          <p:cNvSpPr/>
          <p:nvPr/>
        </p:nvSpPr>
        <p:spPr>
          <a:xfrm>
            <a:off x="1005840" y="5212080"/>
            <a:ext cx="10149840" cy="914400"/>
          </a:xfrm>
          <a:prstGeom prst="rect">
            <a:avLst/>
          </a:prstGeom>
          <a:noFill/>
          <a:ln/>
        </p:spPr>
        <p:txBody>
          <a:bodyPr wrap="square" lIns="0" tIns="0" rIns="0" bIns="0" rtlCol="0" anchor="ctr"/>
          <a:lstStyle/>
          <a:p>
            <a:pPr indent="0" marL="0">
              <a:buNone/>
            </a:pPr>
            <a:r>
              <a:rPr lang="en-US" sz="1300" dirty="0">
                <a:solidFill>
                  <a:srgbClr val="F0EEE5"/>
                </a:solidFill>
                <a:latin typeface="Calibri" pitchFamily="34" charset="0"/>
                <a:ea typeface="Calibri" pitchFamily="34" charset="-122"/>
                <a:cs typeface="Calibri" pitchFamily="34" charset="-120"/>
              </a:rPr>
              <a:t>The same 340,908 residents would pay without a viable 45-minute alternative under both 3b and 3c. The CBD SA2s 3c adds sit well above the Q75 cut-point and span the deprivation gradient, so the regressive gradient is diluted. </a:t>
            </a:r>
            <a:pPr indent="0" marL="0">
              <a:buNone/>
            </a:pPr>
            <a:r>
              <a:rPr lang="en-US" sz="1300" b="1" dirty="0">
                <a:solidFill>
                  <a:srgbClr val="CC785C"/>
                </a:solidFill>
                <a:latin typeface="Calibri" pitchFamily="34" charset="0"/>
                <a:ea typeface="Calibri" pitchFamily="34" charset="-122"/>
                <a:cs typeface="Calibri" pitchFamily="34" charset="-120"/>
              </a:rPr>
              <a:t>A measurement effect, not a real improvement in distributional outcomes.</a:t>
            </a:r>
            <a:endParaRPr lang="en-US" sz="1300" dirty="0"/>
          </a:p>
        </p:txBody>
      </p:sp>
      <p:sp>
        <p:nvSpPr>
          <p:cNvPr id="19" name="Text 17"/>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20" name="Text 18"/>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687068"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687068"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SPATIAL SIGNATURE</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600" dirty="0">
                <a:solidFill>
                  <a:srgbClr val="2C1810"/>
                </a:solidFill>
                <a:latin typeface="Georgia" pitchFamily="34" charset="0"/>
                <a:ea typeface="Georgia" pitchFamily="34" charset="-122"/>
                <a:cs typeface="Georgia" pitchFamily="34" charset="-120"/>
              </a:rPr>
              <a:t>Four local clusters tell the policy story.</a:t>
            </a:r>
            <a:endParaRPr lang="en-US" sz="2600" dirty="0"/>
          </a:p>
        </p:txBody>
      </p:sp>
      <p:sp>
        <p:nvSpPr>
          <p:cNvPr id="5" name="Text 3"/>
          <p:cNvSpPr/>
          <p:nvPr/>
        </p:nvSpPr>
        <p:spPr>
          <a:xfrm>
            <a:off x="640080" y="1920240"/>
            <a:ext cx="10972800" cy="365760"/>
          </a:xfrm>
          <a:prstGeom prst="rect">
            <a:avLst/>
          </a:prstGeom>
          <a:noFill/>
          <a:ln/>
        </p:spPr>
        <p:txBody>
          <a:bodyPr wrap="square" lIns="0" tIns="0" rIns="0" bIns="0" rtlCol="0" anchor="ctr"/>
          <a:lstStyle/>
          <a:p>
            <a:pPr indent="0" marL="0">
              <a:buNone/>
            </a:pPr>
            <a:r>
              <a:rPr lang="en-US" sz="1100" i="1" dirty="0">
                <a:solidFill>
                  <a:srgbClr val="857F72"/>
                </a:solidFill>
                <a:latin typeface="Calibri" pitchFamily="34" charset="0"/>
                <a:ea typeface="Calibri" pitchFamily="34" charset="-122"/>
                <a:cs typeface="Calibri" pitchFamily="34" charset="-120"/>
              </a:rPr>
              <a:t>Bivariate Local Moran's I, access_45min focal, NZDep2023 spatial lag, queen weights, 999 permutations, p &lt; 0.05.</a:t>
            </a:r>
            <a:endParaRPr lang="en-US" sz="1100" dirty="0"/>
          </a:p>
        </p:txBody>
      </p:sp>
      <p:pic>
        <p:nvPicPr>
          <p:cNvPr id="6" name="Image 0" descr="figs/fig1c_bivariate.png">    </p:cNvPr>
          <p:cNvPicPr>
            <a:picLocks noChangeAspect="1"/>
          </p:cNvPicPr>
          <p:nvPr/>
        </p:nvPicPr>
        <p:blipFill>
          <a:blip r:embed="rId1"/>
          <a:stretch>
            <a:fillRect/>
          </a:stretch>
        </p:blipFill>
        <p:spPr>
          <a:xfrm>
            <a:off x="640080" y="2286000"/>
            <a:ext cx="2902483" cy="4114800"/>
          </a:xfrm>
          <a:prstGeom prst="rect">
            <a:avLst/>
          </a:prstGeom>
        </p:spPr>
      </p:pic>
      <p:sp>
        <p:nvSpPr>
          <p:cNvPr id="7" name="Shape 4"/>
          <p:cNvSpPr/>
          <p:nvPr/>
        </p:nvSpPr>
        <p:spPr>
          <a:xfrm>
            <a:off x="3908323" y="2286000"/>
            <a:ext cx="7613117" cy="960120"/>
          </a:xfrm>
          <a:prstGeom prst="rect">
            <a:avLst/>
          </a:prstGeom>
          <a:solidFill>
            <a:srgbClr val="FAF8F2"/>
          </a:solidFill>
          <a:ln w="12700">
            <a:solidFill>
              <a:srgbClr val="FAF8F2"/>
            </a:solidFill>
            <a:prstDash val="solid"/>
          </a:ln>
        </p:spPr>
      </p:sp>
      <p:sp>
        <p:nvSpPr>
          <p:cNvPr id="8" name="Shape 5"/>
          <p:cNvSpPr/>
          <p:nvPr/>
        </p:nvSpPr>
        <p:spPr>
          <a:xfrm>
            <a:off x="3908323" y="2286000"/>
            <a:ext cx="91440" cy="960120"/>
          </a:xfrm>
          <a:prstGeom prst="rect">
            <a:avLst/>
          </a:prstGeom>
          <a:solidFill>
            <a:srgbClr val="A7BEAE"/>
          </a:solidFill>
          <a:ln w="12700">
            <a:solidFill>
              <a:srgbClr val="A7BEAE"/>
            </a:solidFill>
            <a:prstDash val="solid"/>
          </a:ln>
        </p:spPr>
      </p:sp>
      <p:sp>
        <p:nvSpPr>
          <p:cNvPr id="9" name="Text 6"/>
          <p:cNvSpPr/>
          <p:nvPr/>
        </p:nvSpPr>
        <p:spPr>
          <a:xfrm>
            <a:off x="4136923" y="2340864"/>
            <a:ext cx="914400" cy="365760"/>
          </a:xfrm>
          <a:prstGeom prst="rect">
            <a:avLst/>
          </a:prstGeom>
          <a:noFill/>
          <a:ln/>
        </p:spPr>
        <p:txBody>
          <a:bodyPr wrap="square" lIns="0" tIns="0" rIns="0" bIns="0" rtlCol="0" anchor="ctr"/>
          <a:lstStyle/>
          <a:p>
            <a:pPr indent="0" marL="0">
              <a:buNone/>
            </a:pPr>
            <a:r>
              <a:rPr lang="en-US" sz="1600" b="1" spc="300" kern="0" dirty="0">
                <a:solidFill>
                  <a:srgbClr val="A7BEAE"/>
                </a:solidFill>
                <a:latin typeface="Georgia" pitchFamily="34" charset="0"/>
                <a:ea typeface="Georgia" pitchFamily="34" charset="-122"/>
                <a:cs typeface="Georgia" pitchFamily="34" charset="-120"/>
              </a:rPr>
              <a:t>HH</a:t>
            </a:r>
            <a:endParaRPr lang="en-US" sz="1600" dirty="0"/>
          </a:p>
        </p:txBody>
      </p:sp>
      <p:sp>
        <p:nvSpPr>
          <p:cNvPr id="10" name="Text 7"/>
          <p:cNvSpPr/>
          <p:nvPr/>
        </p:nvSpPr>
        <p:spPr>
          <a:xfrm>
            <a:off x="10058400" y="2340864"/>
            <a:ext cx="1280160" cy="365760"/>
          </a:xfrm>
          <a:prstGeom prst="rect">
            <a:avLst/>
          </a:prstGeom>
          <a:noFill/>
          <a:ln/>
        </p:spPr>
        <p:txBody>
          <a:bodyPr wrap="square" lIns="0" tIns="0" rIns="0" bIns="0" rtlCol="0" anchor="ctr"/>
          <a:lstStyle/>
          <a:p>
            <a:pPr algn="r" indent="0" marL="0">
              <a:buNone/>
            </a:pPr>
            <a:r>
              <a:rPr lang="en-US" sz="1400" b="1" dirty="0">
                <a:solidFill>
                  <a:srgbClr val="2C1810"/>
                </a:solidFill>
                <a:latin typeface="Georgia" pitchFamily="34" charset="0"/>
                <a:ea typeface="Georgia" pitchFamily="34" charset="-122"/>
                <a:cs typeface="Georgia" pitchFamily="34" charset="-120"/>
              </a:rPr>
              <a:t>34 SA2s</a:t>
            </a:r>
            <a:endParaRPr lang="en-US" sz="1400" dirty="0"/>
          </a:p>
        </p:txBody>
      </p:sp>
      <p:sp>
        <p:nvSpPr>
          <p:cNvPr id="11" name="Text 8"/>
          <p:cNvSpPr/>
          <p:nvPr/>
        </p:nvSpPr>
        <p:spPr>
          <a:xfrm>
            <a:off x="4136923" y="2670048"/>
            <a:ext cx="7247357" cy="274320"/>
          </a:xfrm>
          <a:prstGeom prst="rect">
            <a:avLst/>
          </a:prstGeom>
          <a:noFill/>
          <a:ln/>
        </p:spPr>
        <p:txBody>
          <a:bodyPr wrap="square" lIns="0" tIns="0" rIns="0" bIns="0" rtlCol="0" anchor="ctr"/>
          <a:lstStyle/>
          <a:p>
            <a:pPr indent="0" marL="0">
              <a:buNone/>
            </a:pPr>
            <a:r>
              <a:rPr lang="en-US" sz="1200" b="1" dirty="0">
                <a:solidFill>
                  <a:srgbClr val="2C1810"/>
                </a:solidFill>
                <a:latin typeface="Calibri" pitchFamily="34" charset="0"/>
                <a:ea typeface="Calibri" pitchFamily="34" charset="-122"/>
                <a:cs typeface="Calibri" pitchFamily="34" charset="-120"/>
              </a:rPr>
              <a:t>High access, high deprivation</a:t>
            </a:r>
            <a:endParaRPr lang="en-US" sz="1200" dirty="0"/>
          </a:p>
        </p:txBody>
      </p:sp>
      <p:sp>
        <p:nvSpPr>
          <p:cNvPr id="12" name="Text 9"/>
          <p:cNvSpPr/>
          <p:nvPr/>
        </p:nvSpPr>
        <p:spPr>
          <a:xfrm>
            <a:off x="4136923" y="2926080"/>
            <a:ext cx="7247357" cy="320040"/>
          </a:xfrm>
          <a:prstGeom prst="rect">
            <a:avLst/>
          </a:prstGeom>
          <a:noFill/>
          <a:ln/>
        </p:spPr>
        <p:txBody>
          <a:bodyPr wrap="square" lIns="0" tIns="0" rIns="0" bIns="0" rtlCol="0" anchor="ctr"/>
          <a:lstStyle/>
          <a:p>
            <a:pPr indent="0" marL="0">
              <a:buNone/>
            </a:pPr>
            <a:r>
              <a:rPr lang="en-US" sz="1000" dirty="0">
                <a:solidFill>
                  <a:srgbClr val="2C1810"/>
                </a:solidFill>
                <a:latin typeface="Calibri" pitchFamily="34" charset="0"/>
                <a:ea typeface="Calibri" pitchFamily="34" charset="-122"/>
                <a:cs typeface="Calibri" pitchFamily="34" charset="-120"/>
              </a:rPr>
              <a:t>Rail-served deprived band of the inner-south, including Point England, Glen Innes, Otahuhu, Mangere Central, parts of Onehunga. The data-driven reason H2 does not classify the deprived inner-south as paying without an alternative.</a:t>
            </a:r>
            <a:endParaRPr lang="en-US" sz="1000" dirty="0"/>
          </a:p>
        </p:txBody>
      </p:sp>
      <p:sp>
        <p:nvSpPr>
          <p:cNvPr id="13" name="Shape 10"/>
          <p:cNvSpPr/>
          <p:nvPr/>
        </p:nvSpPr>
        <p:spPr>
          <a:xfrm>
            <a:off x="3908323" y="3337560"/>
            <a:ext cx="7613117" cy="960120"/>
          </a:xfrm>
          <a:prstGeom prst="rect">
            <a:avLst/>
          </a:prstGeom>
          <a:solidFill>
            <a:srgbClr val="FAF8F2"/>
          </a:solidFill>
          <a:ln w="12700">
            <a:solidFill>
              <a:srgbClr val="FAF8F2"/>
            </a:solidFill>
            <a:prstDash val="solid"/>
          </a:ln>
        </p:spPr>
      </p:sp>
      <p:sp>
        <p:nvSpPr>
          <p:cNvPr id="14" name="Shape 11"/>
          <p:cNvSpPr/>
          <p:nvPr/>
        </p:nvSpPr>
        <p:spPr>
          <a:xfrm>
            <a:off x="3908323" y="3337560"/>
            <a:ext cx="91440" cy="960120"/>
          </a:xfrm>
          <a:prstGeom prst="rect">
            <a:avLst/>
          </a:prstGeom>
          <a:solidFill>
            <a:srgbClr val="CC785C"/>
          </a:solidFill>
          <a:ln w="12700">
            <a:solidFill>
              <a:srgbClr val="CC785C"/>
            </a:solidFill>
            <a:prstDash val="solid"/>
          </a:ln>
        </p:spPr>
      </p:sp>
      <p:sp>
        <p:nvSpPr>
          <p:cNvPr id="15" name="Text 12"/>
          <p:cNvSpPr/>
          <p:nvPr/>
        </p:nvSpPr>
        <p:spPr>
          <a:xfrm>
            <a:off x="4136923" y="3392424"/>
            <a:ext cx="914400" cy="365760"/>
          </a:xfrm>
          <a:prstGeom prst="rect">
            <a:avLst/>
          </a:prstGeom>
          <a:noFill/>
          <a:ln/>
        </p:spPr>
        <p:txBody>
          <a:bodyPr wrap="square" lIns="0" tIns="0" rIns="0" bIns="0" rtlCol="0" anchor="ctr"/>
          <a:lstStyle/>
          <a:p>
            <a:pPr indent="0" marL="0">
              <a:buNone/>
            </a:pPr>
            <a:r>
              <a:rPr lang="en-US" sz="1600" b="1" spc="300" kern="0" dirty="0">
                <a:solidFill>
                  <a:srgbClr val="CC785C"/>
                </a:solidFill>
                <a:latin typeface="Georgia" pitchFamily="34" charset="0"/>
                <a:ea typeface="Georgia" pitchFamily="34" charset="-122"/>
                <a:cs typeface="Georgia" pitchFamily="34" charset="-120"/>
              </a:rPr>
              <a:t>HL</a:t>
            </a:r>
            <a:endParaRPr lang="en-US" sz="1600" dirty="0"/>
          </a:p>
        </p:txBody>
      </p:sp>
      <p:sp>
        <p:nvSpPr>
          <p:cNvPr id="16" name="Text 13"/>
          <p:cNvSpPr/>
          <p:nvPr/>
        </p:nvSpPr>
        <p:spPr>
          <a:xfrm>
            <a:off x="10058400" y="3392424"/>
            <a:ext cx="1280160" cy="365760"/>
          </a:xfrm>
          <a:prstGeom prst="rect">
            <a:avLst/>
          </a:prstGeom>
          <a:noFill/>
          <a:ln/>
        </p:spPr>
        <p:txBody>
          <a:bodyPr wrap="square" lIns="0" tIns="0" rIns="0" bIns="0" rtlCol="0" anchor="ctr"/>
          <a:lstStyle/>
          <a:p>
            <a:pPr algn="r" indent="0" marL="0">
              <a:buNone/>
            </a:pPr>
            <a:r>
              <a:rPr lang="en-US" sz="1400" b="1" dirty="0">
                <a:solidFill>
                  <a:srgbClr val="2C1810"/>
                </a:solidFill>
                <a:latin typeface="Georgia" pitchFamily="34" charset="0"/>
                <a:ea typeface="Georgia" pitchFamily="34" charset="-122"/>
                <a:cs typeface="Georgia" pitchFamily="34" charset="-120"/>
              </a:rPr>
              <a:t>26 SA2s</a:t>
            </a:r>
            <a:endParaRPr lang="en-US" sz="1400" dirty="0"/>
          </a:p>
        </p:txBody>
      </p:sp>
      <p:sp>
        <p:nvSpPr>
          <p:cNvPr id="17" name="Text 14"/>
          <p:cNvSpPr/>
          <p:nvPr/>
        </p:nvSpPr>
        <p:spPr>
          <a:xfrm>
            <a:off x="4136923" y="3721608"/>
            <a:ext cx="7247357" cy="274320"/>
          </a:xfrm>
          <a:prstGeom prst="rect">
            <a:avLst/>
          </a:prstGeom>
          <a:noFill/>
          <a:ln/>
        </p:spPr>
        <p:txBody>
          <a:bodyPr wrap="square" lIns="0" tIns="0" rIns="0" bIns="0" rtlCol="0" anchor="ctr"/>
          <a:lstStyle/>
          <a:p>
            <a:pPr indent="0" marL="0">
              <a:buNone/>
            </a:pPr>
            <a:r>
              <a:rPr lang="en-US" sz="1200" b="1" dirty="0">
                <a:solidFill>
                  <a:srgbClr val="2C1810"/>
                </a:solidFill>
                <a:latin typeface="Calibri" pitchFamily="34" charset="0"/>
                <a:ea typeface="Calibri" pitchFamily="34" charset="-122"/>
                <a:cs typeface="Calibri" pitchFamily="34" charset="-120"/>
              </a:rPr>
              <a:t>High access, low deprivation</a:t>
            </a:r>
            <a:endParaRPr lang="en-US" sz="1200" dirty="0"/>
          </a:p>
        </p:txBody>
      </p:sp>
      <p:sp>
        <p:nvSpPr>
          <p:cNvPr id="18" name="Text 15"/>
          <p:cNvSpPr/>
          <p:nvPr/>
        </p:nvSpPr>
        <p:spPr>
          <a:xfrm>
            <a:off x="4136923" y="3977640"/>
            <a:ext cx="7247357" cy="320040"/>
          </a:xfrm>
          <a:prstGeom prst="rect">
            <a:avLst/>
          </a:prstGeom>
          <a:noFill/>
          <a:ln/>
        </p:spPr>
        <p:txBody>
          <a:bodyPr wrap="square" lIns="0" tIns="0" rIns="0" bIns="0" rtlCol="0" anchor="ctr"/>
          <a:lstStyle/>
          <a:p>
            <a:pPr indent="0" marL="0">
              <a:buNone/>
            </a:pPr>
            <a:r>
              <a:rPr lang="en-US" sz="1000" dirty="0">
                <a:solidFill>
                  <a:srgbClr val="2C1810"/>
                </a:solidFill>
                <a:latin typeface="Calibri" pitchFamily="34" charset="0"/>
                <a:ea typeface="Calibri" pitchFamily="34" charset="-122"/>
                <a:cs typeface="Calibri" pitchFamily="34" charset="-120"/>
              </a:rPr>
              <a:t>Inner-isthmus elite belt, Remuera, Mt Eden, Newmarket, the inner CBD ring.</a:t>
            </a:r>
            <a:endParaRPr lang="en-US" sz="1000" dirty="0"/>
          </a:p>
        </p:txBody>
      </p:sp>
      <p:sp>
        <p:nvSpPr>
          <p:cNvPr id="19" name="Shape 16"/>
          <p:cNvSpPr/>
          <p:nvPr/>
        </p:nvSpPr>
        <p:spPr>
          <a:xfrm>
            <a:off x="3908323" y="4389120"/>
            <a:ext cx="7613117" cy="960120"/>
          </a:xfrm>
          <a:prstGeom prst="rect">
            <a:avLst/>
          </a:prstGeom>
          <a:solidFill>
            <a:srgbClr val="FAF8F2"/>
          </a:solidFill>
          <a:ln w="12700">
            <a:solidFill>
              <a:srgbClr val="FAF8F2"/>
            </a:solidFill>
            <a:prstDash val="solid"/>
          </a:ln>
        </p:spPr>
      </p:sp>
      <p:sp>
        <p:nvSpPr>
          <p:cNvPr id="20" name="Shape 17"/>
          <p:cNvSpPr/>
          <p:nvPr/>
        </p:nvSpPr>
        <p:spPr>
          <a:xfrm>
            <a:off x="3908323" y="4389120"/>
            <a:ext cx="91440" cy="960120"/>
          </a:xfrm>
          <a:prstGeom prst="rect">
            <a:avLst/>
          </a:prstGeom>
          <a:solidFill>
            <a:srgbClr val="B85042"/>
          </a:solidFill>
          <a:ln w="12700">
            <a:solidFill>
              <a:srgbClr val="B85042"/>
            </a:solidFill>
            <a:prstDash val="solid"/>
          </a:ln>
        </p:spPr>
      </p:sp>
      <p:sp>
        <p:nvSpPr>
          <p:cNvPr id="21" name="Text 18"/>
          <p:cNvSpPr/>
          <p:nvPr/>
        </p:nvSpPr>
        <p:spPr>
          <a:xfrm>
            <a:off x="4136923" y="4443984"/>
            <a:ext cx="914400" cy="365760"/>
          </a:xfrm>
          <a:prstGeom prst="rect">
            <a:avLst/>
          </a:prstGeom>
          <a:noFill/>
          <a:ln/>
        </p:spPr>
        <p:txBody>
          <a:bodyPr wrap="square" lIns="0" tIns="0" rIns="0" bIns="0" rtlCol="0" anchor="ctr"/>
          <a:lstStyle/>
          <a:p>
            <a:pPr indent="0" marL="0">
              <a:buNone/>
            </a:pPr>
            <a:r>
              <a:rPr lang="en-US" sz="1600" b="1" spc="300" kern="0" dirty="0">
                <a:solidFill>
                  <a:srgbClr val="B85042"/>
                </a:solidFill>
                <a:latin typeface="Georgia" pitchFamily="34" charset="0"/>
                <a:ea typeface="Georgia" pitchFamily="34" charset="-122"/>
                <a:cs typeface="Georgia" pitchFamily="34" charset="-120"/>
              </a:rPr>
              <a:t>LH</a:t>
            </a:r>
            <a:endParaRPr lang="en-US" sz="1600" dirty="0"/>
          </a:p>
        </p:txBody>
      </p:sp>
      <p:sp>
        <p:nvSpPr>
          <p:cNvPr id="22" name="Text 19"/>
          <p:cNvSpPr/>
          <p:nvPr/>
        </p:nvSpPr>
        <p:spPr>
          <a:xfrm>
            <a:off x="10058400" y="4443984"/>
            <a:ext cx="1280160" cy="365760"/>
          </a:xfrm>
          <a:prstGeom prst="rect">
            <a:avLst/>
          </a:prstGeom>
          <a:noFill/>
          <a:ln/>
        </p:spPr>
        <p:txBody>
          <a:bodyPr wrap="square" lIns="0" tIns="0" rIns="0" bIns="0" rtlCol="0" anchor="ctr"/>
          <a:lstStyle/>
          <a:p>
            <a:pPr algn="r" indent="0" marL="0">
              <a:buNone/>
            </a:pPr>
            <a:r>
              <a:rPr lang="en-US" sz="1400" b="1" dirty="0">
                <a:solidFill>
                  <a:srgbClr val="2C1810"/>
                </a:solidFill>
                <a:latin typeface="Georgia" pitchFamily="34" charset="0"/>
                <a:ea typeface="Georgia" pitchFamily="34" charset="-122"/>
                <a:cs typeface="Georgia" pitchFamily="34" charset="-120"/>
              </a:rPr>
              <a:t>76 SA2s</a:t>
            </a:r>
            <a:endParaRPr lang="en-US" sz="1400" dirty="0"/>
          </a:p>
        </p:txBody>
      </p:sp>
      <p:sp>
        <p:nvSpPr>
          <p:cNvPr id="23" name="Text 20"/>
          <p:cNvSpPr/>
          <p:nvPr/>
        </p:nvSpPr>
        <p:spPr>
          <a:xfrm>
            <a:off x="4136923" y="4773168"/>
            <a:ext cx="7247357" cy="274320"/>
          </a:xfrm>
          <a:prstGeom prst="rect">
            <a:avLst/>
          </a:prstGeom>
          <a:noFill/>
          <a:ln/>
        </p:spPr>
        <p:txBody>
          <a:bodyPr wrap="square" lIns="0" tIns="0" rIns="0" bIns="0" rtlCol="0" anchor="ctr"/>
          <a:lstStyle/>
          <a:p>
            <a:pPr indent="0" marL="0">
              <a:buNone/>
            </a:pPr>
            <a:r>
              <a:rPr lang="en-US" sz="1200" b="1" dirty="0">
                <a:solidFill>
                  <a:srgbClr val="2C1810"/>
                </a:solidFill>
                <a:latin typeface="Calibri" pitchFamily="34" charset="0"/>
                <a:ea typeface="Calibri" pitchFamily="34" charset="-122"/>
                <a:cs typeface="Calibri" pitchFamily="34" charset="-120"/>
              </a:rPr>
              <a:t>Low access, high deprivation</a:t>
            </a:r>
            <a:endParaRPr lang="en-US" sz="1200" dirty="0"/>
          </a:p>
        </p:txBody>
      </p:sp>
      <p:sp>
        <p:nvSpPr>
          <p:cNvPr id="24" name="Text 21"/>
          <p:cNvSpPr/>
          <p:nvPr/>
        </p:nvSpPr>
        <p:spPr>
          <a:xfrm>
            <a:off x="4136923" y="5029200"/>
            <a:ext cx="7247357" cy="320040"/>
          </a:xfrm>
          <a:prstGeom prst="rect">
            <a:avLst/>
          </a:prstGeom>
          <a:noFill/>
          <a:ln/>
        </p:spPr>
        <p:txBody>
          <a:bodyPr wrap="square" lIns="0" tIns="0" rIns="0" bIns="0" rtlCol="0" anchor="ctr"/>
          <a:lstStyle/>
          <a:p>
            <a:pPr indent="0" marL="0">
              <a:buNone/>
            </a:pPr>
            <a:r>
              <a:rPr lang="en-US" sz="1000" dirty="0">
                <a:solidFill>
                  <a:srgbClr val="2C1810"/>
                </a:solidFill>
                <a:latin typeface="Calibri" pitchFamily="34" charset="0"/>
                <a:ea typeface="Calibri" pitchFamily="34" charset="-122"/>
                <a:cs typeface="Calibri" pitchFamily="34" charset="-120"/>
              </a:rPr>
              <a:t>The H2 burden cluster proper, outer Manurewa, Papakura, Takanini, outer Henderson, Massey, and Ranui.</a:t>
            </a:r>
            <a:endParaRPr lang="en-US" sz="1000" dirty="0"/>
          </a:p>
        </p:txBody>
      </p:sp>
      <p:sp>
        <p:nvSpPr>
          <p:cNvPr id="25" name="Shape 22"/>
          <p:cNvSpPr/>
          <p:nvPr/>
        </p:nvSpPr>
        <p:spPr>
          <a:xfrm>
            <a:off x="3908323" y="5440680"/>
            <a:ext cx="7613117" cy="960120"/>
          </a:xfrm>
          <a:prstGeom prst="rect">
            <a:avLst/>
          </a:prstGeom>
          <a:solidFill>
            <a:srgbClr val="FAF8F2"/>
          </a:solidFill>
          <a:ln w="12700">
            <a:solidFill>
              <a:srgbClr val="FAF8F2"/>
            </a:solidFill>
            <a:prstDash val="solid"/>
          </a:ln>
        </p:spPr>
      </p:sp>
      <p:sp>
        <p:nvSpPr>
          <p:cNvPr id="26" name="Shape 23"/>
          <p:cNvSpPr/>
          <p:nvPr/>
        </p:nvSpPr>
        <p:spPr>
          <a:xfrm>
            <a:off x="3908323" y="5440680"/>
            <a:ext cx="91440" cy="960120"/>
          </a:xfrm>
          <a:prstGeom prst="rect">
            <a:avLst/>
          </a:prstGeom>
          <a:solidFill>
            <a:srgbClr val="857F72"/>
          </a:solidFill>
          <a:ln w="12700">
            <a:solidFill>
              <a:srgbClr val="857F72"/>
            </a:solidFill>
            <a:prstDash val="solid"/>
          </a:ln>
        </p:spPr>
      </p:sp>
      <p:sp>
        <p:nvSpPr>
          <p:cNvPr id="27" name="Text 24"/>
          <p:cNvSpPr/>
          <p:nvPr/>
        </p:nvSpPr>
        <p:spPr>
          <a:xfrm>
            <a:off x="4136923" y="5495544"/>
            <a:ext cx="914400" cy="365760"/>
          </a:xfrm>
          <a:prstGeom prst="rect">
            <a:avLst/>
          </a:prstGeom>
          <a:noFill/>
          <a:ln/>
        </p:spPr>
        <p:txBody>
          <a:bodyPr wrap="square" lIns="0" tIns="0" rIns="0" bIns="0" rtlCol="0" anchor="ctr"/>
          <a:lstStyle/>
          <a:p>
            <a:pPr indent="0" marL="0">
              <a:buNone/>
            </a:pPr>
            <a:r>
              <a:rPr lang="en-US" sz="1600" b="1" spc="300" kern="0" dirty="0">
                <a:solidFill>
                  <a:srgbClr val="857F72"/>
                </a:solidFill>
                <a:latin typeface="Georgia" pitchFamily="34" charset="0"/>
                <a:ea typeface="Georgia" pitchFamily="34" charset="-122"/>
                <a:cs typeface="Georgia" pitchFamily="34" charset="-120"/>
              </a:rPr>
              <a:t>LL</a:t>
            </a:r>
            <a:endParaRPr lang="en-US" sz="1600" dirty="0"/>
          </a:p>
        </p:txBody>
      </p:sp>
      <p:sp>
        <p:nvSpPr>
          <p:cNvPr id="28" name="Text 25"/>
          <p:cNvSpPr/>
          <p:nvPr/>
        </p:nvSpPr>
        <p:spPr>
          <a:xfrm>
            <a:off x="10058400" y="5495544"/>
            <a:ext cx="1280160" cy="365760"/>
          </a:xfrm>
          <a:prstGeom prst="rect">
            <a:avLst/>
          </a:prstGeom>
          <a:noFill/>
          <a:ln/>
        </p:spPr>
        <p:txBody>
          <a:bodyPr wrap="square" lIns="0" tIns="0" rIns="0" bIns="0" rtlCol="0" anchor="ctr"/>
          <a:lstStyle/>
          <a:p>
            <a:pPr algn="r" indent="0" marL="0">
              <a:buNone/>
            </a:pPr>
            <a:r>
              <a:rPr lang="en-US" sz="1400" b="1" dirty="0">
                <a:solidFill>
                  <a:srgbClr val="2C1810"/>
                </a:solidFill>
                <a:latin typeface="Georgia" pitchFamily="34" charset="0"/>
                <a:ea typeface="Georgia" pitchFamily="34" charset="-122"/>
                <a:cs typeface="Georgia" pitchFamily="34" charset="-120"/>
              </a:rPr>
              <a:t>81 SA2s</a:t>
            </a:r>
            <a:endParaRPr lang="en-US" sz="1400" dirty="0"/>
          </a:p>
        </p:txBody>
      </p:sp>
      <p:sp>
        <p:nvSpPr>
          <p:cNvPr id="29" name="Text 26"/>
          <p:cNvSpPr/>
          <p:nvPr/>
        </p:nvSpPr>
        <p:spPr>
          <a:xfrm>
            <a:off x="4136923" y="5824728"/>
            <a:ext cx="7247357" cy="274320"/>
          </a:xfrm>
          <a:prstGeom prst="rect">
            <a:avLst/>
          </a:prstGeom>
          <a:noFill/>
          <a:ln/>
        </p:spPr>
        <p:txBody>
          <a:bodyPr wrap="square" lIns="0" tIns="0" rIns="0" bIns="0" rtlCol="0" anchor="ctr"/>
          <a:lstStyle/>
          <a:p>
            <a:pPr indent="0" marL="0">
              <a:buNone/>
            </a:pPr>
            <a:r>
              <a:rPr lang="en-US" sz="1200" b="1" dirty="0">
                <a:solidFill>
                  <a:srgbClr val="2C1810"/>
                </a:solidFill>
                <a:latin typeface="Calibri" pitchFamily="34" charset="0"/>
                <a:ea typeface="Calibri" pitchFamily="34" charset="-122"/>
                <a:cs typeface="Calibri" pitchFamily="34" charset="-120"/>
              </a:rPr>
              <a:t>Low access, low deprivation</a:t>
            </a:r>
            <a:endParaRPr lang="en-US" sz="1200" dirty="0"/>
          </a:p>
        </p:txBody>
      </p:sp>
      <p:sp>
        <p:nvSpPr>
          <p:cNvPr id="30" name="Text 27"/>
          <p:cNvSpPr/>
          <p:nvPr/>
        </p:nvSpPr>
        <p:spPr>
          <a:xfrm>
            <a:off x="4136923" y="6080760"/>
            <a:ext cx="7247357" cy="320040"/>
          </a:xfrm>
          <a:prstGeom prst="rect">
            <a:avLst/>
          </a:prstGeom>
          <a:noFill/>
          <a:ln/>
        </p:spPr>
        <p:txBody>
          <a:bodyPr wrap="square" lIns="0" tIns="0" rIns="0" bIns="0" rtlCol="0" anchor="ctr"/>
          <a:lstStyle/>
          <a:p>
            <a:pPr indent="0" marL="0">
              <a:buNone/>
            </a:pPr>
            <a:r>
              <a:rPr lang="en-US" sz="1000" dirty="0">
                <a:solidFill>
                  <a:srgbClr val="2C1810"/>
                </a:solidFill>
                <a:latin typeface="Calibri" pitchFamily="34" charset="0"/>
                <a:ea typeface="Calibri" pitchFamily="34" charset="-122"/>
                <a:cs typeface="Calibri" pitchFamily="34" charset="-120"/>
              </a:rPr>
              <a:t>Affluent rural and coastal fringe, Coatesville, Riverhead, Whangaparaoa, Kumeu, Maraetai, which produces the decile 1 tail of the inverted-U.</a:t>
            </a:r>
            <a:endParaRPr lang="en-US" sz="1000" dirty="0"/>
          </a:p>
        </p:txBody>
      </p:sp>
      <p:sp>
        <p:nvSpPr>
          <p:cNvPr id="31" name="Text 28"/>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32" name="Text 29"/>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914400"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91440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POLICY</a:t>
            </a:r>
            <a:endParaRPr lang="en-US" sz="1000" dirty="0"/>
          </a:p>
        </p:txBody>
      </p:sp>
      <p:sp>
        <p:nvSpPr>
          <p:cNvPr id="4" name="Text 2"/>
          <p:cNvSpPr/>
          <p:nvPr/>
        </p:nvSpPr>
        <p:spPr>
          <a:xfrm>
            <a:off x="640080" y="1371600"/>
            <a:ext cx="10972800" cy="640080"/>
          </a:xfrm>
          <a:prstGeom prst="rect">
            <a:avLst/>
          </a:prstGeom>
          <a:noFill/>
          <a:ln/>
        </p:spPr>
        <p:txBody>
          <a:bodyPr wrap="square" lIns="0" tIns="0" rIns="0" bIns="0" rtlCol="0" anchor="ctr"/>
          <a:lstStyle/>
          <a:p>
            <a:pPr indent="0" marL="0">
              <a:buNone/>
            </a:pPr>
            <a:r>
              <a:rPr lang="en-US" sz="2800" dirty="0">
                <a:solidFill>
                  <a:srgbClr val="2C1810"/>
                </a:solidFill>
                <a:latin typeface="Georgia" pitchFamily="34" charset="0"/>
                <a:ea typeface="Georgia" pitchFamily="34" charset="-122"/>
                <a:cs typeface="Georgia" pitchFamily="34" charset="-120"/>
              </a:rPr>
              <a:t>No charge without an alternative.</a:t>
            </a:r>
            <a:endParaRPr lang="en-US" sz="2800" dirty="0"/>
          </a:p>
        </p:txBody>
      </p:sp>
      <p:sp>
        <p:nvSpPr>
          <p:cNvPr id="5" name="Text 3"/>
          <p:cNvSpPr/>
          <p:nvPr/>
        </p:nvSpPr>
        <p:spPr>
          <a:xfrm>
            <a:off x="640080" y="2103120"/>
            <a:ext cx="10972800" cy="548640"/>
          </a:xfrm>
          <a:prstGeom prst="rect">
            <a:avLst/>
          </a:prstGeom>
          <a:noFill/>
          <a:ln/>
        </p:spPr>
        <p:txBody>
          <a:bodyPr wrap="square" lIns="0" tIns="0" rIns="0" bIns="0" rtlCol="0" anchor="ctr"/>
          <a:lstStyle/>
          <a:p>
            <a:pPr indent="0" marL="0">
              <a:buNone/>
            </a:pPr>
            <a:r>
              <a:rPr lang="en-US" sz="1300" i="1" dirty="0">
                <a:solidFill>
                  <a:srgbClr val="857F72"/>
                </a:solidFill>
                <a:latin typeface="Calibri" pitchFamily="34" charset="0"/>
                <a:ea typeface="Calibri" pitchFamily="34" charset="-122"/>
                <a:cs typeface="Calibri" pitchFamily="34" charset="-120"/>
              </a:rPr>
              <a:t>We take no position on whether Auckland should introduce ToU charging. Given the policy decision has been made under the Land Transport (Time of Use Charging) Amendment Act 2025, three implications follow from the data.</a:t>
            </a:r>
            <a:endParaRPr lang="en-US" sz="1300" dirty="0"/>
          </a:p>
        </p:txBody>
      </p:sp>
      <p:sp>
        <p:nvSpPr>
          <p:cNvPr id="6" name="Shape 4"/>
          <p:cNvSpPr/>
          <p:nvPr/>
        </p:nvSpPr>
        <p:spPr>
          <a:xfrm>
            <a:off x="640080" y="2743200"/>
            <a:ext cx="10881360" cy="1051560"/>
          </a:xfrm>
          <a:prstGeom prst="rect">
            <a:avLst/>
          </a:prstGeom>
          <a:solidFill>
            <a:srgbClr val="FAF8F2"/>
          </a:solidFill>
          <a:ln w="12700">
            <a:solidFill>
              <a:srgbClr val="FAF8F2"/>
            </a:solidFill>
            <a:prstDash val="solid"/>
          </a:ln>
        </p:spPr>
      </p:sp>
      <p:sp>
        <p:nvSpPr>
          <p:cNvPr id="7" name="Shape 5"/>
          <p:cNvSpPr/>
          <p:nvPr/>
        </p:nvSpPr>
        <p:spPr>
          <a:xfrm>
            <a:off x="868680" y="2926080"/>
            <a:ext cx="685800" cy="685800"/>
          </a:xfrm>
          <a:prstGeom prst="ellipse">
            <a:avLst/>
          </a:prstGeom>
          <a:solidFill>
            <a:srgbClr val="A7BEAE"/>
          </a:solidFill>
          <a:ln w="12700">
            <a:solidFill>
              <a:srgbClr val="A7BEAE"/>
            </a:solidFill>
            <a:prstDash val="solid"/>
          </a:ln>
        </p:spPr>
      </p:sp>
      <p:sp>
        <p:nvSpPr>
          <p:cNvPr id="8" name="Text 6"/>
          <p:cNvSpPr/>
          <p:nvPr/>
        </p:nvSpPr>
        <p:spPr>
          <a:xfrm>
            <a:off x="868680" y="29260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9" name="Text 7"/>
          <p:cNvSpPr/>
          <p:nvPr/>
        </p:nvSpPr>
        <p:spPr>
          <a:xfrm>
            <a:off x="1828800" y="2852928"/>
            <a:ext cx="9144000" cy="457200"/>
          </a:xfrm>
          <a:prstGeom prst="rect">
            <a:avLst/>
          </a:prstGeom>
          <a:noFill/>
          <a:ln/>
        </p:spPr>
        <p:txBody>
          <a:bodyPr wrap="square" lIns="0" tIns="0" rIns="0" bIns="0" rtlCol="0" anchor="ctr"/>
          <a:lstStyle/>
          <a:p>
            <a:pPr indent="0" marL="0">
              <a:buNone/>
            </a:pPr>
            <a:r>
              <a:rPr lang="en-US" sz="1800" b="1" dirty="0">
                <a:solidFill>
                  <a:srgbClr val="2C1810"/>
                </a:solidFill>
                <a:latin typeface="Georgia" pitchFamily="34" charset="0"/>
                <a:ea typeface="Georgia" pitchFamily="34" charset="-122"/>
                <a:cs typeface="Georgia" pitchFamily="34" charset="-120"/>
              </a:rPr>
              <a:t>Inner cordon options 1a and 1c can proceed</a:t>
            </a:r>
            <a:endParaRPr lang="en-US" sz="1800" dirty="0"/>
          </a:p>
        </p:txBody>
      </p:sp>
      <p:sp>
        <p:nvSpPr>
          <p:cNvPr id="10" name="Text 8"/>
          <p:cNvSpPr/>
          <p:nvPr/>
        </p:nvSpPr>
        <p:spPr>
          <a:xfrm>
            <a:off x="1828800" y="3246120"/>
            <a:ext cx="9509760" cy="502920"/>
          </a:xfrm>
          <a:prstGeom prst="rect">
            <a:avLst/>
          </a:prstGeom>
          <a:noFill/>
          <a:ln/>
        </p:spPr>
        <p:txBody>
          <a:bodyPr wrap="square" lIns="0" tIns="0" rIns="0" bIns="0" rtlCol="0" anchor="ctr"/>
          <a:lstStyle/>
          <a:p>
            <a:pPr indent="0" marL="0">
              <a:buNone/>
            </a:pPr>
            <a:r>
              <a:rPr lang="en-US" sz="1200" dirty="0">
                <a:solidFill>
                  <a:srgbClr val="2C1810"/>
                </a:solidFill>
                <a:latin typeface="Calibri" pitchFamily="34" charset="0"/>
                <a:ea typeface="Calibri" pitchFamily="34" charset="-122"/>
                <a:cs typeface="Calibri" pitchFamily="34" charset="-120"/>
              </a:rPr>
              <a:t>The population paying the charge under those scenarios has a clearly above-average public transport alternative. No distributional preconditions.</a:t>
            </a:r>
            <a:endParaRPr lang="en-US" sz="1200" dirty="0"/>
          </a:p>
        </p:txBody>
      </p:sp>
      <p:sp>
        <p:nvSpPr>
          <p:cNvPr id="11" name="Shape 9"/>
          <p:cNvSpPr/>
          <p:nvPr/>
        </p:nvSpPr>
        <p:spPr>
          <a:xfrm>
            <a:off x="640080" y="3931920"/>
            <a:ext cx="10881360" cy="1051560"/>
          </a:xfrm>
          <a:prstGeom prst="rect">
            <a:avLst/>
          </a:prstGeom>
          <a:solidFill>
            <a:srgbClr val="FAF8F2"/>
          </a:solidFill>
          <a:ln w="12700">
            <a:solidFill>
              <a:srgbClr val="FAF8F2"/>
            </a:solidFill>
            <a:prstDash val="solid"/>
          </a:ln>
        </p:spPr>
      </p:sp>
      <p:sp>
        <p:nvSpPr>
          <p:cNvPr id="12" name="Shape 10"/>
          <p:cNvSpPr/>
          <p:nvPr/>
        </p:nvSpPr>
        <p:spPr>
          <a:xfrm>
            <a:off x="868680" y="4114800"/>
            <a:ext cx="685800" cy="685800"/>
          </a:xfrm>
          <a:prstGeom prst="ellipse">
            <a:avLst/>
          </a:prstGeom>
          <a:solidFill>
            <a:srgbClr val="B85042"/>
          </a:solidFill>
          <a:ln w="12700">
            <a:solidFill>
              <a:srgbClr val="B85042"/>
            </a:solidFill>
            <a:prstDash val="solid"/>
          </a:ln>
        </p:spPr>
      </p:sp>
      <p:sp>
        <p:nvSpPr>
          <p:cNvPr id="13" name="Text 11"/>
          <p:cNvSpPr/>
          <p:nvPr/>
        </p:nvSpPr>
        <p:spPr>
          <a:xfrm>
            <a:off x="868680" y="4114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4" name="Text 12"/>
          <p:cNvSpPr/>
          <p:nvPr/>
        </p:nvSpPr>
        <p:spPr>
          <a:xfrm>
            <a:off x="1828800" y="4041648"/>
            <a:ext cx="9144000" cy="457200"/>
          </a:xfrm>
          <a:prstGeom prst="rect">
            <a:avLst/>
          </a:prstGeom>
          <a:noFill/>
          <a:ln/>
        </p:spPr>
        <p:txBody>
          <a:bodyPr wrap="square" lIns="0" tIns="0" rIns="0" bIns="0" rtlCol="0" anchor="ctr"/>
          <a:lstStyle/>
          <a:p>
            <a:pPr indent="0" marL="0">
              <a:buNone/>
            </a:pPr>
            <a:r>
              <a:rPr lang="en-US" sz="1800" b="1" dirty="0">
                <a:solidFill>
                  <a:srgbClr val="2C1810"/>
                </a:solidFill>
                <a:latin typeface="Georgia" pitchFamily="34" charset="0"/>
                <a:ea typeface="Georgia" pitchFamily="34" charset="-122"/>
                <a:cs typeface="Georgia" pitchFamily="34" charset="-120"/>
              </a:rPr>
              <a:t>Motorway options 3b and 3c require a preceding PT step</a:t>
            </a:r>
            <a:endParaRPr lang="en-US" sz="1800" dirty="0"/>
          </a:p>
        </p:txBody>
      </p:sp>
      <p:sp>
        <p:nvSpPr>
          <p:cNvPr id="15" name="Text 13"/>
          <p:cNvSpPr/>
          <p:nvPr/>
        </p:nvSpPr>
        <p:spPr>
          <a:xfrm>
            <a:off x="1828800" y="4434840"/>
            <a:ext cx="9509760" cy="502920"/>
          </a:xfrm>
          <a:prstGeom prst="rect">
            <a:avLst/>
          </a:prstGeom>
          <a:noFill/>
          <a:ln/>
        </p:spPr>
        <p:txBody>
          <a:bodyPr wrap="square" lIns="0" tIns="0" rIns="0" bIns="0" rtlCol="0" anchor="ctr"/>
          <a:lstStyle/>
          <a:p>
            <a:pPr indent="0" marL="0">
              <a:buNone/>
            </a:pPr>
            <a:r>
              <a:rPr lang="en-US" sz="1200" dirty="0">
                <a:solidFill>
                  <a:srgbClr val="2C1810"/>
                </a:solidFill>
                <a:latin typeface="Calibri" pitchFamily="34" charset="0"/>
                <a:ea typeface="Calibri" pitchFamily="34" charset="-122"/>
                <a:cs typeface="Calibri" pitchFamily="34" charset="-120"/>
              </a:rPr>
              <a:t>Credible public transport investment in the affected outer SA2s is needed before the charge takes effect. Otherwise the scheme would charge 340,908 residents for a journey it has not yet given them a way to make.</a:t>
            </a:r>
            <a:endParaRPr lang="en-US" sz="1200" dirty="0"/>
          </a:p>
        </p:txBody>
      </p:sp>
      <p:sp>
        <p:nvSpPr>
          <p:cNvPr id="16" name="Shape 14"/>
          <p:cNvSpPr/>
          <p:nvPr/>
        </p:nvSpPr>
        <p:spPr>
          <a:xfrm>
            <a:off x="640080" y="5120640"/>
            <a:ext cx="10881360" cy="1051560"/>
          </a:xfrm>
          <a:prstGeom prst="rect">
            <a:avLst/>
          </a:prstGeom>
          <a:solidFill>
            <a:srgbClr val="FAF8F2"/>
          </a:solidFill>
          <a:ln w="12700">
            <a:solidFill>
              <a:srgbClr val="FAF8F2"/>
            </a:solidFill>
            <a:prstDash val="solid"/>
          </a:ln>
        </p:spPr>
      </p:sp>
      <p:sp>
        <p:nvSpPr>
          <p:cNvPr id="17" name="Shape 15"/>
          <p:cNvSpPr/>
          <p:nvPr/>
        </p:nvSpPr>
        <p:spPr>
          <a:xfrm>
            <a:off x="868680" y="5303520"/>
            <a:ext cx="685800" cy="685800"/>
          </a:xfrm>
          <a:prstGeom prst="ellipse">
            <a:avLst/>
          </a:prstGeom>
          <a:solidFill>
            <a:srgbClr val="CC785C"/>
          </a:solidFill>
          <a:ln w="12700">
            <a:solidFill>
              <a:srgbClr val="CC785C"/>
            </a:solidFill>
            <a:prstDash val="solid"/>
          </a:ln>
        </p:spPr>
      </p:sp>
      <p:sp>
        <p:nvSpPr>
          <p:cNvPr id="18" name="Text 16"/>
          <p:cNvSpPr/>
          <p:nvPr/>
        </p:nvSpPr>
        <p:spPr>
          <a:xfrm>
            <a:off x="868680" y="53035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19" name="Text 17"/>
          <p:cNvSpPr/>
          <p:nvPr/>
        </p:nvSpPr>
        <p:spPr>
          <a:xfrm>
            <a:off x="1828800" y="5230368"/>
            <a:ext cx="9144000" cy="457200"/>
          </a:xfrm>
          <a:prstGeom prst="rect">
            <a:avLst/>
          </a:prstGeom>
          <a:noFill/>
          <a:ln/>
        </p:spPr>
        <p:txBody>
          <a:bodyPr wrap="square" lIns="0" tIns="0" rIns="0" bIns="0" rtlCol="0" anchor="ctr"/>
          <a:lstStyle/>
          <a:p>
            <a:pPr indent="0" marL="0">
              <a:buNone/>
            </a:pPr>
            <a:r>
              <a:rPr lang="en-US" sz="1800" b="1" dirty="0">
                <a:solidFill>
                  <a:srgbClr val="2C1810"/>
                </a:solidFill>
                <a:latin typeface="Georgia" pitchFamily="34" charset="0"/>
                <a:ea typeface="Georgia" pitchFamily="34" charset="-122"/>
                <a:cs typeface="Georgia" pitchFamily="34" charset="-120"/>
              </a:rPr>
              <a:t>Expanded isthmus 2c is a different question</a:t>
            </a:r>
            <a:endParaRPr lang="en-US" sz="1800" dirty="0"/>
          </a:p>
        </p:txBody>
      </p:sp>
      <p:sp>
        <p:nvSpPr>
          <p:cNvPr id="20" name="Text 18"/>
          <p:cNvSpPr/>
          <p:nvPr/>
        </p:nvSpPr>
        <p:spPr>
          <a:xfrm>
            <a:off x="1828800" y="5623560"/>
            <a:ext cx="9509760" cy="502920"/>
          </a:xfrm>
          <a:prstGeom prst="rect">
            <a:avLst/>
          </a:prstGeom>
          <a:noFill/>
          <a:ln/>
        </p:spPr>
        <p:txBody>
          <a:bodyPr wrap="square" lIns="0" tIns="0" rIns="0" bIns="0" rtlCol="0" anchor="ctr"/>
          <a:lstStyle/>
          <a:p>
            <a:pPr indent="0" marL="0">
              <a:buNone/>
            </a:pPr>
            <a:r>
              <a:rPr lang="en-US" sz="1200" dirty="0">
                <a:solidFill>
                  <a:srgbClr val="2C1810"/>
                </a:solidFill>
                <a:latin typeface="Calibri" pitchFamily="34" charset="0"/>
                <a:ea typeface="Calibri" pitchFamily="34" charset="-122"/>
                <a:cs typeface="Calibri" pitchFamily="34" charset="-120"/>
              </a:rPr>
              <a:t>Non-trivial cost on a sizeable share of Auckland without a clear distributional sign. The policy frame for that scenario is total cost-benefit, not equity.</a:t>
            </a:r>
            <a:endParaRPr lang="en-US" sz="1200" dirty="0"/>
          </a:p>
        </p:txBody>
      </p:sp>
      <p:sp>
        <p:nvSpPr>
          <p:cNvPr id="21" name="Text 19"/>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22" name="Text 20"/>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1410"/>
        </a:solidFill>
      </p:bgPr>
    </p:bg>
    <p:spTree>
      <p:nvGrpSpPr>
        <p:cNvPr id="1" name=""/>
        <p:cNvGrpSpPr/>
        <p:nvPr/>
      </p:nvGrpSpPr>
      <p:grpSpPr>
        <a:xfrm>
          <a:off x="0" y="0"/>
          <a:ext cx="0" cy="0"/>
          <a:chOff x="0" y="0"/>
          <a:chExt cx="0" cy="0"/>
        </a:xfrm>
      </p:grpSpPr>
      <p:sp>
        <p:nvSpPr>
          <p:cNvPr id="2" name="Shape 0"/>
          <p:cNvSpPr/>
          <p:nvPr/>
        </p:nvSpPr>
        <p:spPr>
          <a:xfrm>
            <a:off x="10058400" y="731520"/>
            <a:ext cx="457200" cy="457200"/>
          </a:xfrm>
          <a:prstGeom prst="ellipse">
            <a:avLst/>
          </a:prstGeom>
          <a:solidFill>
            <a:srgbClr val="CC785C"/>
          </a:solidFill>
          <a:ln w="12700">
            <a:solidFill>
              <a:srgbClr val="CC785C"/>
            </a:solidFill>
            <a:prstDash val="solid"/>
          </a:ln>
        </p:spPr>
      </p:sp>
      <p:sp>
        <p:nvSpPr>
          <p:cNvPr id="3" name="Shape 1"/>
          <p:cNvSpPr/>
          <p:nvPr/>
        </p:nvSpPr>
        <p:spPr>
          <a:xfrm>
            <a:off x="10789920" y="1371600"/>
            <a:ext cx="320040" cy="320040"/>
          </a:xfrm>
          <a:prstGeom prst="ellipse">
            <a:avLst/>
          </a:prstGeom>
          <a:solidFill>
            <a:srgbClr val="B85042"/>
          </a:solidFill>
          <a:ln w="12700">
            <a:solidFill>
              <a:srgbClr val="B85042"/>
            </a:solidFill>
            <a:prstDash val="solid"/>
          </a:ln>
        </p:spPr>
      </p:sp>
      <p:sp>
        <p:nvSpPr>
          <p:cNvPr id="4" name="Shape 2"/>
          <p:cNvSpPr/>
          <p:nvPr/>
        </p:nvSpPr>
        <p:spPr>
          <a:xfrm>
            <a:off x="11247120" y="1874520"/>
            <a:ext cx="201168" cy="201168"/>
          </a:xfrm>
          <a:prstGeom prst="ellipse">
            <a:avLst/>
          </a:prstGeom>
          <a:solidFill>
            <a:srgbClr val="A7BEAE"/>
          </a:solidFill>
          <a:ln w="12700">
            <a:solidFill>
              <a:srgbClr val="A7BEAE"/>
            </a:solidFill>
            <a:prstDash val="solid"/>
          </a:ln>
        </p:spPr>
      </p:sp>
      <p:sp>
        <p:nvSpPr>
          <p:cNvPr id="5" name="Text 3"/>
          <p:cNvSpPr/>
          <p:nvPr/>
        </p:nvSpPr>
        <p:spPr>
          <a:xfrm>
            <a:off x="640080" y="640080"/>
            <a:ext cx="7315200" cy="365760"/>
          </a:xfrm>
          <a:prstGeom prst="rect">
            <a:avLst/>
          </a:prstGeom>
          <a:noFill/>
          <a:ln/>
        </p:spPr>
        <p:txBody>
          <a:bodyPr wrap="square" lIns="0" tIns="0" rIns="0" bIns="0" rtlCol="0" anchor="ctr"/>
          <a:lstStyle/>
          <a:p>
            <a:pPr indent="0" marL="0">
              <a:buNone/>
            </a:pPr>
            <a:r>
              <a:rPr lang="en-US" sz="1100" b="1" spc="400" kern="0" dirty="0">
                <a:solidFill>
                  <a:srgbClr val="CC785C"/>
                </a:solidFill>
                <a:latin typeface="Calibri" pitchFamily="34" charset="0"/>
                <a:ea typeface="Calibri" pitchFamily="34" charset="-122"/>
                <a:cs typeface="Calibri" pitchFamily="34" charset="-120"/>
              </a:rPr>
              <a:t>WHAT NEXT</a:t>
            </a:r>
            <a:endParaRPr lang="en-US" sz="1100" dirty="0"/>
          </a:p>
        </p:txBody>
      </p:sp>
      <p:sp>
        <p:nvSpPr>
          <p:cNvPr id="6" name="Text 4"/>
          <p:cNvSpPr/>
          <p:nvPr/>
        </p:nvSpPr>
        <p:spPr>
          <a:xfrm>
            <a:off x="640080" y="1097280"/>
            <a:ext cx="10972800" cy="731520"/>
          </a:xfrm>
          <a:prstGeom prst="rect">
            <a:avLst/>
          </a:prstGeom>
          <a:noFill/>
          <a:ln/>
        </p:spPr>
        <p:txBody>
          <a:bodyPr wrap="square" lIns="0" tIns="0" rIns="0" bIns="0" rtlCol="0" anchor="ctr"/>
          <a:lstStyle/>
          <a:p>
            <a:pPr indent="0" marL="0">
              <a:buNone/>
            </a:pPr>
            <a:r>
              <a:rPr lang="en-US" sz="3000" dirty="0">
                <a:solidFill>
                  <a:srgbClr val="F0EEE5"/>
                </a:solidFill>
                <a:latin typeface="Georgia" pitchFamily="34" charset="0"/>
                <a:ea typeface="Georgia" pitchFamily="34" charset="-122"/>
                <a:cs typeface="Georgia" pitchFamily="34" charset="-120"/>
              </a:rPr>
              <a:t>Three extensions, in priority order.</a:t>
            </a:r>
            <a:endParaRPr lang="en-US" sz="3000" dirty="0"/>
          </a:p>
        </p:txBody>
      </p:sp>
      <p:sp>
        <p:nvSpPr>
          <p:cNvPr id="7" name="Text 5"/>
          <p:cNvSpPr/>
          <p:nvPr/>
        </p:nvSpPr>
        <p:spPr>
          <a:xfrm>
            <a:off x="640080" y="2103120"/>
            <a:ext cx="731520" cy="548640"/>
          </a:xfrm>
          <a:prstGeom prst="rect">
            <a:avLst/>
          </a:prstGeom>
          <a:noFill/>
          <a:ln/>
        </p:spPr>
        <p:txBody>
          <a:bodyPr wrap="square" lIns="0" tIns="0" rIns="0" bIns="0" rtlCol="0" anchor="ctr"/>
          <a:lstStyle/>
          <a:p>
            <a:pPr indent="0" marL="0">
              <a:buNone/>
            </a:pPr>
            <a:r>
              <a:rPr lang="en-US" sz="2800" b="1" dirty="0">
                <a:solidFill>
                  <a:srgbClr val="CC785C"/>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1554480" y="2103120"/>
            <a:ext cx="10058400" cy="365760"/>
          </a:xfrm>
          <a:prstGeom prst="rect">
            <a:avLst/>
          </a:prstGeom>
          <a:noFill/>
          <a:ln/>
        </p:spPr>
        <p:txBody>
          <a:bodyPr wrap="square" lIns="0" tIns="0" rIns="0" bIns="0" rtlCol="0" anchor="ctr"/>
          <a:lstStyle/>
          <a:p>
            <a:pPr indent="0" marL="0">
              <a:buNone/>
            </a:pPr>
            <a:r>
              <a:rPr lang="en-US" sz="1600" b="1" dirty="0">
                <a:solidFill>
                  <a:srgbClr val="F0EEE5"/>
                </a:solidFill>
                <a:latin typeface="Georgia" pitchFamily="34" charset="0"/>
                <a:ea typeface="Georgia" pitchFamily="34" charset="-122"/>
                <a:cs typeface="Georgia" pitchFamily="34" charset="-120"/>
              </a:rPr>
              <a:t>Per-corridor PT audit</a:t>
            </a:r>
            <a:endParaRPr lang="en-US" sz="1600" dirty="0"/>
          </a:p>
        </p:txBody>
      </p:sp>
      <p:sp>
        <p:nvSpPr>
          <p:cNvPr id="9" name="Text 7"/>
          <p:cNvSpPr/>
          <p:nvPr/>
        </p:nvSpPr>
        <p:spPr>
          <a:xfrm>
            <a:off x="1554480" y="2468880"/>
            <a:ext cx="10058400" cy="45720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Map each of the 120 no-alt SA2s to the specific bus, rail, or active travel intervention that would lift it above Q75 before the charge.</a:t>
            </a:r>
            <a:endParaRPr lang="en-US" sz="1200" dirty="0"/>
          </a:p>
        </p:txBody>
      </p:sp>
      <p:sp>
        <p:nvSpPr>
          <p:cNvPr id="10" name="Text 8"/>
          <p:cNvSpPr/>
          <p:nvPr/>
        </p:nvSpPr>
        <p:spPr>
          <a:xfrm>
            <a:off x="640080" y="3017520"/>
            <a:ext cx="731520" cy="548640"/>
          </a:xfrm>
          <a:prstGeom prst="rect">
            <a:avLst/>
          </a:prstGeom>
          <a:noFill/>
          <a:ln/>
        </p:spPr>
        <p:txBody>
          <a:bodyPr wrap="square" lIns="0" tIns="0" rIns="0" bIns="0" rtlCol="0" anchor="ctr"/>
          <a:lstStyle/>
          <a:p>
            <a:pPr indent="0" marL="0">
              <a:buNone/>
            </a:pPr>
            <a:r>
              <a:rPr lang="en-US" sz="2800" b="1" dirty="0">
                <a:solidFill>
                  <a:srgbClr val="CC785C"/>
                </a:solidFill>
                <a:latin typeface="Georgia" pitchFamily="34" charset="0"/>
                <a:ea typeface="Georgia" pitchFamily="34" charset="-122"/>
                <a:cs typeface="Georgia" pitchFamily="34" charset="-120"/>
              </a:rPr>
              <a:t>02</a:t>
            </a:r>
            <a:endParaRPr lang="en-US" sz="2800" dirty="0"/>
          </a:p>
        </p:txBody>
      </p:sp>
      <p:sp>
        <p:nvSpPr>
          <p:cNvPr id="11" name="Text 9"/>
          <p:cNvSpPr/>
          <p:nvPr/>
        </p:nvSpPr>
        <p:spPr>
          <a:xfrm>
            <a:off x="1554480" y="3017520"/>
            <a:ext cx="10058400" cy="365760"/>
          </a:xfrm>
          <a:prstGeom prst="rect">
            <a:avLst/>
          </a:prstGeom>
          <a:noFill/>
          <a:ln/>
        </p:spPr>
        <p:txBody>
          <a:bodyPr wrap="square" lIns="0" tIns="0" rIns="0" bIns="0" rtlCol="0" anchor="ctr"/>
          <a:lstStyle/>
          <a:p>
            <a:pPr indent="0" marL="0">
              <a:buNone/>
            </a:pPr>
            <a:r>
              <a:rPr lang="en-US" sz="1600" b="1" dirty="0">
                <a:solidFill>
                  <a:srgbClr val="F0EEE5"/>
                </a:solidFill>
                <a:latin typeface="Georgia" pitchFamily="34" charset="0"/>
                <a:ea typeface="Georgia" pitchFamily="34" charset="-122"/>
                <a:cs typeface="Georgia" pitchFamily="34" charset="-120"/>
              </a:rPr>
              <a:t>SA1-resolution accessibility</a:t>
            </a:r>
            <a:endParaRPr lang="en-US" sz="1600" dirty="0"/>
          </a:p>
        </p:txBody>
      </p:sp>
      <p:sp>
        <p:nvSpPr>
          <p:cNvPr id="12" name="Text 10"/>
          <p:cNvSpPr/>
          <p:nvPr/>
        </p:nvSpPr>
        <p:spPr>
          <a:xfrm>
            <a:off x="1554480" y="3383280"/>
            <a:ext cx="10058400" cy="45720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Routing from 10,207 SA1 centroids directly, rather than inheriting SA2 access. Reveals within-SA2 heterogeneity.</a:t>
            </a:r>
            <a:endParaRPr lang="en-US" sz="1200" dirty="0"/>
          </a:p>
        </p:txBody>
      </p:sp>
      <p:sp>
        <p:nvSpPr>
          <p:cNvPr id="13" name="Text 11"/>
          <p:cNvSpPr/>
          <p:nvPr/>
        </p:nvSpPr>
        <p:spPr>
          <a:xfrm>
            <a:off x="640080" y="3931920"/>
            <a:ext cx="731520" cy="548640"/>
          </a:xfrm>
          <a:prstGeom prst="rect">
            <a:avLst/>
          </a:prstGeom>
          <a:noFill/>
          <a:ln/>
        </p:spPr>
        <p:txBody>
          <a:bodyPr wrap="square" lIns="0" tIns="0" rIns="0" bIns="0" rtlCol="0" anchor="ctr"/>
          <a:lstStyle/>
          <a:p>
            <a:pPr indent="0" marL="0">
              <a:buNone/>
            </a:pPr>
            <a:r>
              <a:rPr lang="en-US" sz="2800" b="1" dirty="0">
                <a:solidFill>
                  <a:srgbClr val="CC785C"/>
                </a:solidFill>
                <a:latin typeface="Georgia" pitchFamily="34" charset="0"/>
                <a:ea typeface="Georgia" pitchFamily="34" charset="-122"/>
                <a:cs typeface="Georgia" pitchFamily="34" charset="-120"/>
              </a:rPr>
              <a:t>03</a:t>
            </a:r>
            <a:endParaRPr lang="en-US" sz="2800" dirty="0"/>
          </a:p>
        </p:txBody>
      </p:sp>
      <p:sp>
        <p:nvSpPr>
          <p:cNvPr id="14" name="Text 12"/>
          <p:cNvSpPr/>
          <p:nvPr/>
        </p:nvSpPr>
        <p:spPr>
          <a:xfrm>
            <a:off x="1554480" y="3931920"/>
            <a:ext cx="10058400" cy="365760"/>
          </a:xfrm>
          <a:prstGeom prst="rect">
            <a:avLst/>
          </a:prstGeom>
          <a:noFill/>
          <a:ln/>
        </p:spPr>
        <p:txBody>
          <a:bodyPr wrap="square" lIns="0" tIns="0" rIns="0" bIns="0" rtlCol="0" anchor="ctr"/>
          <a:lstStyle/>
          <a:p>
            <a:pPr indent="0" marL="0">
              <a:buNone/>
            </a:pPr>
            <a:r>
              <a:rPr lang="en-US" sz="1600" b="1" dirty="0">
                <a:solidFill>
                  <a:srgbClr val="F0EEE5"/>
                </a:solidFill>
                <a:latin typeface="Georgia" pitchFamily="34" charset="0"/>
                <a:ea typeface="Georgia" pitchFamily="34" charset="-122"/>
                <a:cs typeface="Georgia" pitchFamily="34" charset="-120"/>
              </a:rPr>
              <a:t>HOP patronage validation</a:t>
            </a:r>
            <a:endParaRPr lang="en-US" sz="1600" dirty="0"/>
          </a:p>
        </p:txBody>
      </p:sp>
      <p:sp>
        <p:nvSpPr>
          <p:cNvPr id="15" name="Text 13"/>
          <p:cNvSpPr/>
          <p:nvPr/>
        </p:nvSpPr>
        <p:spPr>
          <a:xfrm>
            <a:off x="1554480" y="4297680"/>
            <a:ext cx="10058400" cy="45720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Test the alternative classification against observed HOP growth on recently service-uplifted AT corridors since 2023.</a:t>
            </a:r>
            <a:endParaRPr lang="en-US" sz="1200" dirty="0"/>
          </a:p>
        </p:txBody>
      </p:sp>
      <p:sp>
        <p:nvSpPr>
          <p:cNvPr id="16" name="Shape 14"/>
          <p:cNvSpPr/>
          <p:nvPr/>
        </p:nvSpPr>
        <p:spPr>
          <a:xfrm>
            <a:off x="640080" y="6035040"/>
            <a:ext cx="1371600" cy="36576"/>
          </a:xfrm>
          <a:prstGeom prst="rect">
            <a:avLst/>
          </a:prstGeom>
          <a:solidFill>
            <a:srgbClr val="CC785C"/>
          </a:solidFill>
          <a:ln w="12700">
            <a:solidFill>
              <a:srgbClr val="CC785C"/>
            </a:solidFill>
            <a:prstDash val="solid"/>
          </a:ln>
        </p:spPr>
      </p:sp>
      <p:sp>
        <p:nvSpPr>
          <p:cNvPr id="17" name="Text 15"/>
          <p:cNvSpPr/>
          <p:nvPr/>
        </p:nvSpPr>
        <p:spPr>
          <a:xfrm>
            <a:off x="640080" y="6126480"/>
            <a:ext cx="10972800" cy="457200"/>
          </a:xfrm>
          <a:prstGeom prst="rect">
            <a:avLst/>
          </a:prstGeom>
          <a:noFill/>
          <a:ln/>
        </p:spPr>
        <p:txBody>
          <a:bodyPr wrap="square" lIns="0" tIns="0" rIns="0" bIns="0" rtlCol="0" anchor="ctr"/>
          <a:lstStyle/>
          <a:p>
            <a:pPr indent="0" marL="0">
              <a:buNone/>
            </a:pPr>
            <a:r>
              <a:rPr lang="en-US" sz="1800" i="1" dirty="0">
                <a:solidFill>
                  <a:srgbClr val="F0EEE5"/>
                </a:solidFill>
                <a:latin typeface="Georgia" pitchFamily="34" charset="0"/>
                <a:ea typeface="Georgia" pitchFamily="34" charset="-122"/>
                <a:cs typeface="Georgia" pitchFamily="34" charset="-120"/>
              </a:rPr>
              <a:t>Thanks. Questions welcome.</a:t>
            </a:r>
            <a:endParaRPr lang="en-US" sz="1800" dirty="0"/>
          </a:p>
        </p:txBody>
      </p:sp>
      <p:sp>
        <p:nvSpPr>
          <p:cNvPr id="18" name="Text 16"/>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 equity, lab meeting</dc:title>
  <dc:subject>PptxGenJS Presentation</dc:subject>
  <dc:creator>Hyesop Shin</dc:creator>
  <cp:lastModifiedBy>Hyesop Shin</cp:lastModifiedBy>
  <cp:revision>1</cp:revision>
  <dcterms:created xsi:type="dcterms:W3CDTF">2026-05-27T22:29:25Z</dcterms:created>
  <dcterms:modified xsi:type="dcterms:W3CDTF">2026-05-27T22:29:25Z</dcterms:modified>
</cp:coreProperties>
</file>