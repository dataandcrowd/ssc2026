
<file path=[Content_Types].xml><?xml version="1.0" encoding="utf-8"?>
<Types xmlns="http://schemas.openxmlformats.org/package/2006/content-types">
  <Default Extension="mov" ContentType="video/quicktime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61" r:id="rId5"/>
    <p:sldId id="259" r:id="rId6"/>
    <p:sldId id="266" r:id="rId17"/>
    <p:sldId id="267" r:id="rId18"/>
    <p:sldId id="268" r:id="rId19"/>
    <p:sldId id="264" r:id="rId15"/>
    <p:sldId id="262" r:id="rId13"/>
    <p:sldId id="263" r:id="rId14"/>
    <p:sldId id="265" r:id="rId16"/>
    <p:sldId id="269" r:id="rId20"/>
    <p:sldId id="260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1"/>
    <p:restoredTop sz="94610"/>
  </p:normalViewPr>
  <p:slideViewPr>
    <p:cSldViewPr snapToGrid="0" snapToObjects="1">
      <p:cViewPr varScale="1">
        <p:scale>
          <a:sx n="139" d="100"/>
          <a:sy n="139" d="100"/>
        </p:scale>
        <p:origin x="176" y="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13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9.xml"/><Relationship Id="rId16" Type="http://schemas.openxmlformats.org/officeDocument/2006/relationships/slide" Target="slides/slide12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4918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microsoft.com/office/2007/relationships/media" Target="../media/media1.mov"/><Relationship Id="rId2" Type="http://schemas.openxmlformats.org/officeDocument/2006/relationships/video" Target="../media/media1.mov"/><Relationship Id="rId3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6675120" y="274320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7022592" y="274320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7370064" y="274320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7717536" y="274320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8065008" y="274320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8412480" y="274320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6675120" y="621792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7022592" y="621792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7370064" y="621792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7717536" y="621792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8065008" y="621792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8412480" y="621792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6675120" y="969264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7022592" y="969264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7370064" y="969264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7717536" y="969264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8065008" y="969264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8412480" y="969264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6675120" y="1316736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7022592" y="1316736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7370064" y="1316736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7717536" y="1316736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8065008" y="1316736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8412480" y="1316736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365760" y="100584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Pay, Oscillate, or Learn?</a:t>
            </a:r>
            <a:endParaRPr lang="en-US" sz="3800" dirty="0"/>
          </a:p>
        </p:txBody>
      </p:sp>
      <p:sp>
        <p:nvSpPr>
          <p:cNvPr id="28" name="Text 26"/>
          <p:cNvSpPr/>
          <p:nvPr/>
        </p:nvSpPr>
        <p:spPr>
          <a:xfrm>
            <a:off x="365760" y="182880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Agent Decision Rules under Congestion Pricing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365760" y="2514600"/>
            <a:ext cx="4114800" cy="36576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365760" y="26517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Simulation Conference 2026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65760" y="30175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Hyesop Shin   |   University of Auckland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65760" y="4297680"/>
            <a:ext cx="1417320" cy="347472"/>
          </a:xfrm>
          <a:prstGeom prst="roundRect">
            <a:avLst>
              <a:gd name="adj" fmla="val 13158"/>
            </a:avLst>
          </a:prstGeom>
          <a:solidFill>
            <a:srgbClr val="0E7490">
              <a:alpha val="45000"/>
            </a:srgbClr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365760" y="429768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Agent-Based Modelling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1892808" y="4297680"/>
            <a:ext cx="1417320" cy="347472"/>
          </a:xfrm>
          <a:prstGeom prst="roundRect">
            <a:avLst>
              <a:gd name="adj" fmla="val 13158"/>
            </a:avLst>
          </a:prstGeom>
          <a:solidFill>
            <a:srgbClr val="0E7490">
              <a:alpha val="45000"/>
            </a:srgbClr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1892808" y="429768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Q-Learning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419856" y="4297680"/>
            <a:ext cx="1417320" cy="347472"/>
          </a:xfrm>
          <a:prstGeom prst="roundRect">
            <a:avLst>
              <a:gd name="adj" fmla="val 13158"/>
            </a:avLst>
          </a:prstGeom>
          <a:solidFill>
            <a:srgbClr val="0E7490">
              <a:alpha val="45000"/>
            </a:srgbClr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3419856" y="429768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Farol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946904" y="4297680"/>
            <a:ext cx="1417320" cy="347472"/>
          </a:xfrm>
          <a:prstGeom prst="roundRect">
            <a:avLst>
              <a:gd name="adj" fmla="val 13158"/>
            </a:avLst>
          </a:prstGeom>
          <a:solidFill>
            <a:srgbClr val="0E7490">
              <a:alpha val="45000"/>
            </a:srgbClr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4946904" y="429768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Auckland CBD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473952" y="4297680"/>
            <a:ext cx="1417320" cy="347472"/>
          </a:xfrm>
          <a:prstGeom prst="roundRect">
            <a:avLst>
              <a:gd name="adj" fmla="val 13158"/>
            </a:avLst>
          </a:prstGeom>
          <a:solidFill>
            <a:srgbClr val="0E7490">
              <a:alpha val="45000"/>
            </a:srgbClr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6473952" y="429768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 Pricing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the Behavioural Assumption Matter?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51560"/>
            <a:ext cx="28346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2834640" cy="54864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274320" y="118872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🏙️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38912" y="1874520"/>
            <a:ext cx="25054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Auckland's Context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38912" y="2331720"/>
            <a:ext cx="250545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costs NZ$2.6B/yr. Time-of-Use (ToU) charging legislation passed Nov 2025. CBD cordon launch expected alongside City Rail Link.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246120" y="1051560"/>
            <a:ext cx="28346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834640" cy="54864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3246120" y="118872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❓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410712" y="1874520"/>
            <a:ext cx="25054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410712" y="2331720"/>
            <a:ext cx="250545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models ask 'how much will traffic fall?' — but behavioural assumptions drive whether congestion shifts in time, in space, or not at all.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17920" y="1051560"/>
            <a:ext cx="28346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6217920" y="1051560"/>
            <a:ext cx="2834640" cy="54864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6217920" y="118872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🔬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382512" y="1874520"/>
            <a:ext cx="25054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Approach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382512" y="2331720"/>
            <a:ext cx="250545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ABM with 2,500 heterogeneous agents (1 agent = 160 vehicles, calibrated to observed daily counts), Auckland CBD road network. Three decision rules, same pricing environment, same LoS measurement.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74320" y="480060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questions:  (1) How does decision rule choice affect V/C outcomes?   (2) Where does congestion shift spatially under ToU?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Agent Decision Rules: A Rationality Spectrum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164592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783080" y="1005840"/>
            <a:ext cx="347472" cy="3474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4526280" y="1005840"/>
            <a:ext cx="347472" cy="347472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7269480" y="1005840"/>
            <a:ext cx="347472" cy="34747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457200" y="12070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Static Rationality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669280" y="12070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Rationality with Learning →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6032" y="1463040"/>
            <a:ext cx="2816352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256032" y="1463040"/>
            <a:ext cx="82296" cy="3474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420624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20624" y="1938528"/>
            <a:ext cx="2542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Exponential Decay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20624" y="2286000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Rationality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84048" y="2578608"/>
            <a:ext cx="2578608" cy="384048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384048" y="2578608"/>
            <a:ext cx="2578608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P(entry) = e^(–α · fee / VoT)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20624" y="3035808"/>
            <a:ext cx="254203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probability declines with fee/VoT ratio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memory, no adaptation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equilibrium assumption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peak V/C −12% (fixed hour) to −26% (may reroute)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0" y="1463040"/>
            <a:ext cx="2816352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3200400" y="1463040"/>
            <a:ext cx="82296" cy="34747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3364992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364992" y="1938528"/>
            <a:ext cx="2542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Farol Bar Model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364992" y="2286000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Rationality (No Learning)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328416" y="2578608"/>
            <a:ext cx="2578608" cy="384048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3328416" y="2578608"/>
            <a:ext cx="2578608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Enter if best predictor: E[congestion] &lt; θ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364992" y="3035808"/>
            <a:ext cx="254203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of predictors based on recent history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yesterday's congestion, not today's fee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Near-universal entry (91%), so little left to deter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0% in every arm — the charge never binds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144768" y="1463040"/>
            <a:ext cx="2816352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6144768" y="1463040"/>
            <a:ext cx="82296" cy="34747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6309360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6309360" y="1938528"/>
            <a:ext cx="2542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Q-Learning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309360" y="2286000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Rationality with Learning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272784" y="2578608"/>
            <a:ext cx="2578608" cy="384048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6272784" y="2578608"/>
            <a:ext cx="2578608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Q(s,a) ← Q(s,a) + α[r + γ·max Q(s',a') – Q(s,a)]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309360" y="3035808"/>
            <a:ext cx="254203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= time band x congestion band; action = enter or not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is absent from the decision — it enters only via the reward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response is learned over days, not applied at once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−39% if staying home is the only option, −14% if not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Screen Recording 2026-06-04 at 10.14.16.mov">
            <a:hlinkClick r:id="" action="ppaction://media"/>
            <a:extLst>
              <a:ext uri="{FF2B5EF4-FFF2-40B4-BE49-F238E27FC236}">
                <a16:creationId xmlns:a16="http://schemas.microsoft.com/office/drawing/2014/main" id="{01870293-2F5F-0615-90CA-289F5EEF9BE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46125" y="0"/>
            <a:ext cx="7650163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4698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6306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When You Charge Drivers?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987552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road. Same price. Three very different outcomes — depending on how drivers think.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28600" y="1417320"/>
            <a:ext cx="2816352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228600" y="1417320"/>
            <a:ext cx="2816352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228600" y="1444752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😐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58952" y="147218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Driver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1947672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check the price and decide."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" y="2276856"/>
            <a:ext cx="254203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drivers enter at the peak: entry falls from 52% to 40%. Give them an hour of flexibility and the cut deepens from 12% to 18%.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28600" y="3685032"/>
            <a:ext cx="2816352" cy="1078992"/>
          </a:xfrm>
          <a:prstGeom prst="rect">
            <a:avLst/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338328" y="3730752"/>
            <a:ext cx="2633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V/C (inner cordon)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38328" y="3959352"/>
            <a:ext cx="988089" cy="18288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372137" y="395935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charge  0.113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38328" y="4215384"/>
            <a:ext cx="890195" cy="182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1274243" y="421538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  0.100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38328" y="4471416"/>
            <a:ext cx="2596896" cy="219456"/>
          </a:xfrm>
          <a:prstGeom prst="rect">
            <a:avLst/>
          </a:prstGeom>
          <a:solidFill>
            <a:srgbClr val="F59E0B">
              <a:alpha val="12000"/>
            </a:srgbClr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338328" y="4471416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Steady reduction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172968" y="1417320"/>
            <a:ext cx="2816352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3172968" y="1417320"/>
            <a:ext cx="2816352" cy="45720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3172968" y="1444752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😵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3703320" y="147218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Herd Driver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310128" y="1947672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"Everyone avoided it yesterday, so I'll go today."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310128" y="2276856"/>
            <a:ext cx="254203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Drivers read yesterday's congestion, not today's price. Almost everyone still enters (91%), so the charge has nothing left to deter — in every arm we tried.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72968" y="3685032"/>
            <a:ext cx="2816352" cy="1078992"/>
          </a:xfrm>
          <a:prstGeom prst="rect">
            <a:avLst/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3282696" y="3730752"/>
            <a:ext cx="2633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V/C (inner cordon)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282696" y="3959352"/>
            <a:ext cx="1417319" cy="18288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4745735" y="395935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charge  0.170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3282696" y="4215384"/>
            <a:ext cx="1417319" cy="18288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4745735" y="421538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  0.170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3282696" y="4471416"/>
            <a:ext cx="2596896" cy="219456"/>
          </a:xfrm>
          <a:prstGeom prst="rect">
            <a:avLst/>
          </a:prstGeom>
          <a:solidFill>
            <a:srgbClr val="EF4444">
              <a:alpha val="12000"/>
            </a:srgbClr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3282696" y="4471416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No response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117336" y="1417320"/>
            <a:ext cx="2816352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6117336" y="1417320"/>
            <a:ext cx="2816352" cy="4572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6117336" y="1444752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🧠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6647688" y="147218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Driver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254496" y="1947672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"I'll try leaving earlier — it worked last week."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254496" y="2276856"/>
            <a:ext cx="254203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Drivers learn day by day. But this −39% assumes the only alternative is staying home: let them shift an hour and it falls to −14%.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117336" y="3685032"/>
            <a:ext cx="2816352" cy="1078992"/>
          </a:xfrm>
          <a:prstGeom prst="rect">
            <a:avLst/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6227064" y="3730752"/>
            <a:ext cx="2633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V/C (inner cordon)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227064" y="3959352"/>
            <a:ext cx="1108575" cy="18288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7381359" y="395935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charge  0.129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6227064" y="4215384"/>
            <a:ext cx="732057" cy="1828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2"/>
          <p:cNvSpPr/>
          <p:nvPr/>
        </p:nvSpPr>
        <p:spPr>
          <a:xfrm>
            <a:off x="7004841" y="421538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  0.079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6227064" y="4471416"/>
            <a:ext cx="2596896" cy="219456"/>
          </a:xfrm>
          <a:prstGeom prst="rect">
            <a:avLst/>
          </a:prstGeom>
          <a:solidFill>
            <a:srgbClr val="10B981">
              <a:alpha val="12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Text 44"/>
          <p:cNvSpPr/>
          <p:nvPr/>
        </p:nvSpPr>
        <p:spPr>
          <a:xfrm>
            <a:off x="6227064" y="4471416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Largest cut in entries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0" y="4818888"/>
            <a:ext cx="9144000" cy="324612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Text 46"/>
          <p:cNvSpPr/>
          <p:nvPr/>
        </p:nvSpPr>
        <p:spPr>
          <a:xfrm>
            <a:off x="365760" y="4818888"/>
            <a:ext cx="841248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the right behavioural assumption changes not just how much congestion falls — but whether the policy works at all.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5852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Who Actually Pays: the Charge Is Regressive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931920"/>
            <a:ext cx="8412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64748B"/>
                </a:solidFill>
                <a:latin typeface="Calibri"/>
              </a:rPr>
              <a:t>Left: of 500 agents in each value-of-time quintile, how many still enter as the fee rises. The $6 peak fee removes 59% of the lowest-income band and 6% of the highest — the same charge costs Q1 1.3 hours of its own time and Q5 0.28 hours.</a:t>
            </a:r>
          </a:p>
          <a:p>
            <a:r>
              <a:rPr sz="1050">
                <a:solidFill>
                  <a:srgbClr val="64748B"/>
                </a:solidFill>
                <a:latin typeface="Calibri"/>
              </a:rPr>
              <a:t>Most of the congestion relief is bought by low-income drivers giving up the trip.</a:t>
            </a:r>
          </a:p>
          <a:p>
            <a:r>
              <a:rPr sz="1050">
                <a:solidFill>
                  <a:srgbClr val="64748B"/>
                </a:solidFill>
                <a:latin typeface="Calibri"/>
              </a:rPr>
              <a:t>Right: the learner deters every income band equally — but only because its reward values a commute at one tenth of an hour (red). Price it at half an hour (blue) and the familiar regressive pattern returns. Derived from the model's equations, not measured.</a:t>
            </a:r>
          </a:p>
        </p:txBody>
      </p:sp>
      <p:pic>
        <p:nvPicPr>
          <p:cNvPr id="6" name="Picture 5" descr="equity_by_income_g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278" y="1024128"/>
            <a:ext cx="7275443" cy="27889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5852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Let Them Shift an Hour: Fewer Trips Forgone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931920"/>
            <a:ext cx="8412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64748B"/>
                </a:solidFill>
                <a:latin typeface="Calibri"/>
              </a:rPr>
              <a:t>Retiming is the only option that changes HOW MANY trips are made. Pay's entry rate is unchanged (0.40) because only 2.7% of its entrants shift — all of them earlier, all of them low-income, since an hour of schedule delay costs 0.6 x VoT against a $2 saving.</a:t>
            </a:r>
          </a:p>
          <a:p>
            <a:r>
              <a:rPr sz="1050">
                <a:solidFill>
                  <a:srgbClr val="64748B"/>
                </a:solidFill>
                <a:latin typeface="Calibri"/>
              </a:rPr>
              <a:t>Learn is the opposite: given somewhere to move, 67% shift and entry jumps 0.34 → 0.62, so the measured congestion benefit falls from 39% to 14%.</a:t>
            </a:r>
          </a:p>
          <a:p>
            <a:r>
              <a:rPr sz="1050">
                <a:solidFill>
                  <a:srgbClr val="64748B"/>
                </a:solidFill>
                <a:latin typeface="Calibri"/>
              </a:rPr>
              <a:t>A model where the only response is 'stay home' overstates what the charge achieves.</a:t>
            </a:r>
          </a:p>
        </p:txBody>
      </p:sp>
      <p:pic>
        <p:nvPicPr>
          <p:cNvPr id="6" name="Picture 5" descr="optin_retiming_g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278" y="1024128"/>
            <a:ext cx="7275443" cy="27889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5852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Let Them Take Another Road: Same Trips, New Places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931920"/>
            <a:ext cx="8412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64748B"/>
                </a:solidFill>
                <a:latin typeface="Calibri"/>
              </a:rPr>
              <a:t>Route choice leaves the number of trips untouched — entry rates are identical to three decimals (Pay 0.40, Learn 0.34) — and changes only where those trips go.</a:t>
            </a:r>
          </a:p>
          <a:p>
            <a:r>
              <a:rPr sz="1050">
                <a:solidFill>
                  <a:srgbClr val="64748B"/>
                </a:solidFill>
                <a:latin typeface="Calibri"/>
              </a:rPr>
              <a:t>The no-charge baseline moves a lot: inner V/C rises (0.113 → 0.164 for Pay) while the cordon boundary falls by a third, because fixed shortest paths were funnelling traffic onto a few approach arterials.</a:t>
            </a:r>
          </a:p>
          <a:p>
            <a:r>
              <a:rPr sz="1050">
                <a:solidFill>
                  <a:srgbClr val="64748B"/>
                </a:solidFill>
                <a:latin typeface="Calibri"/>
              </a:rPr>
              <a:t>This is the arm that makes displacement testable: the traffic still exists and can move. It still does not pile up outside the cordon.</a:t>
            </a:r>
          </a:p>
        </p:txBody>
      </p:sp>
      <p:pic>
        <p:nvPicPr>
          <p:cNvPr id="6" name="Picture 5" descr="optin_rerouting_g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278" y="1024128"/>
            <a:ext cx="7275443" cy="27889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5852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Why Learning Keeps Falling — and Herding Bounces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794760"/>
            <a:ext cx="8412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64748B"/>
                </a:solidFill>
                <a:latin typeface="Calibri"/>
              </a:rPr>
              <a:t>Pay reads the fee inside the decision, so its response is complete on day 1 and then flat.</a:t>
            </a:r>
          </a:p>
          <a:p>
            <a:r>
              <a:rPr sz="1050">
                <a:solidFill>
                  <a:srgbClr val="64748B"/>
                </a:solidFill>
                <a:latin typeface="Calibri"/>
              </a:rPr>
              <a:t>Learn never sees the fee when it decides — it only feels it in the reward. Entry starts at the no-charge level and slides for the whole fortnight (0.51 → 0.24), because the fee ($2–6) outweighs the congestion it could avoid (~0.3 in reward units) by an order of magnitude, so nothing pulls entry back up. Fee per entering agent is unchanged (2.83 → 2.75): deterrence, not retiming.</a:t>
            </a:r>
          </a:p>
          <a:p>
            <a:r>
              <a:rPr sz="1050">
                <a:solidFill>
                  <a:srgbClr val="64748B"/>
                </a:solidFill>
                <a:latin typeface="Calibri"/>
              </a:rPr>
              <a:t>Oscillate is deterred on day 1 (0.57 vs 0.73) but its own feedback erases that within a day — by day 2 both regimes sit at 0.91.</a:t>
            </a:r>
          </a:p>
        </p:txBody>
      </p:sp>
      <p:pic>
        <p:nvPicPr>
          <p:cNvPr id="6" name="Picture 5" descr="entry_trajectory_g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927" y="1051560"/>
            <a:ext cx="7606145" cy="27889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5852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Where the Charge Acts Within the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977639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64748B"/>
                </a:solidFill>
                <a:latin typeface="Calibri"/>
              </a:rPr>
              <a:t>Hour-of-day inner-cordon V/C, days 8–14, no charge (grey) vs ToU (blue); shaded bands are the $6 peak and $4 shoulder fee windows. Pay −23% at the morning peak, Learn −49%, Oscillate +2%. The whole-day mean falls by as much as the peaks do, so the charge deters trips rather than spreading them.</a:t>
            </a:r>
          </a:p>
        </p:txBody>
      </p:sp>
      <p:pic>
        <p:nvPicPr>
          <p:cNvPr id="6" name="Picture 5" descr="hourly_profile_g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927" y="1051560"/>
            <a:ext cx="7606145" cy="27889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5852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No Displacement onto the Ring Roads</a:t>
            </a:r>
          </a:p>
        </p:txBody>
      </p:sp>
      <p:pic>
        <p:nvPicPr>
          <p:cNvPr id="4" name="Picture 3" descr="map_re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854" y="1051560"/>
            <a:ext cx="7046291" cy="2788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3977639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64748B"/>
                </a:solidFill>
                <a:latin typeface="Calibri"/>
              </a:rPr>
              <a:t>Change in per-link peak V/C under ToU: blue is a reduction, red an increase, dashed outline is the cordon. Under Pay and Learn the boundary and approach roads fall together with the interior (−24% and −37% at the boundary). Under Oscillate the map is mottled and the net change is zero.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5852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What We Let Agents Do Changes 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794760"/>
            <a:ext cx="8412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64748B"/>
                </a:solidFill>
                <a:latin typeface="Calibri"/>
              </a:rPr>
              <a:t>Same network, same population, same fee schedule. The only difference is the set of responses an agent is allowed: forgo the trip only (grey), or also shift an hour (blue), reroute (orange), or both (green).</a:t>
            </a:r>
          </a:p>
          <a:p>
            <a:r>
              <a:rPr sz="1050">
                <a:solidFill>
                  <a:srgbClr val="64748B"/>
                </a:solidFill>
                <a:latin typeface="Calibri"/>
              </a:rPr>
              <a:t>Pay is robust at 12–26%. Learn swings 39% → 14% — its headline needs the assumption that staying home is the only alternative. Oscillate is zero in every arm.</a:t>
            </a:r>
          </a:p>
          <a:p>
            <a:r>
              <a:rPr sz="1050">
                <a:solidFill>
                  <a:srgbClr val="64748B"/>
                </a:solidFill>
                <a:latin typeface="Calibri"/>
              </a:rPr>
              <a:t>Right: routing alone halves the load on the cordon boundary before any charge — the biggest single effect here is a modelling assumption, not a policy.</a:t>
            </a:r>
          </a:p>
        </p:txBody>
      </p:sp>
      <p:pic>
        <p:nvPicPr>
          <p:cNvPr id="6" name="Picture 5" descr="arms_comparison_g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927" y="1024128"/>
            <a:ext cx="7606145" cy="27889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92240" y="22860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6903720" y="22860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7315200" y="22860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7726680" y="22860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6492240" y="64008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6903720" y="64008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7315200" y="64008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7726680" y="64008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6492240" y="105156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6903720" y="105156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7315200" y="105156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7726680" y="105156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6492240" y="146304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6903720" y="146304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7315200" y="146304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7726680" y="146304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6492240" y="187452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6903720" y="187452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7315200" y="187452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7726680" y="187452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365760" y="27432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 &amp; Next Steps</a:t>
            </a:r>
            <a:endParaRPr lang="en-US" sz="2600" dirty="0"/>
          </a:p>
        </p:txBody>
      </p:sp>
      <p:sp>
        <p:nvSpPr>
          <p:cNvPr id="23" name="Shape 21"/>
          <p:cNvSpPr/>
          <p:nvPr/>
        </p:nvSpPr>
        <p:spPr>
          <a:xfrm>
            <a:off x="365760" y="896112"/>
            <a:ext cx="3200400" cy="36576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365760" y="102412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65760" y="1463040"/>
            <a:ext cx="256032" cy="256032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365760" y="14630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13232" y="1444752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Behavioural assumption shapes both magnitude and temporal redistribution of congestion — not just the quantity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65760" y="2212848"/>
            <a:ext cx="256032" cy="256032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365760" y="22128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13232" y="21945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Q-learning's headline depends on what agents may do: −39% when the only option is to stay home, −14% when they can shift an hour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65760" y="2962656"/>
            <a:ext cx="256032" cy="256032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365760" y="29626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13232" y="2944368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Farol shows what happens when agents track each other rather than the fee — entry stays at 91% and the charge does nothing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65760" y="3712464"/>
            <a:ext cx="256032" cy="256032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365760" y="3712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13232" y="3694176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ABM places competing theories side-by-side within a common environment — revealing structural differences invisible to aggregate models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709160" y="1005840"/>
            <a:ext cx="36576" cy="3749040"/>
          </a:xfrm>
          <a:prstGeom prst="rect">
            <a:avLst/>
          </a:prstGeom>
          <a:solidFill>
            <a:srgbClr val="0E7490">
              <a:alpha val="60000"/>
            </a:srgbClr>
          </a:solidFill>
          <a:ln w="12700">
            <a:solidFill>
              <a:srgbClr val="0E7490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4937760" y="102412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4937760" y="1444752"/>
            <a:ext cx="3840480" cy="685800"/>
          </a:xfrm>
          <a:prstGeom prst="rect">
            <a:avLst/>
          </a:prstGeom>
          <a:solidFill>
            <a:srgbClr val="0E2A3D"/>
          </a:solidFill>
          <a:ln w="10160">
            <a:solidFill>
              <a:srgbClr val="0E74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4937760" y="1444752"/>
            <a:ext cx="64008" cy="68580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5084064" y="14721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Extension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084064" y="174650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choice, household VoT calibration from NZ travel survey data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937760" y="2221992"/>
            <a:ext cx="3840480" cy="685800"/>
          </a:xfrm>
          <a:prstGeom prst="rect">
            <a:avLst/>
          </a:prstGeom>
          <a:solidFill>
            <a:srgbClr val="0E2A3D"/>
          </a:solidFill>
          <a:ln w="10160">
            <a:solidFill>
              <a:srgbClr val="0E74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4937760" y="2221992"/>
            <a:ext cx="64008" cy="68580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5084064" y="22494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LLM-ABM Hybrid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084064" y="25237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3-layer cognitive architecture: reactive (classical), deliberate (lightweight LLM), reflective (daily/weekly reasoning)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937760" y="2999232"/>
            <a:ext cx="3840480" cy="685800"/>
          </a:xfrm>
          <a:prstGeom prst="rect">
            <a:avLst/>
          </a:prstGeom>
          <a:solidFill>
            <a:srgbClr val="0E2A3D"/>
          </a:solidFill>
          <a:ln w="10160">
            <a:solidFill>
              <a:srgbClr val="0E74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4937760" y="2999232"/>
            <a:ext cx="64008" cy="68580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/>
          <p:nvPr/>
        </p:nvSpPr>
        <p:spPr>
          <a:xfrm>
            <a:off x="5084064" y="302666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Fee-Level Sweep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5084064" y="330098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Vary the ToU schedule itself: the one experiment that would let us say how much to charge, not just whether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4937760" y="3776472"/>
            <a:ext cx="3840480" cy="685800"/>
          </a:xfrm>
          <a:prstGeom prst="rect">
            <a:avLst/>
          </a:prstGeom>
          <a:solidFill>
            <a:srgbClr val="0E2A3D"/>
          </a:solidFill>
          <a:ln w="10160">
            <a:solidFill>
              <a:srgbClr val="0E74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4937760" y="3776472"/>
            <a:ext cx="64008" cy="68580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Text 51"/>
          <p:cNvSpPr/>
          <p:nvPr/>
        </p:nvSpPr>
        <p:spPr>
          <a:xfrm>
            <a:off x="5084064" y="380390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Up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084064" y="407822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beyond 2,500 agents (≈400k vehicles today); dynamic OD matrix replacing the fixed assumption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365760" y="482803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github.com/dataandcrowd/SSC2026   |   h.shin@auckland.ac.nz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73152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What This Model Cannot Say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32688"/>
            <a:ext cx="3200400" cy="36576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42415"/>
            <a:ext cx="8412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B6C6D2"/>
                </a:solidFill>
                <a:latin typeface="Calibri"/>
              </a:rPr>
              <a:t>Six limits that bound every number in this talk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81328"/>
            <a:ext cx="4023360" cy="960120"/>
          </a:xfrm>
          <a:prstGeom prst="rect">
            <a:avLst/>
          </a:prstGeom>
          <a:solidFill>
            <a:srgbClr val="0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81328"/>
            <a:ext cx="64008" cy="96012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572768"/>
            <a:ext cx="37490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Calibri"/>
              </a:rPr>
              <a:t>Single seed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828800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B6C6D2"/>
                </a:solidFill>
                <a:latin typeface="Calibri"/>
              </a:rPr>
              <a:t>Day-to-day spreads are variation within one seed, not run-to-run uncertainty. Only El Farol has a five-seed replication.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0" y="1481328"/>
            <a:ext cx="4023360" cy="960120"/>
          </a:xfrm>
          <a:prstGeom prst="rect">
            <a:avLst/>
          </a:prstGeom>
          <a:solidFill>
            <a:srgbClr val="0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0" y="1481328"/>
            <a:ext cx="64008" cy="96012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19472" y="1572768"/>
            <a:ext cx="37490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Calibri"/>
              </a:rPr>
              <a:t>Fee level untested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19472" y="1828800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B6C6D2"/>
                </a:solidFill>
                <a:latin typeface="Calibri"/>
              </a:rPr>
              <a:t>No fee-level sweep on the calibrated model. The β sweep varies price sensitivity, not price, so we cannot say how much to charge.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578608"/>
            <a:ext cx="4023360" cy="960120"/>
          </a:xfrm>
          <a:prstGeom prst="rect">
            <a:avLst/>
          </a:prstGeom>
          <a:solidFill>
            <a:srgbClr val="0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2578608"/>
            <a:ext cx="64008" cy="96012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2670048"/>
            <a:ext cx="37490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Calibri"/>
              </a:rPr>
              <a:t>Equity is derived, not measured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2926080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B6C6D2"/>
                </a:solidFill>
                <a:latin typeface="Calibri"/>
              </a:rPr>
              <a:t>Quintile results come from the decision and reward equations, not from a run. No experiment recorded entries by income band.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0" y="2578608"/>
            <a:ext cx="4023360" cy="960120"/>
          </a:xfrm>
          <a:prstGeom prst="rect">
            <a:avLst/>
          </a:prstGeom>
          <a:solidFill>
            <a:srgbClr val="0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754880" y="2578608"/>
            <a:ext cx="64008" cy="96012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19472" y="2670048"/>
            <a:ext cx="37490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Calibri"/>
              </a:rPr>
              <a:t>Learn rests on two arbitrary settings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9472" y="2926080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B6C6D2"/>
                </a:solidFill>
                <a:latin typeface="Calibri"/>
              </a:rPr>
              <a:t>Its reward values a commute at VoT/10, and its action space decides the headline (39 % vs 14 %). Neither is calibrated.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675887"/>
            <a:ext cx="4023360" cy="960120"/>
          </a:xfrm>
          <a:prstGeom prst="rect">
            <a:avLst/>
          </a:prstGeom>
          <a:solidFill>
            <a:srgbClr val="0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675887"/>
            <a:ext cx="64008" cy="96012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767327"/>
            <a:ext cx="37490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Calibri"/>
              </a:rPr>
              <a:t>Routing answers to congestion, not to the fee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4023359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B6C6D2"/>
                </a:solidFill>
                <a:latin typeface="Calibri"/>
              </a:rPr>
              <a:t>A CBD-bound agent pays whichever road it takes, so cordon-dodging to avoid the charge is still untested.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80" y="3675887"/>
            <a:ext cx="4023360" cy="960120"/>
          </a:xfrm>
          <a:prstGeom prst="rect">
            <a:avLst/>
          </a:prstGeom>
          <a:solidFill>
            <a:srgbClr val="0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754880" y="3675887"/>
            <a:ext cx="64008" cy="96012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19472" y="3767327"/>
            <a:ext cx="37490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Calibri"/>
              </a:rPr>
              <a:t>Peak too sharp, demand static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19472" y="4023359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B6C6D2"/>
                </a:solidFill>
                <a:latin typeface="Calibri"/>
              </a:rPr>
              <a:t>Implied design-hour factor 0.157 against the 0.10 assumed, so absolute LoS is pessimistic; fixed OD matrix and no mode shift.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791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0E7490"/>
                </a:solidFill>
                <a:latin typeface="Calibri"/>
              </a:rPr>
              <a:t>Report the difference between charged and uncharged cases, and the range across behavioural assumptions — not a single level.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736</Words>
  <Application>Microsoft Macintosh PowerPoint</Application>
  <PresentationFormat>On-screen Show (16:9)</PresentationFormat>
  <Paragraphs>99</Paragraphs>
  <Slides>6</Slides>
  <Notes>5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Pay, Oscillate, or Learn? Three Agent Decision Rules under Congestion Pricing</dc:title>
  <dc:subject>PptxGenJS Presentation</dc:subject>
  <dc:creator>Hyesop Shin</dc:creator>
  <cp:lastModifiedBy>Hyesop Shin</cp:lastModifiedBy>
  <cp:revision>2</cp:revision>
  <dcterms:created xsi:type="dcterms:W3CDTF">2026-06-03T22:09:15Z</dcterms:created>
  <dcterms:modified xsi:type="dcterms:W3CDTF">2026-06-03T22:15:07Z</dcterms:modified>
</cp:coreProperties>
</file>