
<file path=[Content_Types].xml><?xml version="1.0" encoding="utf-8"?>
<Types xmlns="http://schemas.openxmlformats.org/package/2006/content-types">
  <Default Extension="mov" ContentType="video/quicktime"/>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61" r:id="rId5"/>
    <p:sldId id="259" r:id="rId6"/>
    <p:sldId id="270" r:id="rId21"/>
    <p:sldId id="272" r:id="rId23"/>
    <p:sldId id="275" r:id="rId26"/>
    <p:sldId id="274" r:id="rId25"/>
    <p:sldId id="271" r:id="rId22"/>
    <p:sldId id="266" r:id="rId17"/>
    <p:sldId id="267" r:id="rId18"/>
    <p:sldId id="268" r:id="rId19"/>
    <p:sldId id="264" r:id="rId15"/>
    <p:sldId id="262" r:id="rId13"/>
    <p:sldId id="263" r:id="rId14"/>
    <p:sldId id="265" r:id="rId16"/>
    <p:sldId id="269" r:id="rId20"/>
    <p:sldId id="260"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39" d="100"/>
          <a:sy n="139" d="100"/>
        </p:scale>
        <p:origin x="176" y="6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15.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0.xml"/><Relationship Id="rId16" Type="http://schemas.openxmlformats.org/officeDocument/2006/relationships/slide" Target="slides/slide13.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4.xml"/><Relationship Id="rId21" Type="http://schemas.openxmlformats.org/officeDocument/2006/relationships/slide" Target="slides/slide6.xml"/>  <Relationship Id="rId22" Type="http://schemas.openxmlformats.org/officeDocument/2006/relationships/slide" Target="slides/slide16.xml"/>
  <Relationship Id="rId23" Type="http://schemas.openxmlformats.org/officeDocument/2006/relationships/slide" Target="slides/slide17.xml"/>
  
  <Relationship Id="rId25" Type="http://schemas.openxmlformats.org/officeDocument/2006/relationships/slide" Target="slides/slide19.xml"/>
  <Relationship Id="rId26" Type="http://schemas.openxmlformats.org/officeDocument/2006/relationships/slide" Target="slides/slide2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9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at setup on seed 11 by the agent-census experiment, not the expected values the sliders imply.</a:t>
            </a:r>
          </a:p>
          <a:p>
            <a:r>
              <a:rPr lang="en-US" dirty="0"/>
              <a:t>Where they live: 1,765 of 2,500 (70.6 %) enter from the network boundary — 767 arterial edges, 484 southern corridor, 309 northern, 205 western. The corridor split follows 2023 Census sector populations, not metered flow. The remaining 735 (29.4 %) are isthmus residents drawn uniformly from the local housing stock.</a:t>
            </a:r>
          </a:p>
          <a:p>
            <a:r>
              <a:rPr lang="en-US" dirty="0"/>
              <a:t>Nobody lives inside the cordon: 0 agents have a CBD home. So every charged trip is an inbound trip. The charge is never a resident's parking decision — always a decision to cross a boundary.</a:t>
            </a:r>
          </a:p>
          <a:p>
            <a:r>
              <a:rPr lang="en-US" dirty="0"/>
              <a:t>Exposure: 1,500 agents have at least one CBD destination and are the only ones the charge can reach. The other 1,000 never enter, so they act as an unpriced comparison group inside the same run. 544 of them are pass-through traffic crossing boundary-to-boundary, never charged, loading the ring roads whatever the fee.</a:t>
            </a:r>
          </a:p>
          <a:p>
            <a:r>
              <a:rPr lang="en-US" dirty="0"/>
              <a:t>Itineraries average 2.98 destinations (1-4 activity stops plus home). That multi-stop structure is why deactivating a declining agent for the whole day was such a consequential bug.</a:t>
            </a:r>
          </a:p>
          <a:p>
            <a:r>
              <a:rPr lang="en-US" dirty="0"/>
              <a:t>Scale: 1 agent = 160 real vehicles, so the population stands for roughly 400,000 vehicle-trips a day. That factor is what the volume calibration tunes, and every V/C and capacity number is proportional 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knobs were turned in calibration; everything else about demand is a modelling choice.</a:t>
            </a:r>
          </a:p>
          <a:p>
            <a:r>
              <a:rPr lang="en-US" dirty="0"/>
              <a:t>FITTED 1, total volume. The agent scale factor went 300 to 195 to 160, matched against Auckland Transport observed ADT on all 1,634 links. Flow-weighted modelled-over-observed ratio fell 1.543 to 1.225 to 1.013, median per link 1.010. One division sufficed because routes are fixed and every trip completes, so link volumes are exactly proportional to the scale factor — the fit is arithmetic, not an iterative search.</a:t>
            </a:r>
          </a:p>
          <a:p>
            <a:r>
              <a:rPr lang="en-US" dirty="0"/>
              <a:t>FITTED 2, spatial distribution. All 1,484 non-home buildings originally sat inside the cordon, so uniform sampling sent every trip to the city centre. Adding 1,400 suburban destinations moved group ratios from a 0.75-1.80 spread to 0.82-1.20, and the CBD from 1.80 to 1.12. Note this changed the pool the draw samples from — the uniform drawing rule itself was never changed.</a:t>
            </a:r>
          </a:p>
          <a:p>
            <a:r>
              <a:rPr lang="en-US" dirty="0"/>
              <a:t>ASSUMED 1, the origin-destination matrix. Origins follow Census sector shares; destinations are drawn uniformly from the non-home building stock. No gravity term, no size or attraction weighting, no observed trip ends.</a:t>
            </a:r>
          </a:p>
          <a:p>
            <a:r>
              <a:rPr lang="en-US" dirty="0"/>
              <a:t>ASSUMED 2, the time-of-day profile — the two weight lists on the previous slide. No observed departure distribution enters the model at any point.</a:t>
            </a:r>
          </a:p>
          <a:p>
            <a:r>
              <a:rPr lang="en-US" dirty="0"/>
              <a:t>So the temporal residual is not a shortfall. Implied design-hour factor 0.157 against the 0.10 assumed in the capacity conversion. That gap is not a profile fitted badly; it is what happens when no profile is fitted at all. Fitting it to observed data is the obvious next calibration step.</a:t>
            </a:r>
          </a:p>
          <a:p>
            <a:r>
              <a:rPr lang="en-US" dirty="0"/>
              <a:t>If asked: the earlier draft credited TomTom Move data with the profile and NZTA screenline counts with corridor inflow. Neither is implemented — no TomTom file exists in the repository, and the screenline reporters are never called by any procedure. The write-up has been corrected.</a:t>
            </a:r>
          </a:p>
          <a:p>
            <a:r>
              <a:rPr lang="en-US" dirty="0"/>
              <a:t>The honest framing: the model reproduces observed traffic volume and its spatial spread, not observed travel patterns. Every rule and fee regime faces the identical demand realisation, so this bounds how the absolute levels may be read without weakening the comparison between rules, which is what the study is for.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nobody has to guess which numbers carry weight.</a:t>
            </a:r>
          </a:p>
          <a:p>
            <a:r>
              <a:rPr lang="en-US" dirty="0"/>
              <a:t>MEASURED: peak V/C by rule and arm, entry trajectories, hourly profiles, LoS shares and the redistribution map. Seed 11, 14 simulated days, with day-to-day standard deviation quoted alongside every mean.</a:t>
            </a:r>
          </a:p>
          <a:p>
            <a:r>
              <a:rPr lang="en-US" dirty="0"/>
              <a:t>DERIVED, not measured: the income-quintile burden and the learner's reward diagnosis come from applying the model's own decision and reward equations to the calibrated value-of-time distribution. No run has recorded entries by income band, and the reporter that would have done so is defective. The OD matrix and the time-of-day profile are likewise assumed inputs rather than estimated ones.</a:t>
            </a:r>
          </a:p>
          <a:p>
            <a:r>
              <a:rPr lang="en-US" dirty="0"/>
              <a:t>SUPERSEDED, do not quote: every pre-calibration number; El Farol's apparent oscillation, which was an artefact of an overloaded network; and the learner's minus 39 per cent base-arm headline, which is an artefact of an action space where staying home is the only alternative.</a:t>
            </a:r>
          </a:p>
          <a:p>
            <a:r>
              <a:rPr lang="en-US" dirty="0"/>
              <a:t>RANGES rather than point estimates: the ToU cut in peak inner-cordon V/C is 12 to 26 per cent for Pay, 14 to 39 per cent for Learn, and zero for Oscillate. The width comes from what agents are permitted to do, with rule, network, demand and fee schedule all held fixed.</a:t>
            </a:r>
          </a:p>
          <a:p>
            <a:r>
              <a:rPr lang="en-US" dirty="0"/>
              <a:t>Controlled comparison: one network, one population, one fee schedule and one seed across all rules and arms, so differences between cells are attributable rather than sampling noise. The flip side is that all spreads are within-seed.</a:t>
            </a:r>
          </a:p>
          <a:p>
            <a:r>
              <a:rPr lang="en-US" dirty="0"/>
              <a:t>Capacity assumption: k at 0.08, 0.10 and 0.12 changes how congestion is graded but never the sign or ordering of any pricing effect, which is why we report differences rather than absolute Level of Service.</a:t>
            </a:r>
          </a:p>
          <a:p>
            <a:r>
              <a:rPr lang="en-US" dirty="0"/>
              <a:t>Known bias: a declined CBD entry used to deactivate the agent for the whole day, cancelling its suburban stops too — of the order of 100,000 vehicle-trips a day off roads outside the cordon for no behavioural reason. That flattered the peripheral reductions and the no-displacement result. Fixed in the model on 29 July 2026; every number in this talk predates the fix and the re-run is pending.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limits that bound every number in this talk.</a:t>
            </a:r>
          </a:p>
          <a:p>
            <a:r>
              <a:rPr lang="en-US" dirty="0"/>
              <a:t>Single seed: day-to-day spreads describe variation within one seed, not run-to-run uncertainty. Only the El Farol case has a five-seed replication, which confirmed its null result at minus 1.7 per cent, range minus 5.8 to plus 1.1.</a:t>
            </a:r>
          </a:p>
          <a:p>
            <a:r>
              <a:rPr lang="en-US" dirty="0"/>
              <a:t>Fee level untested: no fee-level sweep has been run on the calibrated model. The beta sensitivity varies price sensitivity, not price, so this study says nothing about how much to charge.</a:t>
            </a:r>
          </a:p>
          <a:p>
            <a:r>
              <a:rPr lang="en-US" dirty="0"/>
              <a:t>Equity is derived: the quintile figures come from the decision and reward equations, not from any run. No experiment recorded entries by income band.</a:t>
            </a:r>
          </a:p>
          <a:p>
            <a:r>
              <a:rPr lang="en-US" dirty="0"/>
              <a:t>The learner rests on two arbitrary settings: its reward values a commute at one tenth of the agent's hourly value of time, against fees of two to six dollars, and its action space decides the headline — 39 per cent versus 14 per cent.</a:t>
            </a:r>
          </a:p>
          <a:p>
            <a:r>
              <a:rPr lang="en-US" dirty="0"/>
              <a:t>Routing answers to congestion, not the fee: a CBD-bound agent pays whichever road it takes, so cordon-dodging proper is still untested.</a:t>
            </a:r>
          </a:p>
          <a:p>
            <a:r>
              <a:rPr lang="en-US" dirty="0"/>
              <a:t>Demand is synthetic: no observed OD matrix and no observed time-of-day profile. Destinations are drawn uniformly from the building stock and departure hours from a fixed weight list. Volume and spatial spread are fitted to observed counts; travel patterns are not.</a:t>
            </a:r>
          </a:p>
          <a:p>
            <a:r>
              <a:rPr lang="en-US" dirty="0"/>
              <a:t>The structural one: all 1,500 CBD-bound agents are multi-stop, 3.76 destinations each, and declining the charge used to deactivate the whole agent. Fixed on 29 July 2026, but every number here predates the fix. The k-factor sweep re-grades identical traffic, so it never tested this.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microsoft.com/office/2007/relationships/media" Target="../media/media1.mov"/><Relationship Id="rId2" Type="http://schemas.openxmlformats.org/officeDocument/2006/relationships/video" Target="../media/media1.mov"/><Relationship Id="rId3"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4.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agent_composition.png"/><Relationship Id="rId3"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alibration_scope.png"/><Relationship Id="rId3"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demand_profile.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7490"/>
          </a:solidFill>
          <a:ln w="12700">
            <a:solidFill>
              <a:srgbClr val="0E7490"/>
            </a:solidFill>
            <a:prstDash val="solid"/>
          </a:ln>
        </p:spPr>
        <p:txBody>
          <a:bodyPr/>
          <a:lstStyle/>
          <a:p>
            <a:endParaRPr lang="en-GB"/>
          </a:p>
        </p:txBody>
      </p:sp>
      <p:sp>
        <p:nvSpPr>
          <p:cNvPr id="3" name="Shape 1"/>
          <p:cNvSpPr/>
          <p:nvPr/>
        </p:nvSpPr>
        <p:spPr>
          <a:xfrm>
            <a:off x="6675120" y="274320"/>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4" name="Shape 2"/>
          <p:cNvSpPr/>
          <p:nvPr/>
        </p:nvSpPr>
        <p:spPr>
          <a:xfrm>
            <a:off x="7022592" y="274320"/>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5" name="Shape 3"/>
          <p:cNvSpPr/>
          <p:nvPr/>
        </p:nvSpPr>
        <p:spPr>
          <a:xfrm>
            <a:off x="7370064" y="274320"/>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6" name="Shape 4"/>
          <p:cNvSpPr/>
          <p:nvPr/>
        </p:nvSpPr>
        <p:spPr>
          <a:xfrm>
            <a:off x="7717536" y="274320"/>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7" name="Shape 5"/>
          <p:cNvSpPr/>
          <p:nvPr/>
        </p:nvSpPr>
        <p:spPr>
          <a:xfrm>
            <a:off x="8065008" y="274320"/>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8" name="Shape 6"/>
          <p:cNvSpPr/>
          <p:nvPr/>
        </p:nvSpPr>
        <p:spPr>
          <a:xfrm>
            <a:off x="8412480" y="274320"/>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9" name="Shape 7"/>
          <p:cNvSpPr/>
          <p:nvPr/>
        </p:nvSpPr>
        <p:spPr>
          <a:xfrm>
            <a:off x="6675120" y="621792"/>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10" name="Shape 8"/>
          <p:cNvSpPr/>
          <p:nvPr/>
        </p:nvSpPr>
        <p:spPr>
          <a:xfrm>
            <a:off x="7022592" y="621792"/>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11" name="Shape 9"/>
          <p:cNvSpPr/>
          <p:nvPr/>
        </p:nvSpPr>
        <p:spPr>
          <a:xfrm>
            <a:off x="7370064" y="621792"/>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12" name="Shape 10"/>
          <p:cNvSpPr/>
          <p:nvPr/>
        </p:nvSpPr>
        <p:spPr>
          <a:xfrm>
            <a:off x="7717536" y="621792"/>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13" name="Shape 11"/>
          <p:cNvSpPr/>
          <p:nvPr/>
        </p:nvSpPr>
        <p:spPr>
          <a:xfrm>
            <a:off x="8065008" y="621792"/>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14" name="Shape 12"/>
          <p:cNvSpPr/>
          <p:nvPr/>
        </p:nvSpPr>
        <p:spPr>
          <a:xfrm>
            <a:off x="8412480" y="621792"/>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15" name="Shape 13"/>
          <p:cNvSpPr/>
          <p:nvPr/>
        </p:nvSpPr>
        <p:spPr>
          <a:xfrm>
            <a:off x="6675120" y="969264"/>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16" name="Shape 14"/>
          <p:cNvSpPr/>
          <p:nvPr/>
        </p:nvSpPr>
        <p:spPr>
          <a:xfrm>
            <a:off x="7022592" y="969264"/>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17" name="Shape 15"/>
          <p:cNvSpPr/>
          <p:nvPr/>
        </p:nvSpPr>
        <p:spPr>
          <a:xfrm>
            <a:off x="7370064" y="969264"/>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18" name="Shape 16"/>
          <p:cNvSpPr/>
          <p:nvPr/>
        </p:nvSpPr>
        <p:spPr>
          <a:xfrm>
            <a:off x="7717536" y="969264"/>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19" name="Shape 17"/>
          <p:cNvSpPr/>
          <p:nvPr/>
        </p:nvSpPr>
        <p:spPr>
          <a:xfrm>
            <a:off x="8065008" y="969264"/>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20" name="Shape 18"/>
          <p:cNvSpPr/>
          <p:nvPr/>
        </p:nvSpPr>
        <p:spPr>
          <a:xfrm>
            <a:off x="8412480" y="969264"/>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21" name="Shape 19"/>
          <p:cNvSpPr/>
          <p:nvPr/>
        </p:nvSpPr>
        <p:spPr>
          <a:xfrm>
            <a:off x="6675120" y="1316736"/>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22" name="Shape 20"/>
          <p:cNvSpPr/>
          <p:nvPr/>
        </p:nvSpPr>
        <p:spPr>
          <a:xfrm>
            <a:off x="7022592" y="1316736"/>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23" name="Shape 21"/>
          <p:cNvSpPr/>
          <p:nvPr/>
        </p:nvSpPr>
        <p:spPr>
          <a:xfrm>
            <a:off x="7370064" y="1316736"/>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24" name="Shape 22"/>
          <p:cNvSpPr/>
          <p:nvPr/>
        </p:nvSpPr>
        <p:spPr>
          <a:xfrm>
            <a:off x="7717536" y="1316736"/>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25" name="Shape 23"/>
          <p:cNvSpPr/>
          <p:nvPr/>
        </p:nvSpPr>
        <p:spPr>
          <a:xfrm>
            <a:off x="8065008" y="1316736"/>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26" name="Shape 24"/>
          <p:cNvSpPr/>
          <p:nvPr/>
        </p:nvSpPr>
        <p:spPr>
          <a:xfrm>
            <a:off x="8412480" y="1316736"/>
            <a:ext cx="73152" cy="73152"/>
          </a:xfrm>
          <a:prstGeom prst="ellipse">
            <a:avLst/>
          </a:prstGeom>
          <a:solidFill>
            <a:srgbClr val="0E7490">
              <a:alpha val="40000"/>
            </a:srgbClr>
          </a:solidFill>
          <a:ln w="12700">
            <a:solidFill>
              <a:srgbClr val="0E7490">
                <a:alpha val="40000"/>
              </a:srgbClr>
            </a:solidFill>
            <a:prstDash val="solid"/>
          </a:ln>
        </p:spPr>
        <p:txBody>
          <a:bodyPr/>
          <a:lstStyle/>
          <a:p>
            <a:endParaRPr lang="en-GB"/>
          </a:p>
        </p:txBody>
      </p:sp>
      <p:sp>
        <p:nvSpPr>
          <p:cNvPr id="27" name="Text 25"/>
          <p:cNvSpPr/>
          <p:nvPr/>
        </p:nvSpPr>
        <p:spPr>
          <a:xfrm>
            <a:off x="365760" y="1005840"/>
            <a:ext cx="8412480" cy="868680"/>
          </a:xfrm>
          <a:prstGeom prst="rect">
            <a:avLst/>
          </a:prstGeom>
          <a:noFill/>
          <a:ln/>
        </p:spPr>
        <p:txBody>
          <a:bodyPr wrap="square" lIns="0" tIns="0" rIns="0" bIns="0"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Pay, Oscillate, or Learn?</a:t>
            </a:r>
            <a:endParaRPr lang="en-US" sz="3800" dirty="0"/>
          </a:p>
        </p:txBody>
      </p:sp>
      <p:sp>
        <p:nvSpPr>
          <p:cNvPr id="28" name="Text 26"/>
          <p:cNvSpPr/>
          <p:nvPr/>
        </p:nvSpPr>
        <p:spPr>
          <a:xfrm>
            <a:off x="365760" y="1828800"/>
            <a:ext cx="8412480" cy="548640"/>
          </a:xfrm>
          <a:prstGeom prst="rect">
            <a:avLst/>
          </a:prstGeom>
          <a:noFill/>
          <a:ln/>
        </p:spPr>
        <p:txBody>
          <a:bodyPr wrap="square" lIns="0" tIns="0" rIns="0" bIns="0" rtlCol="0" anchor="ctr"/>
          <a:lstStyle/>
          <a:p>
            <a:pPr marL="0" indent="0" algn="l">
              <a:buNone/>
            </a:pPr>
            <a:r>
              <a:rPr lang="en-US" sz="2000" dirty="0">
                <a:solidFill>
                  <a:srgbClr val="22D3EE"/>
                </a:solidFill>
                <a:latin typeface="Calibri" pitchFamily="34" charset="0"/>
                <a:ea typeface="Calibri" pitchFamily="34" charset="-122"/>
                <a:cs typeface="Calibri" pitchFamily="34" charset="-120"/>
              </a:rPr>
              <a:t>Three Agent Decision Rules under Congestion Pricing</a:t>
            </a:r>
            <a:endParaRPr lang="en-US" sz="2000" dirty="0"/>
          </a:p>
        </p:txBody>
      </p:sp>
      <p:sp>
        <p:nvSpPr>
          <p:cNvPr id="29" name="Shape 27"/>
          <p:cNvSpPr/>
          <p:nvPr/>
        </p:nvSpPr>
        <p:spPr>
          <a:xfrm>
            <a:off x="365760" y="2514600"/>
            <a:ext cx="4114800" cy="36576"/>
          </a:xfrm>
          <a:prstGeom prst="rect">
            <a:avLst/>
          </a:prstGeom>
          <a:solidFill>
            <a:srgbClr val="0E7490"/>
          </a:solidFill>
          <a:ln w="12700">
            <a:solidFill>
              <a:srgbClr val="0E7490"/>
            </a:solidFill>
            <a:prstDash val="solid"/>
          </a:ln>
        </p:spPr>
        <p:txBody>
          <a:bodyPr/>
          <a:lstStyle/>
          <a:p>
            <a:endParaRPr lang="en-GB"/>
          </a:p>
        </p:txBody>
      </p:sp>
      <p:sp>
        <p:nvSpPr>
          <p:cNvPr id="30" name="Text 28"/>
          <p:cNvSpPr/>
          <p:nvPr/>
        </p:nvSpPr>
        <p:spPr>
          <a:xfrm>
            <a:off x="365760" y="2651760"/>
            <a:ext cx="8412480" cy="320040"/>
          </a:xfrm>
          <a:prstGeom prst="rect">
            <a:avLst/>
          </a:prstGeom>
          <a:noFill/>
          <a:ln/>
        </p:spPr>
        <p:txBody>
          <a:bodyPr wrap="square" lIns="0" tIns="0" rIns="0" bIns="0" rtlCol="0" anchor="ctr"/>
          <a:lstStyle/>
          <a:p>
            <a:pPr marL="0" indent="0" algn="l">
              <a:buNone/>
            </a:pPr>
            <a:r>
              <a:rPr lang="en-US" sz="1400" dirty="0">
                <a:solidFill>
                  <a:srgbClr val="94A3B8"/>
                </a:solidFill>
                <a:latin typeface="Calibri" pitchFamily="34" charset="0"/>
                <a:ea typeface="Calibri" pitchFamily="34" charset="-122"/>
                <a:cs typeface="Calibri" pitchFamily="34" charset="-120"/>
              </a:rPr>
              <a:t>Social Simulation Conference 2026</a:t>
            </a:r>
            <a:endParaRPr lang="en-US" sz="1400" dirty="0"/>
          </a:p>
        </p:txBody>
      </p:sp>
      <p:sp>
        <p:nvSpPr>
          <p:cNvPr id="31" name="Text 29"/>
          <p:cNvSpPr/>
          <p:nvPr/>
        </p:nvSpPr>
        <p:spPr>
          <a:xfrm>
            <a:off x="365760" y="3017520"/>
            <a:ext cx="8412480" cy="320040"/>
          </a:xfrm>
          <a:prstGeom prst="rect">
            <a:avLst/>
          </a:prstGeom>
          <a:noFill/>
          <a:ln/>
        </p:spPr>
        <p:txBody>
          <a:bodyPr wrap="square" lIns="0" tIns="0" rIns="0" bIns="0" rtlCol="0" anchor="ctr"/>
          <a:lstStyle/>
          <a:p>
            <a:pPr marL="0" indent="0" algn="l">
              <a:buNone/>
            </a:pPr>
            <a:r>
              <a:rPr lang="en-US" sz="1300" dirty="0">
                <a:solidFill>
                  <a:srgbClr val="FFFFFF"/>
                </a:solidFill>
                <a:latin typeface="Calibri" pitchFamily="34" charset="0"/>
                <a:ea typeface="Calibri" pitchFamily="34" charset="-122"/>
                <a:cs typeface="Calibri" pitchFamily="34" charset="-120"/>
              </a:rPr>
              <a:t>Hyesop Shin   |   University of Auckland</a:t>
            </a:r>
            <a:endParaRPr lang="en-US" sz="1300" dirty="0"/>
          </a:p>
        </p:txBody>
      </p:sp>
      <p:sp>
        <p:nvSpPr>
          <p:cNvPr id="32" name="Shape 30"/>
          <p:cNvSpPr/>
          <p:nvPr/>
        </p:nvSpPr>
        <p:spPr>
          <a:xfrm>
            <a:off x="365760" y="4297680"/>
            <a:ext cx="1417320" cy="347472"/>
          </a:xfrm>
          <a:prstGeom prst="roundRect">
            <a:avLst>
              <a:gd name="adj" fmla="val 13158"/>
            </a:avLst>
          </a:prstGeom>
          <a:solidFill>
            <a:srgbClr val="0E7490">
              <a:alpha val="45000"/>
            </a:srgbClr>
          </a:solidFill>
          <a:ln w="12700">
            <a:solidFill>
              <a:srgbClr val="0E7490"/>
            </a:solidFill>
            <a:prstDash val="solid"/>
          </a:ln>
        </p:spPr>
        <p:txBody>
          <a:bodyPr/>
          <a:lstStyle/>
          <a:p>
            <a:endParaRPr lang="en-GB"/>
          </a:p>
        </p:txBody>
      </p:sp>
      <p:sp>
        <p:nvSpPr>
          <p:cNvPr id="33" name="Text 31"/>
          <p:cNvSpPr/>
          <p:nvPr/>
        </p:nvSpPr>
        <p:spPr>
          <a:xfrm>
            <a:off x="365760" y="4297680"/>
            <a:ext cx="141732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Agent-Based Modelling</a:t>
            </a:r>
            <a:endParaRPr lang="en-US" sz="950" dirty="0"/>
          </a:p>
        </p:txBody>
      </p:sp>
      <p:sp>
        <p:nvSpPr>
          <p:cNvPr id="34" name="Shape 32"/>
          <p:cNvSpPr/>
          <p:nvPr/>
        </p:nvSpPr>
        <p:spPr>
          <a:xfrm>
            <a:off x="1892808" y="4297680"/>
            <a:ext cx="1417320" cy="347472"/>
          </a:xfrm>
          <a:prstGeom prst="roundRect">
            <a:avLst>
              <a:gd name="adj" fmla="val 13158"/>
            </a:avLst>
          </a:prstGeom>
          <a:solidFill>
            <a:srgbClr val="0E7490">
              <a:alpha val="45000"/>
            </a:srgbClr>
          </a:solidFill>
          <a:ln w="12700">
            <a:solidFill>
              <a:srgbClr val="0E7490"/>
            </a:solidFill>
            <a:prstDash val="solid"/>
          </a:ln>
        </p:spPr>
        <p:txBody>
          <a:bodyPr/>
          <a:lstStyle/>
          <a:p>
            <a:endParaRPr lang="en-GB"/>
          </a:p>
        </p:txBody>
      </p:sp>
      <p:sp>
        <p:nvSpPr>
          <p:cNvPr id="35" name="Text 33"/>
          <p:cNvSpPr/>
          <p:nvPr/>
        </p:nvSpPr>
        <p:spPr>
          <a:xfrm>
            <a:off x="1892808" y="4297680"/>
            <a:ext cx="141732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Q-Learning</a:t>
            </a:r>
            <a:endParaRPr lang="en-US" sz="950" dirty="0"/>
          </a:p>
        </p:txBody>
      </p:sp>
      <p:sp>
        <p:nvSpPr>
          <p:cNvPr id="36" name="Shape 34"/>
          <p:cNvSpPr/>
          <p:nvPr/>
        </p:nvSpPr>
        <p:spPr>
          <a:xfrm>
            <a:off x="3419856" y="4297680"/>
            <a:ext cx="1417320" cy="347472"/>
          </a:xfrm>
          <a:prstGeom prst="roundRect">
            <a:avLst>
              <a:gd name="adj" fmla="val 13158"/>
            </a:avLst>
          </a:prstGeom>
          <a:solidFill>
            <a:srgbClr val="0E7490">
              <a:alpha val="45000"/>
            </a:srgbClr>
          </a:solidFill>
          <a:ln w="12700">
            <a:solidFill>
              <a:srgbClr val="0E7490"/>
            </a:solidFill>
            <a:prstDash val="solid"/>
          </a:ln>
        </p:spPr>
        <p:txBody>
          <a:bodyPr/>
          <a:lstStyle/>
          <a:p>
            <a:endParaRPr lang="en-GB"/>
          </a:p>
        </p:txBody>
      </p:sp>
      <p:sp>
        <p:nvSpPr>
          <p:cNvPr id="37" name="Text 35"/>
          <p:cNvSpPr/>
          <p:nvPr/>
        </p:nvSpPr>
        <p:spPr>
          <a:xfrm>
            <a:off x="3419856" y="4297680"/>
            <a:ext cx="141732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El Farol</a:t>
            </a:r>
            <a:endParaRPr lang="en-US" sz="950" dirty="0"/>
          </a:p>
        </p:txBody>
      </p:sp>
      <p:sp>
        <p:nvSpPr>
          <p:cNvPr id="38" name="Shape 36"/>
          <p:cNvSpPr/>
          <p:nvPr/>
        </p:nvSpPr>
        <p:spPr>
          <a:xfrm>
            <a:off x="4946904" y="4297680"/>
            <a:ext cx="1417320" cy="347472"/>
          </a:xfrm>
          <a:prstGeom prst="roundRect">
            <a:avLst>
              <a:gd name="adj" fmla="val 13158"/>
            </a:avLst>
          </a:prstGeom>
          <a:solidFill>
            <a:srgbClr val="0E7490">
              <a:alpha val="45000"/>
            </a:srgbClr>
          </a:solidFill>
          <a:ln w="12700">
            <a:solidFill>
              <a:srgbClr val="0E7490"/>
            </a:solidFill>
            <a:prstDash val="solid"/>
          </a:ln>
        </p:spPr>
        <p:txBody>
          <a:bodyPr/>
          <a:lstStyle/>
          <a:p>
            <a:endParaRPr lang="en-GB"/>
          </a:p>
        </p:txBody>
      </p:sp>
      <p:sp>
        <p:nvSpPr>
          <p:cNvPr id="39" name="Text 37"/>
          <p:cNvSpPr/>
          <p:nvPr/>
        </p:nvSpPr>
        <p:spPr>
          <a:xfrm>
            <a:off x="4946904" y="4297680"/>
            <a:ext cx="141732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Auckland CBD</a:t>
            </a:r>
            <a:endParaRPr lang="en-US" sz="950" dirty="0"/>
          </a:p>
        </p:txBody>
      </p:sp>
      <p:sp>
        <p:nvSpPr>
          <p:cNvPr id="40" name="Shape 38"/>
          <p:cNvSpPr/>
          <p:nvPr/>
        </p:nvSpPr>
        <p:spPr>
          <a:xfrm>
            <a:off x="6473952" y="4297680"/>
            <a:ext cx="1417320" cy="347472"/>
          </a:xfrm>
          <a:prstGeom prst="roundRect">
            <a:avLst>
              <a:gd name="adj" fmla="val 13158"/>
            </a:avLst>
          </a:prstGeom>
          <a:solidFill>
            <a:srgbClr val="0E7490">
              <a:alpha val="45000"/>
            </a:srgbClr>
          </a:solidFill>
          <a:ln w="12700">
            <a:solidFill>
              <a:srgbClr val="0E7490"/>
            </a:solidFill>
            <a:prstDash val="solid"/>
          </a:ln>
        </p:spPr>
        <p:txBody>
          <a:bodyPr/>
          <a:lstStyle/>
          <a:p>
            <a:endParaRPr lang="en-GB"/>
          </a:p>
        </p:txBody>
      </p:sp>
      <p:sp>
        <p:nvSpPr>
          <p:cNvPr id="41" name="Text 39"/>
          <p:cNvSpPr/>
          <p:nvPr/>
        </p:nvSpPr>
        <p:spPr>
          <a:xfrm>
            <a:off x="6473952" y="4297680"/>
            <a:ext cx="141732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ToU Pricing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137"/>
          </a:solidFill>
          <a:ln w="12700">
            <a:solidFill>
              <a:srgbClr val="0D2137"/>
            </a:solidFill>
            <a:prstDash val="solid"/>
          </a:ln>
        </p:spPr>
        <p:txBody>
          <a:bodyPr/>
          <a:lstStyle/>
          <a:p>
            <a:endParaRPr lang="en-GB"/>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Does the Behavioural Assumption Matter?</a:t>
            </a:r>
            <a:endParaRPr lang="en-US" sz="2200" dirty="0"/>
          </a:p>
        </p:txBody>
      </p:sp>
      <p:sp>
        <p:nvSpPr>
          <p:cNvPr id="4" name="Shape 2"/>
          <p:cNvSpPr/>
          <p:nvPr/>
        </p:nvSpPr>
        <p:spPr>
          <a:xfrm>
            <a:off x="274320" y="1051560"/>
            <a:ext cx="2834640" cy="3657600"/>
          </a:xfrm>
          <a:prstGeom prst="rect">
            <a:avLst/>
          </a:prstGeom>
          <a:solidFill>
            <a:srgbClr val="FFFFFF"/>
          </a:solidFill>
          <a:ln w="12700">
            <a:solidFill>
              <a:srgbClr val="CBD5E1"/>
            </a:solidFill>
            <a:prstDash val="solid"/>
          </a:ln>
          <a:effectLst>
            <a:outerShdw blurRad="101600" dist="38100" dir="8100000" algn="bl" rotWithShape="0">
              <a:srgbClr val="000000">
                <a:alpha val="18000"/>
              </a:srgbClr>
            </a:outerShdw>
          </a:effectLst>
        </p:spPr>
        <p:txBody>
          <a:bodyPr/>
          <a:lstStyle/>
          <a:p>
            <a:endParaRPr lang="en-GB"/>
          </a:p>
        </p:txBody>
      </p:sp>
      <p:sp>
        <p:nvSpPr>
          <p:cNvPr id="5" name="Shape 3"/>
          <p:cNvSpPr/>
          <p:nvPr/>
        </p:nvSpPr>
        <p:spPr>
          <a:xfrm>
            <a:off x="274320" y="1051560"/>
            <a:ext cx="2834640" cy="54864"/>
          </a:xfrm>
          <a:prstGeom prst="rect">
            <a:avLst/>
          </a:prstGeom>
          <a:solidFill>
            <a:srgbClr val="0E7490"/>
          </a:solidFill>
          <a:ln w="12700">
            <a:solidFill>
              <a:srgbClr val="0E7490"/>
            </a:solidFill>
            <a:prstDash val="solid"/>
          </a:ln>
        </p:spPr>
        <p:txBody>
          <a:bodyPr/>
          <a:lstStyle/>
          <a:p>
            <a:endParaRPr lang="en-GB"/>
          </a:p>
        </p:txBody>
      </p:sp>
      <p:sp>
        <p:nvSpPr>
          <p:cNvPr id="6" name="Text 4"/>
          <p:cNvSpPr/>
          <p:nvPr/>
        </p:nvSpPr>
        <p:spPr>
          <a:xfrm>
            <a:off x="274320" y="1188720"/>
            <a:ext cx="283464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7" name="Text 5"/>
          <p:cNvSpPr/>
          <p:nvPr/>
        </p:nvSpPr>
        <p:spPr>
          <a:xfrm>
            <a:off x="438912" y="1874520"/>
            <a:ext cx="2505456" cy="411480"/>
          </a:xfrm>
          <a:prstGeom prst="rect">
            <a:avLst/>
          </a:prstGeom>
          <a:noFill/>
          <a:ln/>
        </p:spPr>
        <p:txBody>
          <a:bodyPr wrap="square" lIns="0" tIns="0" rIns="0" bIns="0" rtlCol="0" anchor="ctr"/>
          <a:lstStyle/>
          <a:p>
            <a:pPr marL="0" indent="0" algn="l">
              <a:buNone/>
            </a:pPr>
            <a:r>
              <a:rPr lang="en-US" sz="1350" b="1" dirty="0">
                <a:solidFill>
                  <a:srgbClr val="0D2137"/>
                </a:solidFill>
                <a:latin typeface="Calibri" pitchFamily="34" charset="0"/>
                <a:ea typeface="Calibri" pitchFamily="34" charset="-122"/>
                <a:cs typeface="Calibri" pitchFamily="34" charset="-120"/>
              </a:rPr>
              <a:t>Auckland's Context</a:t>
            </a:r>
            <a:endParaRPr lang="en-US" sz="1350" dirty="0"/>
          </a:p>
        </p:txBody>
      </p:sp>
      <p:sp>
        <p:nvSpPr>
          <p:cNvPr id="8" name="Text 6"/>
          <p:cNvSpPr/>
          <p:nvPr/>
        </p:nvSpPr>
        <p:spPr>
          <a:xfrm>
            <a:off x="438912" y="2331720"/>
            <a:ext cx="2505456" cy="2194560"/>
          </a:xfrm>
          <a:prstGeom prst="rect">
            <a:avLst/>
          </a:prstGeom>
          <a:noFill/>
          <a:ln/>
        </p:spPr>
        <p:txBody>
          <a:bodyPr wrap="square" lIns="0" tIns="0" rIns="0" bIns="0" rtlCol="0" anchor="t"/>
          <a:lstStyle/>
          <a:p>
            <a:pPr marL="0" indent="0" algn="l">
              <a:buNone/>
            </a:pPr>
            <a:r>
              <a:rPr lang="en-US" sz="1150" dirty="0">
                <a:solidFill>
                  <a:srgbClr val="334155"/>
                </a:solidFill>
                <a:latin typeface="Calibri" pitchFamily="34" charset="0"/>
                <a:ea typeface="Calibri" pitchFamily="34" charset="-122"/>
                <a:cs typeface="Calibri" pitchFamily="34" charset="-120"/>
              </a:rPr>
              <a:t>Congestion costs NZ$2.6B/yr. Time-of-Use (ToU) charging legislation passed Nov 2025. CBD cordon launch expected alongside City Rail Link.</a:t>
            </a:r>
            <a:endParaRPr lang="en-US" sz="1150" dirty="0"/>
          </a:p>
        </p:txBody>
      </p:sp>
      <p:sp>
        <p:nvSpPr>
          <p:cNvPr id="9" name="Shape 7"/>
          <p:cNvSpPr/>
          <p:nvPr/>
        </p:nvSpPr>
        <p:spPr>
          <a:xfrm>
            <a:off x="3246120" y="1051560"/>
            <a:ext cx="2834640" cy="3657600"/>
          </a:xfrm>
          <a:prstGeom prst="rect">
            <a:avLst/>
          </a:prstGeom>
          <a:solidFill>
            <a:srgbClr val="FFFFFF"/>
          </a:solidFill>
          <a:ln w="12700">
            <a:solidFill>
              <a:srgbClr val="CBD5E1"/>
            </a:solidFill>
            <a:prstDash val="solid"/>
          </a:ln>
          <a:effectLst>
            <a:outerShdw blurRad="101600" dist="38100" dir="8100000" algn="bl" rotWithShape="0">
              <a:srgbClr val="000000">
                <a:alpha val="18000"/>
              </a:srgbClr>
            </a:outerShdw>
          </a:effectLst>
        </p:spPr>
        <p:txBody>
          <a:bodyPr/>
          <a:lstStyle/>
          <a:p>
            <a:endParaRPr lang="en-GB"/>
          </a:p>
        </p:txBody>
      </p:sp>
      <p:sp>
        <p:nvSpPr>
          <p:cNvPr id="10" name="Shape 8"/>
          <p:cNvSpPr/>
          <p:nvPr/>
        </p:nvSpPr>
        <p:spPr>
          <a:xfrm>
            <a:off x="3246120" y="1051560"/>
            <a:ext cx="2834640" cy="54864"/>
          </a:xfrm>
          <a:prstGeom prst="rect">
            <a:avLst/>
          </a:prstGeom>
          <a:solidFill>
            <a:srgbClr val="0E7490"/>
          </a:solidFill>
          <a:ln w="12700">
            <a:solidFill>
              <a:srgbClr val="0E7490"/>
            </a:solidFill>
            <a:prstDash val="solid"/>
          </a:ln>
        </p:spPr>
        <p:txBody>
          <a:bodyPr/>
          <a:lstStyle/>
          <a:p>
            <a:endParaRPr lang="en-GB"/>
          </a:p>
        </p:txBody>
      </p:sp>
      <p:sp>
        <p:nvSpPr>
          <p:cNvPr id="11" name="Text 9"/>
          <p:cNvSpPr/>
          <p:nvPr/>
        </p:nvSpPr>
        <p:spPr>
          <a:xfrm>
            <a:off x="3246120" y="1188720"/>
            <a:ext cx="283464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3410712" y="1874520"/>
            <a:ext cx="2505456" cy="411480"/>
          </a:xfrm>
          <a:prstGeom prst="rect">
            <a:avLst/>
          </a:prstGeom>
          <a:noFill/>
          <a:ln/>
        </p:spPr>
        <p:txBody>
          <a:bodyPr wrap="square" lIns="0" tIns="0" rIns="0" bIns="0" rtlCol="0" anchor="ctr"/>
          <a:lstStyle/>
          <a:p>
            <a:pPr marL="0" indent="0" algn="l">
              <a:buNone/>
            </a:pPr>
            <a:r>
              <a:rPr lang="en-US" sz="1350" b="1" dirty="0">
                <a:solidFill>
                  <a:srgbClr val="0D2137"/>
                </a:solidFill>
                <a:latin typeface="Calibri" pitchFamily="34" charset="0"/>
                <a:ea typeface="Calibri" pitchFamily="34" charset="-122"/>
                <a:cs typeface="Calibri" pitchFamily="34" charset="-120"/>
              </a:rPr>
              <a:t>The Gap</a:t>
            </a:r>
            <a:endParaRPr lang="en-US" sz="1350" dirty="0"/>
          </a:p>
        </p:txBody>
      </p:sp>
      <p:sp>
        <p:nvSpPr>
          <p:cNvPr id="13" name="Text 11"/>
          <p:cNvSpPr/>
          <p:nvPr/>
        </p:nvSpPr>
        <p:spPr>
          <a:xfrm>
            <a:off x="3410712" y="2331720"/>
            <a:ext cx="2505456" cy="2194560"/>
          </a:xfrm>
          <a:prstGeom prst="rect">
            <a:avLst/>
          </a:prstGeom>
          <a:noFill/>
          <a:ln/>
        </p:spPr>
        <p:txBody>
          <a:bodyPr wrap="square" lIns="0" tIns="0" rIns="0" bIns="0" rtlCol="0" anchor="t"/>
          <a:lstStyle/>
          <a:p>
            <a:pPr marL="0" indent="0" algn="l">
              <a:buNone/>
            </a:pPr>
            <a:r>
              <a:rPr lang="en-US" sz="1150" dirty="0">
                <a:solidFill>
                  <a:srgbClr val="334155"/>
                </a:solidFill>
                <a:latin typeface="Calibri" pitchFamily="34" charset="0"/>
                <a:ea typeface="Calibri" pitchFamily="34" charset="-122"/>
                <a:cs typeface="Calibri" pitchFamily="34" charset="-120"/>
              </a:rPr>
              <a:t>Most models ask 'how much will traffic fall?' — but behavioural assumptions drive whether congestion shifts in time, in space, or not at all.</a:t>
            </a:r>
            <a:endParaRPr lang="en-US" sz="1150" dirty="0"/>
          </a:p>
        </p:txBody>
      </p:sp>
      <p:sp>
        <p:nvSpPr>
          <p:cNvPr id="14" name="Shape 12"/>
          <p:cNvSpPr/>
          <p:nvPr/>
        </p:nvSpPr>
        <p:spPr>
          <a:xfrm>
            <a:off x="6217920" y="1051560"/>
            <a:ext cx="2834640" cy="3657600"/>
          </a:xfrm>
          <a:prstGeom prst="rect">
            <a:avLst/>
          </a:prstGeom>
          <a:solidFill>
            <a:srgbClr val="FFFFFF"/>
          </a:solidFill>
          <a:ln w="12700">
            <a:solidFill>
              <a:srgbClr val="CBD5E1"/>
            </a:solidFill>
            <a:prstDash val="solid"/>
          </a:ln>
          <a:effectLst>
            <a:outerShdw blurRad="101600" dist="38100" dir="8100000" algn="bl" rotWithShape="0">
              <a:srgbClr val="000000">
                <a:alpha val="18000"/>
              </a:srgbClr>
            </a:outerShdw>
          </a:effectLst>
        </p:spPr>
        <p:txBody>
          <a:bodyPr/>
          <a:lstStyle/>
          <a:p>
            <a:endParaRPr lang="en-GB"/>
          </a:p>
        </p:txBody>
      </p:sp>
      <p:sp>
        <p:nvSpPr>
          <p:cNvPr id="15" name="Shape 13"/>
          <p:cNvSpPr/>
          <p:nvPr/>
        </p:nvSpPr>
        <p:spPr>
          <a:xfrm>
            <a:off x="6217920" y="1051560"/>
            <a:ext cx="2834640" cy="54864"/>
          </a:xfrm>
          <a:prstGeom prst="rect">
            <a:avLst/>
          </a:prstGeom>
          <a:solidFill>
            <a:srgbClr val="0E7490"/>
          </a:solidFill>
          <a:ln w="12700">
            <a:solidFill>
              <a:srgbClr val="0E7490"/>
            </a:solidFill>
            <a:prstDash val="solid"/>
          </a:ln>
        </p:spPr>
        <p:txBody>
          <a:bodyPr/>
          <a:lstStyle/>
          <a:p>
            <a:endParaRPr lang="en-GB"/>
          </a:p>
        </p:txBody>
      </p:sp>
      <p:sp>
        <p:nvSpPr>
          <p:cNvPr id="16" name="Text 14"/>
          <p:cNvSpPr/>
          <p:nvPr/>
        </p:nvSpPr>
        <p:spPr>
          <a:xfrm>
            <a:off x="6217920" y="1188720"/>
            <a:ext cx="283464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6382512" y="1874520"/>
            <a:ext cx="2505456" cy="411480"/>
          </a:xfrm>
          <a:prstGeom prst="rect">
            <a:avLst/>
          </a:prstGeom>
          <a:noFill/>
          <a:ln/>
        </p:spPr>
        <p:txBody>
          <a:bodyPr wrap="square" lIns="0" tIns="0" rIns="0" bIns="0" rtlCol="0" anchor="ctr"/>
          <a:lstStyle/>
          <a:p>
            <a:pPr marL="0" indent="0" algn="l">
              <a:buNone/>
            </a:pPr>
            <a:r>
              <a:rPr lang="en-US" sz="1350" b="1" dirty="0">
                <a:solidFill>
                  <a:srgbClr val="0D2137"/>
                </a:solidFill>
                <a:latin typeface="Calibri" pitchFamily="34" charset="0"/>
                <a:ea typeface="Calibri" pitchFamily="34" charset="-122"/>
                <a:cs typeface="Calibri" pitchFamily="34" charset="-120"/>
              </a:rPr>
              <a:t>Our Approach</a:t>
            </a:r>
            <a:endParaRPr lang="en-US" sz="1350" dirty="0"/>
          </a:p>
        </p:txBody>
      </p:sp>
      <p:sp>
        <p:nvSpPr>
          <p:cNvPr id="18" name="Text 16"/>
          <p:cNvSpPr/>
          <p:nvPr/>
        </p:nvSpPr>
        <p:spPr>
          <a:xfrm>
            <a:off x="6382512" y="2331720"/>
            <a:ext cx="2505456" cy="2194560"/>
          </a:xfrm>
          <a:prstGeom prst="rect">
            <a:avLst/>
          </a:prstGeom>
          <a:noFill/>
          <a:ln/>
        </p:spPr>
        <p:txBody>
          <a:bodyPr wrap="square" lIns="0" tIns="0" rIns="0" bIns="0" rtlCol="0" anchor="t"/>
          <a:lstStyle/>
          <a:p>
            <a:pPr marL="0" indent="0" algn="l">
              <a:buNone/>
            </a:pPr>
            <a:r>
              <a:rPr lang="en-US" sz="1150" dirty="0">
                <a:solidFill>
                  <a:srgbClr val="334155"/>
                </a:solidFill>
                <a:latin typeface="Calibri" pitchFamily="34" charset="0"/>
                <a:ea typeface="Calibri" pitchFamily="34" charset="-122"/>
                <a:cs typeface="Calibri" pitchFamily="34" charset="-120"/>
              </a:rPr>
              <a:t>ABM with 2,500 heterogeneous agents (1 agent = 160 vehicles, calibrated to observed daily counts), Auckland CBD road network. Three decision rules, same pricing environment, same LoS measurement.</a:t>
            </a:r>
            <a:endParaRPr lang="en-US" sz="1150" dirty="0"/>
          </a:p>
        </p:txBody>
      </p:sp>
      <p:sp>
        <p:nvSpPr>
          <p:cNvPr id="19" name="Text 17"/>
          <p:cNvSpPr/>
          <p:nvPr/>
        </p:nvSpPr>
        <p:spPr>
          <a:xfrm>
            <a:off x="274320" y="4800600"/>
            <a:ext cx="8595360" cy="274320"/>
          </a:xfrm>
          <a:prstGeom prst="rect">
            <a:avLst/>
          </a:prstGeom>
          <a:noFill/>
          <a:ln/>
        </p:spPr>
        <p:txBody>
          <a:bodyPr wrap="square" lIns="0" tIns="0" rIns="0" bIns="0" rtlCol="0" anchor="ctr"/>
          <a:lstStyle/>
          <a:p>
            <a:pPr marL="0" indent="0" algn="l">
              <a:buNone/>
            </a:pPr>
            <a:r>
              <a:rPr lang="en-US" sz="1000" i="1" dirty="0">
                <a:solidFill>
                  <a:srgbClr val="0E7490"/>
                </a:solidFill>
                <a:latin typeface="Calibri" pitchFamily="34" charset="0"/>
                <a:ea typeface="Calibri" pitchFamily="34" charset="-122"/>
                <a:cs typeface="Calibri" pitchFamily="34" charset="-120"/>
              </a:rPr>
              <a:t>Research questions:  (1) How does decision rule choice affect V/C outcomes?   (2) Where does congestion shift spatially under ToU?</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137"/>
          </a:solidFill>
          <a:ln w="12700">
            <a:solidFill>
              <a:srgbClr val="0D2137"/>
            </a:solidFill>
            <a:prstDash val="solid"/>
          </a:ln>
        </p:spPr>
        <p:txBody>
          <a:bodyPr/>
          <a:lstStyle/>
          <a:p>
            <a:endParaRPr lang="en-GB"/>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Three Agent Decision Rules: A Rationality Spectrum</a:t>
            </a:r>
            <a:endParaRPr lang="en-US" sz="2200" dirty="0"/>
          </a:p>
        </p:txBody>
      </p:sp>
      <p:sp>
        <p:nvSpPr>
          <p:cNvPr id="4" name="Shape 2"/>
          <p:cNvSpPr/>
          <p:nvPr/>
        </p:nvSpPr>
        <p:spPr>
          <a:xfrm>
            <a:off x="457200" y="1097280"/>
            <a:ext cx="8229600" cy="164592"/>
          </a:xfrm>
          <a:prstGeom prst="rect">
            <a:avLst/>
          </a:prstGeom>
          <a:solidFill>
            <a:srgbClr val="CBD5E1"/>
          </a:solidFill>
          <a:ln w="12700">
            <a:solidFill>
              <a:srgbClr val="CBD5E1"/>
            </a:solidFill>
            <a:prstDash val="solid"/>
          </a:ln>
        </p:spPr>
        <p:txBody>
          <a:bodyPr/>
          <a:lstStyle/>
          <a:p>
            <a:endParaRPr lang="en-GB"/>
          </a:p>
        </p:txBody>
      </p:sp>
      <p:sp>
        <p:nvSpPr>
          <p:cNvPr id="5" name="Shape 3"/>
          <p:cNvSpPr/>
          <p:nvPr/>
        </p:nvSpPr>
        <p:spPr>
          <a:xfrm>
            <a:off x="1783080" y="1005840"/>
            <a:ext cx="347472" cy="347472"/>
          </a:xfrm>
          <a:prstGeom prst="ellipse">
            <a:avLst/>
          </a:prstGeom>
          <a:solidFill>
            <a:srgbClr val="F59E0B"/>
          </a:solidFill>
          <a:ln w="12700">
            <a:solidFill>
              <a:srgbClr val="F59E0B"/>
            </a:solidFill>
            <a:prstDash val="solid"/>
          </a:ln>
        </p:spPr>
        <p:txBody>
          <a:bodyPr/>
          <a:lstStyle/>
          <a:p>
            <a:endParaRPr lang="en-GB"/>
          </a:p>
        </p:txBody>
      </p:sp>
      <p:sp>
        <p:nvSpPr>
          <p:cNvPr id="6" name="Shape 4"/>
          <p:cNvSpPr/>
          <p:nvPr/>
        </p:nvSpPr>
        <p:spPr>
          <a:xfrm>
            <a:off x="4526280" y="1005840"/>
            <a:ext cx="347472" cy="347472"/>
          </a:xfrm>
          <a:prstGeom prst="ellipse">
            <a:avLst/>
          </a:prstGeom>
          <a:solidFill>
            <a:srgbClr val="F97316"/>
          </a:solidFill>
          <a:ln w="12700">
            <a:solidFill>
              <a:srgbClr val="F97316"/>
            </a:solidFill>
            <a:prstDash val="solid"/>
          </a:ln>
        </p:spPr>
        <p:txBody>
          <a:bodyPr/>
          <a:lstStyle/>
          <a:p>
            <a:endParaRPr lang="en-GB"/>
          </a:p>
        </p:txBody>
      </p:sp>
      <p:sp>
        <p:nvSpPr>
          <p:cNvPr id="7" name="Shape 5"/>
          <p:cNvSpPr/>
          <p:nvPr/>
        </p:nvSpPr>
        <p:spPr>
          <a:xfrm>
            <a:off x="7269480" y="1005840"/>
            <a:ext cx="347472" cy="347472"/>
          </a:xfrm>
          <a:prstGeom prst="ellipse">
            <a:avLst/>
          </a:prstGeom>
          <a:solidFill>
            <a:srgbClr val="10B981"/>
          </a:solidFill>
          <a:ln w="12700">
            <a:solidFill>
              <a:srgbClr val="10B981"/>
            </a:solidFill>
            <a:prstDash val="solid"/>
          </a:ln>
        </p:spPr>
        <p:txBody>
          <a:bodyPr/>
          <a:lstStyle/>
          <a:p>
            <a:endParaRPr lang="en-GB"/>
          </a:p>
        </p:txBody>
      </p:sp>
      <p:sp>
        <p:nvSpPr>
          <p:cNvPr id="8" name="Text 6"/>
          <p:cNvSpPr/>
          <p:nvPr/>
        </p:nvSpPr>
        <p:spPr>
          <a:xfrm>
            <a:off x="457200" y="1207008"/>
            <a:ext cx="2743200" cy="27432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 Static Rationality</a:t>
            </a:r>
            <a:endParaRPr lang="en-US" sz="900" dirty="0"/>
          </a:p>
        </p:txBody>
      </p:sp>
      <p:sp>
        <p:nvSpPr>
          <p:cNvPr id="9" name="Text 7"/>
          <p:cNvSpPr/>
          <p:nvPr/>
        </p:nvSpPr>
        <p:spPr>
          <a:xfrm>
            <a:off x="5669280" y="1207008"/>
            <a:ext cx="3017520" cy="274320"/>
          </a:xfrm>
          <a:prstGeom prst="rect">
            <a:avLst/>
          </a:prstGeom>
          <a:noFill/>
          <a:ln/>
        </p:spPr>
        <p:txBody>
          <a:bodyPr wrap="square" lIns="0" tIns="0" rIns="0" bIns="0" rtlCol="0" anchor="ctr"/>
          <a:lstStyle/>
          <a:p>
            <a:pPr marL="0" indent="0" algn="r">
              <a:buNone/>
            </a:pPr>
            <a:r>
              <a:rPr lang="en-US" sz="900" i="1" dirty="0">
                <a:solidFill>
                  <a:srgbClr val="94A3B8"/>
                </a:solidFill>
                <a:latin typeface="Calibri" pitchFamily="34" charset="0"/>
                <a:ea typeface="Calibri" pitchFamily="34" charset="-122"/>
                <a:cs typeface="Calibri" pitchFamily="34" charset="-120"/>
              </a:rPr>
              <a:t>Bounded Rationality with Learning →</a:t>
            </a:r>
            <a:endParaRPr lang="en-US" sz="900" dirty="0"/>
          </a:p>
        </p:txBody>
      </p:sp>
      <p:sp>
        <p:nvSpPr>
          <p:cNvPr id="10" name="Shape 8"/>
          <p:cNvSpPr/>
          <p:nvPr/>
        </p:nvSpPr>
        <p:spPr>
          <a:xfrm>
            <a:off x="256032" y="1463040"/>
            <a:ext cx="2816352" cy="3474720"/>
          </a:xfrm>
          <a:prstGeom prst="rect">
            <a:avLst/>
          </a:prstGeom>
          <a:solidFill>
            <a:srgbClr val="FFFFFF"/>
          </a:solidFill>
          <a:ln w="12700">
            <a:solidFill>
              <a:srgbClr val="CBD5E1"/>
            </a:solidFill>
            <a:prstDash val="solid"/>
          </a:ln>
          <a:effectLst>
            <a:outerShdw blurRad="101600" dist="38100" dir="8100000" algn="bl" rotWithShape="0">
              <a:srgbClr val="000000">
                <a:alpha val="18000"/>
              </a:srgbClr>
            </a:outerShdw>
          </a:effectLst>
        </p:spPr>
        <p:txBody>
          <a:bodyPr/>
          <a:lstStyle/>
          <a:p>
            <a:endParaRPr lang="en-GB"/>
          </a:p>
        </p:txBody>
      </p:sp>
      <p:sp>
        <p:nvSpPr>
          <p:cNvPr id="11" name="Shape 9"/>
          <p:cNvSpPr/>
          <p:nvPr/>
        </p:nvSpPr>
        <p:spPr>
          <a:xfrm>
            <a:off x="256032" y="1463040"/>
            <a:ext cx="82296" cy="3474720"/>
          </a:xfrm>
          <a:prstGeom prst="rect">
            <a:avLst/>
          </a:prstGeom>
          <a:solidFill>
            <a:srgbClr val="F59E0B"/>
          </a:solidFill>
          <a:ln w="12700">
            <a:solidFill>
              <a:srgbClr val="F59E0B"/>
            </a:solidFill>
            <a:prstDash val="solid"/>
          </a:ln>
        </p:spPr>
        <p:txBody>
          <a:bodyPr/>
          <a:lstStyle/>
          <a:p>
            <a:endParaRPr lang="en-GB"/>
          </a:p>
        </p:txBody>
      </p:sp>
      <p:sp>
        <p:nvSpPr>
          <p:cNvPr id="12" name="Text 10"/>
          <p:cNvSpPr/>
          <p:nvPr/>
        </p:nvSpPr>
        <p:spPr>
          <a:xfrm>
            <a:off x="420624" y="1536192"/>
            <a:ext cx="548640" cy="411480"/>
          </a:xfrm>
          <a:prstGeom prst="rect">
            <a:avLst/>
          </a:prstGeom>
          <a:noFill/>
          <a:ln/>
        </p:spPr>
        <p:txBody>
          <a:bodyPr wrap="square" lIns="0" tIns="0" rIns="0" bIns="0" rtlCol="0" anchor="ctr"/>
          <a:lstStyle/>
          <a:p>
            <a:pPr marL="0" indent="0">
              <a:buNone/>
            </a:pPr>
            <a:r>
              <a:rPr lang="en-US" sz="2200" b="1" dirty="0">
                <a:solidFill>
                  <a:srgbClr val="F59E0B"/>
                </a:solidFill>
                <a:latin typeface="Calibri" pitchFamily="34" charset="0"/>
                <a:ea typeface="Calibri" pitchFamily="34" charset="-122"/>
                <a:cs typeface="Calibri" pitchFamily="34" charset="-120"/>
              </a:rPr>
              <a:t>01</a:t>
            </a:r>
            <a:endParaRPr lang="en-US" sz="2200" dirty="0"/>
          </a:p>
        </p:txBody>
      </p:sp>
      <p:sp>
        <p:nvSpPr>
          <p:cNvPr id="13" name="Text 11"/>
          <p:cNvSpPr/>
          <p:nvPr/>
        </p:nvSpPr>
        <p:spPr>
          <a:xfrm>
            <a:off x="420624" y="1938528"/>
            <a:ext cx="2542032" cy="347472"/>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Exponential Decay</a:t>
            </a:r>
            <a:endParaRPr lang="en-US" sz="1300" dirty="0"/>
          </a:p>
        </p:txBody>
      </p:sp>
      <p:sp>
        <p:nvSpPr>
          <p:cNvPr id="14" name="Text 12"/>
          <p:cNvSpPr/>
          <p:nvPr/>
        </p:nvSpPr>
        <p:spPr>
          <a:xfrm>
            <a:off x="420624" y="2286000"/>
            <a:ext cx="2542032" cy="256032"/>
          </a:xfrm>
          <a:prstGeom prst="rect">
            <a:avLst/>
          </a:prstGeom>
          <a:noFill/>
          <a:ln/>
        </p:spPr>
        <p:txBody>
          <a:bodyPr wrap="square" lIns="0" tIns="0" rIns="0" bIns="0" rtlCol="0" anchor="ctr"/>
          <a:lstStyle/>
          <a:p>
            <a:pPr marL="0" indent="0">
              <a:buNone/>
            </a:pPr>
            <a:r>
              <a:rPr lang="en-US" sz="950" i="1" dirty="0">
                <a:solidFill>
                  <a:srgbClr val="F59E0B"/>
                </a:solidFill>
                <a:latin typeface="Calibri" pitchFamily="34" charset="0"/>
                <a:ea typeface="Calibri" pitchFamily="34" charset="-122"/>
                <a:cs typeface="Calibri" pitchFamily="34" charset="-120"/>
              </a:rPr>
              <a:t>Static Rationality</a:t>
            </a:r>
            <a:endParaRPr lang="en-US" sz="950" dirty="0"/>
          </a:p>
        </p:txBody>
      </p:sp>
      <p:sp>
        <p:nvSpPr>
          <p:cNvPr id="15" name="Shape 13"/>
          <p:cNvSpPr/>
          <p:nvPr/>
        </p:nvSpPr>
        <p:spPr>
          <a:xfrm>
            <a:off x="384048" y="2578608"/>
            <a:ext cx="2578608" cy="384048"/>
          </a:xfrm>
          <a:prstGeom prst="rect">
            <a:avLst/>
          </a:prstGeom>
          <a:solidFill>
            <a:srgbClr val="0D2137"/>
          </a:solidFill>
          <a:ln w="12700">
            <a:solidFill>
              <a:srgbClr val="0D2137"/>
            </a:solidFill>
            <a:prstDash val="solid"/>
          </a:ln>
        </p:spPr>
        <p:txBody>
          <a:bodyPr/>
          <a:lstStyle/>
          <a:p>
            <a:endParaRPr lang="en-GB"/>
          </a:p>
        </p:txBody>
      </p:sp>
      <p:sp>
        <p:nvSpPr>
          <p:cNvPr id="16" name="Text 14"/>
          <p:cNvSpPr/>
          <p:nvPr/>
        </p:nvSpPr>
        <p:spPr>
          <a:xfrm>
            <a:off x="384048" y="2578608"/>
            <a:ext cx="2578608" cy="384048"/>
          </a:xfrm>
          <a:prstGeom prst="rect">
            <a:avLst/>
          </a:prstGeom>
          <a:noFill/>
          <a:ln/>
        </p:spPr>
        <p:txBody>
          <a:bodyPr wrap="square" lIns="25400" tIns="25400" rIns="25400" bIns="25400" rtlCol="0" anchor="ctr"/>
          <a:lstStyle/>
          <a:p>
            <a:pPr marL="0" indent="0" algn="ctr">
              <a:buNone/>
            </a:pPr>
            <a:r>
              <a:rPr lang="en-US" sz="850" dirty="0">
                <a:solidFill>
                  <a:srgbClr val="22D3EE"/>
                </a:solidFill>
                <a:latin typeface="Consolas" pitchFamily="34" charset="0"/>
                <a:ea typeface="Consolas" pitchFamily="34" charset="-122"/>
                <a:cs typeface="Consolas" pitchFamily="34" charset="-120"/>
              </a:rPr>
              <a:t>P(entry) = e^(–α · fee / VoT)</a:t>
            </a:r>
            <a:endParaRPr lang="en-US" sz="850" dirty="0"/>
          </a:p>
        </p:txBody>
      </p:sp>
      <p:sp>
        <p:nvSpPr>
          <p:cNvPr id="17" name="Text 15"/>
          <p:cNvSpPr/>
          <p:nvPr/>
        </p:nvSpPr>
        <p:spPr>
          <a:xfrm>
            <a:off x="420624" y="3035808"/>
            <a:ext cx="2542032" cy="1783080"/>
          </a:xfrm>
          <a:prstGeom prst="rect">
            <a:avLst/>
          </a:prstGeom>
          <a:noFill/>
          <a:ln/>
        </p:spPr>
        <p:txBody>
          <a:bodyPr wrap="square" lIns="0" tIns="0" rIns="0" bIns="0"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Entry probability declines with fee/VoT ratio</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No memory, no adaptation</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Standard equilibrium assumption</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Result: peak V/C −12% (fixed hour) to −26% (may reroute)</a:t>
            </a:r>
            <a:endParaRPr lang="en-US" sz="950" dirty="0"/>
          </a:p>
        </p:txBody>
      </p:sp>
      <p:sp>
        <p:nvSpPr>
          <p:cNvPr id="18" name="Shape 16"/>
          <p:cNvSpPr/>
          <p:nvPr/>
        </p:nvSpPr>
        <p:spPr>
          <a:xfrm>
            <a:off x="3200400" y="1463040"/>
            <a:ext cx="2816352" cy="3474720"/>
          </a:xfrm>
          <a:prstGeom prst="rect">
            <a:avLst/>
          </a:prstGeom>
          <a:solidFill>
            <a:srgbClr val="FFFFFF"/>
          </a:solidFill>
          <a:ln w="12700">
            <a:solidFill>
              <a:srgbClr val="CBD5E1"/>
            </a:solidFill>
            <a:prstDash val="solid"/>
          </a:ln>
          <a:effectLst>
            <a:outerShdw blurRad="101600" dist="38100" dir="8100000" algn="bl" rotWithShape="0">
              <a:srgbClr val="000000">
                <a:alpha val="18000"/>
              </a:srgbClr>
            </a:outerShdw>
          </a:effectLst>
        </p:spPr>
        <p:txBody>
          <a:bodyPr/>
          <a:lstStyle/>
          <a:p>
            <a:endParaRPr lang="en-GB"/>
          </a:p>
        </p:txBody>
      </p:sp>
      <p:sp>
        <p:nvSpPr>
          <p:cNvPr id="19" name="Shape 17"/>
          <p:cNvSpPr/>
          <p:nvPr/>
        </p:nvSpPr>
        <p:spPr>
          <a:xfrm>
            <a:off x="3200400" y="1463040"/>
            <a:ext cx="82296" cy="3474720"/>
          </a:xfrm>
          <a:prstGeom prst="rect">
            <a:avLst/>
          </a:prstGeom>
          <a:solidFill>
            <a:srgbClr val="F97316"/>
          </a:solidFill>
          <a:ln w="12700">
            <a:solidFill>
              <a:srgbClr val="F97316"/>
            </a:solidFill>
            <a:prstDash val="solid"/>
          </a:ln>
        </p:spPr>
        <p:txBody>
          <a:bodyPr/>
          <a:lstStyle/>
          <a:p>
            <a:endParaRPr lang="en-GB"/>
          </a:p>
        </p:txBody>
      </p:sp>
      <p:sp>
        <p:nvSpPr>
          <p:cNvPr id="20" name="Text 18"/>
          <p:cNvSpPr/>
          <p:nvPr/>
        </p:nvSpPr>
        <p:spPr>
          <a:xfrm>
            <a:off x="3364992" y="1536192"/>
            <a:ext cx="548640" cy="411480"/>
          </a:xfrm>
          <a:prstGeom prst="rect">
            <a:avLst/>
          </a:prstGeom>
          <a:noFill/>
          <a:ln/>
        </p:spPr>
        <p:txBody>
          <a:bodyPr wrap="square" lIns="0" tIns="0" rIns="0" bIns="0" rtlCol="0" anchor="ctr"/>
          <a:lstStyle/>
          <a:p>
            <a:pPr marL="0" indent="0">
              <a:buNone/>
            </a:pPr>
            <a:r>
              <a:rPr lang="en-US" sz="2200" b="1" dirty="0">
                <a:solidFill>
                  <a:srgbClr val="F97316"/>
                </a:solidFill>
                <a:latin typeface="Calibri" pitchFamily="34" charset="0"/>
                <a:ea typeface="Calibri" pitchFamily="34" charset="-122"/>
                <a:cs typeface="Calibri" pitchFamily="34" charset="-120"/>
              </a:rPr>
              <a:t>02</a:t>
            </a:r>
            <a:endParaRPr lang="en-US" sz="2200" dirty="0"/>
          </a:p>
        </p:txBody>
      </p:sp>
      <p:sp>
        <p:nvSpPr>
          <p:cNvPr id="21" name="Text 19"/>
          <p:cNvSpPr/>
          <p:nvPr/>
        </p:nvSpPr>
        <p:spPr>
          <a:xfrm>
            <a:off x="3364992" y="1938528"/>
            <a:ext cx="2542032" cy="347472"/>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El Farol Bar Model</a:t>
            </a:r>
            <a:endParaRPr lang="en-US" sz="1300" dirty="0"/>
          </a:p>
        </p:txBody>
      </p:sp>
      <p:sp>
        <p:nvSpPr>
          <p:cNvPr id="22" name="Text 20"/>
          <p:cNvSpPr/>
          <p:nvPr/>
        </p:nvSpPr>
        <p:spPr>
          <a:xfrm>
            <a:off x="3364992" y="2286000"/>
            <a:ext cx="2542032" cy="256032"/>
          </a:xfrm>
          <a:prstGeom prst="rect">
            <a:avLst/>
          </a:prstGeom>
          <a:noFill/>
          <a:ln/>
        </p:spPr>
        <p:txBody>
          <a:bodyPr wrap="square" lIns="0" tIns="0" rIns="0" bIns="0" rtlCol="0" anchor="ctr"/>
          <a:lstStyle/>
          <a:p>
            <a:pPr marL="0" indent="0">
              <a:buNone/>
            </a:pPr>
            <a:r>
              <a:rPr lang="en-US" sz="950" i="1" dirty="0">
                <a:solidFill>
                  <a:srgbClr val="F97316"/>
                </a:solidFill>
                <a:latin typeface="Calibri" pitchFamily="34" charset="0"/>
                <a:ea typeface="Calibri" pitchFamily="34" charset="-122"/>
                <a:cs typeface="Calibri" pitchFamily="34" charset="-120"/>
              </a:rPr>
              <a:t>Bounded Rationality (No Learning)</a:t>
            </a:r>
            <a:endParaRPr lang="en-US" sz="950" dirty="0"/>
          </a:p>
        </p:txBody>
      </p:sp>
      <p:sp>
        <p:nvSpPr>
          <p:cNvPr id="23" name="Shape 21"/>
          <p:cNvSpPr/>
          <p:nvPr/>
        </p:nvSpPr>
        <p:spPr>
          <a:xfrm>
            <a:off x="3328416" y="2578608"/>
            <a:ext cx="2578608" cy="384048"/>
          </a:xfrm>
          <a:prstGeom prst="rect">
            <a:avLst/>
          </a:prstGeom>
          <a:solidFill>
            <a:srgbClr val="0D2137"/>
          </a:solidFill>
          <a:ln w="12700">
            <a:solidFill>
              <a:srgbClr val="0D2137"/>
            </a:solidFill>
            <a:prstDash val="solid"/>
          </a:ln>
        </p:spPr>
        <p:txBody>
          <a:bodyPr/>
          <a:lstStyle/>
          <a:p>
            <a:endParaRPr lang="en-GB"/>
          </a:p>
        </p:txBody>
      </p:sp>
      <p:sp>
        <p:nvSpPr>
          <p:cNvPr id="24" name="Text 22"/>
          <p:cNvSpPr/>
          <p:nvPr/>
        </p:nvSpPr>
        <p:spPr>
          <a:xfrm>
            <a:off x="3328416" y="2578608"/>
            <a:ext cx="2578608" cy="384048"/>
          </a:xfrm>
          <a:prstGeom prst="rect">
            <a:avLst/>
          </a:prstGeom>
          <a:noFill/>
          <a:ln/>
        </p:spPr>
        <p:txBody>
          <a:bodyPr wrap="square" lIns="25400" tIns="25400" rIns="25400" bIns="25400" rtlCol="0" anchor="ctr"/>
          <a:lstStyle/>
          <a:p>
            <a:pPr marL="0" indent="0" algn="ctr">
              <a:buNone/>
            </a:pPr>
            <a:r>
              <a:rPr lang="en-US" sz="850" dirty="0">
                <a:solidFill>
                  <a:srgbClr val="22D3EE"/>
                </a:solidFill>
                <a:latin typeface="Consolas" pitchFamily="34" charset="0"/>
                <a:ea typeface="Consolas" pitchFamily="34" charset="-122"/>
                <a:cs typeface="Consolas" pitchFamily="34" charset="-120"/>
              </a:rPr>
              <a:t>Enter if best predictor: E[congestion] &lt; θ</a:t>
            </a:r>
            <a:endParaRPr lang="en-US" sz="850" dirty="0"/>
          </a:p>
        </p:txBody>
      </p:sp>
      <p:sp>
        <p:nvSpPr>
          <p:cNvPr id="25" name="Text 23"/>
          <p:cNvSpPr/>
          <p:nvPr/>
        </p:nvSpPr>
        <p:spPr>
          <a:xfrm>
            <a:off x="3364992" y="3035808"/>
            <a:ext cx="2542032" cy="1783080"/>
          </a:xfrm>
          <a:prstGeom prst="rect">
            <a:avLst/>
          </a:prstGeom>
          <a:noFill/>
          <a:ln/>
        </p:spPr>
        <p:txBody>
          <a:bodyPr wrap="square" lIns="0" tIns="0" rIns="0" bIns="0"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Portfolio of predictors based on recent history</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Reads yesterday's congestion, not today's fee</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Near-universal entry (91%), so little left to deter</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Result: 0% in every arm — the charge never binds</a:t>
            </a:r>
            <a:endParaRPr lang="en-US" sz="950" dirty="0"/>
          </a:p>
        </p:txBody>
      </p:sp>
      <p:sp>
        <p:nvSpPr>
          <p:cNvPr id="26" name="Shape 24"/>
          <p:cNvSpPr/>
          <p:nvPr/>
        </p:nvSpPr>
        <p:spPr>
          <a:xfrm>
            <a:off x="6144768" y="1463040"/>
            <a:ext cx="2816352" cy="3474720"/>
          </a:xfrm>
          <a:prstGeom prst="rect">
            <a:avLst/>
          </a:prstGeom>
          <a:solidFill>
            <a:srgbClr val="FFFFFF"/>
          </a:solidFill>
          <a:ln w="12700">
            <a:solidFill>
              <a:srgbClr val="CBD5E1"/>
            </a:solidFill>
            <a:prstDash val="solid"/>
          </a:ln>
          <a:effectLst>
            <a:outerShdw blurRad="101600" dist="38100" dir="8100000" algn="bl" rotWithShape="0">
              <a:srgbClr val="000000">
                <a:alpha val="18000"/>
              </a:srgbClr>
            </a:outerShdw>
          </a:effectLst>
        </p:spPr>
        <p:txBody>
          <a:bodyPr/>
          <a:lstStyle/>
          <a:p>
            <a:endParaRPr lang="en-GB"/>
          </a:p>
        </p:txBody>
      </p:sp>
      <p:sp>
        <p:nvSpPr>
          <p:cNvPr id="27" name="Shape 25"/>
          <p:cNvSpPr/>
          <p:nvPr/>
        </p:nvSpPr>
        <p:spPr>
          <a:xfrm>
            <a:off x="6144768" y="1463040"/>
            <a:ext cx="82296" cy="3474720"/>
          </a:xfrm>
          <a:prstGeom prst="rect">
            <a:avLst/>
          </a:prstGeom>
          <a:solidFill>
            <a:srgbClr val="10B981"/>
          </a:solidFill>
          <a:ln w="12700">
            <a:solidFill>
              <a:srgbClr val="10B981"/>
            </a:solidFill>
            <a:prstDash val="solid"/>
          </a:ln>
        </p:spPr>
        <p:txBody>
          <a:bodyPr/>
          <a:lstStyle/>
          <a:p>
            <a:endParaRPr lang="en-GB"/>
          </a:p>
        </p:txBody>
      </p:sp>
      <p:sp>
        <p:nvSpPr>
          <p:cNvPr id="28" name="Text 26"/>
          <p:cNvSpPr/>
          <p:nvPr/>
        </p:nvSpPr>
        <p:spPr>
          <a:xfrm>
            <a:off x="6309360" y="1536192"/>
            <a:ext cx="548640" cy="411480"/>
          </a:xfrm>
          <a:prstGeom prst="rect">
            <a:avLst/>
          </a:prstGeom>
          <a:noFill/>
          <a:ln/>
        </p:spPr>
        <p:txBody>
          <a:bodyPr wrap="square" lIns="0" tIns="0" rIns="0" bIns="0" rtlCol="0" anchor="ctr"/>
          <a:lstStyle/>
          <a:p>
            <a:pPr marL="0" indent="0">
              <a:buNone/>
            </a:pPr>
            <a:r>
              <a:rPr lang="en-US" sz="2200" b="1" dirty="0">
                <a:solidFill>
                  <a:srgbClr val="10B981"/>
                </a:solidFill>
                <a:latin typeface="Calibri" pitchFamily="34" charset="0"/>
                <a:ea typeface="Calibri" pitchFamily="34" charset="-122"/>
                <a:cs typeface="Calibri" pitchFamily="34" charset="-120"/>
              </a:rPr>
              <a:t>03</a:t>
            </a:r>
            <a:endParaRPr lang="en-US" sz="2200" dirty="0"/>
          </a:p>
        </p:txBody>
      </p:sp>
      <p:sp>
        <p:nvSpPr>
          <p:cNvPr id="29" name="Text 27"/>
          <p:cNvSpPr/>
          <p:nvPr/>
        </p:nvSpPr>
        <p:spPr>
          <a:xfrm>
            <a:off x="6309360" y="1938528"/>
            <a:ext cx="2542032" cy="347472"/>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Q-Learning</a:t>
            </a:r>
            <a:endParaRPr lang="en-US" sz="1300" dirty="0"/>
          </a:p>
        </p:txBody>
      </p:sp>
      <p:sp>
        <p:nvSpPr>
          <p:cNvPr id="30" name="Text 28"/>
          <p:cNvSpPr/>
          <p:nvPr/>
        </p:nvSpPr>
        <p:spPr>
          <a:xfrm>
            <a:off x="6309360" y="2286000"/>
            <a:ext cx="2542032" cy="256032"/>
          </a:xfrm>
          <a:prstGeom prst="rect">
            <a:avLst/>
          </a:prstGeom>
          <a:noFill/>
          <a:ln/>
        </p:spPr>
        <p:txBody>
          <a:bodyPr wrap="square" lIns="0" tIns="0" rIns="0" bIns="0" rtlCol="0" anchor="ctr"/>
          <a:lstStyle/>
          <a:p>
            <a:pPr marL="0" indent="0">
              <a:buNone/>
            </a:pPr>
            <a:r>
              <a:rPr lang="en-US" sz="950" i="1" dirty="0">
                <a:solidFill>
                  <a:srgbClr val="10B981"/>
                </a:solidFill>
                <a:latin typeface="Calibri" pitchFamily="34" charset="0"/>
                <a:ea typeface="Calibri" pitchFamily="34" charset="-122"/>
                <a:cs typeface="Calibri" pitchFamily="34" charset="-120"/>
              </a:rPr>
              <a:t>Bounded Rationality with Learning</a:t>
            </a:r>
            <a:endParaRPr lang="en-US" sz="950" dirty="0"/>
          </a:p>
        </p:txBody>
      </p:sp>
      <p:sp>
        <p:nvSpPr>
          <p:cNvPr id="31" name="Shape 29"/>
          <p:cNvSpPr/>
          <p:nvPr/>
        </p:nvSpPr>
        <p:spPr>
          <a:xfrm>
            <a:off x="6272784" y="2578608"/>
            <a:ext cx="2578608" cy="384048"/>
          </a:xfrm>
          <a:prstGeom prst="rect">
            <a:avLst/>
          </a:prstGeom>
          <a:solidFill>
            <a:srgbClr val="0D2137"/>
          </a:solidFill>
          <a:ln w="12700">
            <a:solidFill>
              <a:srgbClr val="0D2137"/>
            </a:solidFill>
            <a:prstDash val="solid"/>
          </a:ln>
        </p:spPr>
        <p:txBody>
          <a:bodyPr/>
          <a:lstStyle/>
          <a:p>
            <a:endParaRPr lang="en-GB"/>
          </a:p>
        </p:txBody>
      </p:sp>
      <p:sp>
        <p:nvSpPr>
          <p:cNvPr id="32" name="Text 30"/>
          <p:cNvSpPr/>
          <p:nvPr/>
        </p:nvSpPr>
        <p:spPr>
          <a:xfrm>
            <a:off x="6272784" y="2578608"/>
            <a:ext cx="2578608" cy="384048"/>
          </a:xfrm>
          <a:prstGeom prst="rect">
            <a:avLst/>
          </a:prstGeom>
          <a:noFill/>
          <a:ln/>
        </p:spPr>
        <p:txBody>
          <a:bodyPr wrap="square" lIns="25400" tIns="25400" rIns="25400" bIns="25400" rtlCol="0" anchor="ctr"/>
          <a:lstStyle/>
          <a:p>
            <a:pPr marL="0" indent="0" algn="ctr">
              <a:buNone/>
            </a:pPr>
            <a:r>
              <a:rPr lang="en-US" sz="850" dirty="0">
                <a:solidFill>
                  <a:srgbClr val="22D3EE"/>
                </a:solidFill>
                <a:latin typeface="Consolas" pitchFamily="34" charset="0"/>
                <a:ea typeface="Consolas" pitchFamily="34" charset="-122"/>
                <a:cs typeface="Consolas" pitchFamily="34" charset="-120"/>
              </a:rPr>
              <a:t>Q(s,a) ← Q(s,a) + α[r + γ·max Q(s',a') – Q(s,a)]</a:t>
            </a:r>
            <a:endParaRPr lang="en-US" sz="850" dirty="0"/>
          </a:p>
        </p:txBody>
      </p:sp>
      <p:sp>
        <p:nvSpPr>
          <p:cNvPr id="33" name="Text 31"/>
          <p:cNvSpPr/>
          <p:nvPr/>
        </p:nvSpPr>
        <p:spPr>
          <a:xfrm>
            <a:off x="6309360" y="3035808"/>
            <a:ext cx="2542032" cy="1783080"/>
          </a:xfrm>
          <a:prstGeom prst="rect">
            <a:avLst/>
          </a:prstGeom>
          <a:noFill/>
          <a:ln/>
        </p:spPr>
        <p:txBody>
          <a:bodyPr wrap="square" lIns="0" tIns="0" rIns="0" bIns="0"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State = time band x congestion band; action = enter or not</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Fee is absent from the decision — it enters only via the reward</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So the response is learned over days, not applied at once</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Result: −39% if staying home is the only option, −14% if not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creen Recording 2026-06-04 at 10.14.16.mov">
            <a:hlinkClick r:id="" action="ppaction://media"/>
            <a:extLst>
              <a:ext uri="{FF2B5EF4-FFF2-40B4-BE49-F238E27FC236}">
                <a16:creationId xmlns:a16="http://schemas.microsoft.com/office/drawing/2014/main" id="{01870293-2F5F-0615-90CA-289F5EEF9BE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46125" y="0"/>
            <a:ext cx="7650163" cy="5143500"/>
          </a:xfrm>
          <a:prstGeom prst="rect">
            <a:avLst/>
          </a:prstGeom>
        </p:spPr>
      </p:pic>
    </p:spTree>
    <p:extLst>
      <p:ext uri="{BB962C8B-B14F-4D97-AF65-F5344CB8AC3E}">
        <p14:creationId xmlns:p14="http://schemas.microsoft.com/office/powerpoint/2010/main" val="3617469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30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137"/>
          </a:solidFill>
          <a:ln w="12700">
            <a:solidFill>
              <a:srgbClr val="0D2137"/>
            </a:solidFill>
            <a:prstDash val="solid"/>
          </a:ln>
        </p:spPr>
        <p:txBody>
          <a:bodyPr/>
          <a:lstStyle/>
          <a:p>
            <a:endParaRPr lang="en-GB"/>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Happens When You Charge Drivers?</a:t>
            </a:r>
            <a:endParaRPr lang="en-US" sz="2200" dirty="0"/>
          </a:p>
        </p:txBody>
      </p:sp>
      <p:sp>
        <p:nvSpPr>
          <p:cNvPr id="4" name="Text 2"/>
          <p:cNvSpPr/>
          <p:nvPr/>
        </p:nvSpPr>
        <p:spPr>
          <a:xfrm>
            <a:off x="365760" y="987552"/>
            <a:ext cx="8412480" cy="347472"/>
          </a:xfrm>
          <a:prstGeom prst="rect">
            <a:avLst/>
          </a:prstGeom>
          <a:noFill/>
          <a:ln/>
        </p:spPr>
        <p:txBody>
          <a:bodyPr wrap="square" lIns="0" tIns="0" rIns="0" bIns="0" rtlCol="0" anchor="ctr"/>
          <a:lstStyle/>
          <a:p>
            <a:pPr marL="0" indent="0" algn="l">
              <a:buNone/>
            </a:pPr>
            <a:r>
              <a:rPr lang="en-US" sz="1300" i="1" dirty="0">
                <a:solidFill>
                  <a:srgbClr val="475569"/>
                </a:solidFill>
                <a:latin typeface="Calibri" pitchFamily="34" charset="0"/>
                <a:ea typeface="Calibri" pitchFamily="34" charset="-122"/>
                <a:cs typeface="Calibri" pitchFamily="34" charset="-120"/>
              </a:rPr>
              <a:t>Same road. Same price. Three very different outcomes — depending on how drivers think.</a:t>
            </a:r>
            <a:endParaRPr lang="en-US" sz="1300" dirty="0"/>
          </a:p>
        </p:txBody>
      </p:sp>
      <p:sp>
        <p:nvSpPr>
          <p:cNvPr id="5" name="Shape 3"/>
          <p:cNvSpPr/>
          <p:nvPr/>
        </p:nvSpPr>
        <p:spPr>
          <a:xfrm>
            <a:off x="228600" y="1417320"/>
            <a:ext cx="2816352" cy="2194560"/>
          </a:xfrm>
          <a:prstGeom prst="rect">
            <a:avLst/>
          </a:prstGeom>
          <a:solidFill>
            <a:srgbClr val="FFFFFF"/>
          </a:solidFill>
          <a:ln w="12700">
            <a:solidFill>
              <a:srgbClr val="CBD5E1"/>
            </a:solidFill>
            <a:prstDash val="solid"/>
          </a:ln>
          <a:effectLst>
            <a:outerShdw blurRad="101600" dist="38100" dir="8100000" algn="bl" rotWithShape="0">
              <a:srgbClr val="000000">
                <a:alpha val="18000"/>
              </a:srgbClr>
            </a:outerShdw>
          </a:effectLst>
        </p:spPr>
        <p:txBody>
          <a:bodyPr/>
          <a:lstStyle/>
          <a:p>
            <a:endParaRPr lang="en-GB"/>
          </a:p>
        </p:txBody>
      </p:sp>
      <p:sp>
        <p:nvSpPr>
          <p:cNvPr id="6" name="Shape 4"/>
          <p:cNvSpPr/>
          <p:nvPr/>
        </p:nvSpPr>
        <p:spPr>
          <a:xfrm>
            <a:off x="228600" y="1417320"/>
            <a:ext cx="2816352" cy="457200"/>
          </a:xfrm>
          <a:prstGeom prst="rect">
            <a:avLst/>
          </a:prstGeom>
          <a:solidFill>
            <a:srgbClr val="F59E0B"/>
          </a:solidFill>
          <a:ln w="12700">
            <a:solidFill>
              <a:srgbClr val="F59E0B"/>
            </a:solidFill>
            <a:prstDash val="solid"/>
          </a:ln>
        </p:spPr>
        <p:txBody>
          <a:bodyPr/>
          <a:lstStyle/>
          <a:p>
            <a:endParaRPr lang="en-GB"/>
          </a:p>
        </p:txBody>
      </p:sp>
      <p:sp>
        <p:nvSpPr>
          <p:cNvPr id="7" name="Text 5"/>
          <p:cNvSpPr/>
          <p:nvPr/>
        </p:nvSpPr>
        <p:spPr>
          <a:xfrm>
            <a:off x="228600" y="1444752"/>
            <a:ext cx="548640" cy="402336"/>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758952" y="1472184"/>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Baseline Driver</a:t>
            </a:r>
            <a:endParaRPr lang="en-US" sz="1200" dirty="0"/>
          </a:p>
        </p:txBody>
      </p:sp>
      <p:sp>
        <p:nvSpPr>
          <p:cNvPr id="9" name="Text 7"/>
          <p:cNvSpPr/>
          <p:nvPr/>
        </p:nvSpPr>
        <p:spPr>
          <a:xfrm>
            <a:off x="365760" y="1947672"/>
            <a:ext cx="2542032" cy="292608"/>
          </a:xfrm>
          <a:prstGeom prst="rect">
            <a:avLst/>
          </a:prstGeom>
          <a:noFill/>
          <a:ln/>
        </p:spPr>
        <p:txBody>
          <a:bodyPr wrap="square" lIns="0" tIns="0" rIns="0" bIns="0" rtlCol="0" anchor="ctr"/>
          <a:lstStyle/>
          <a:p>
            <a:pPr marL="0" indent="0" algn="l">
              <a:buNone/>
            </a:pPr>
            <a:r>
              <a:rPr lang="en-US" sz="1000" i="1" dirty="0">
                <a:solidFill>
                  <a:srgbClr val="F59E0B"/>
                </a:solidFill>
                <a:latin typeface="Calibri" pitchFamily="34" charset="0"/>
                <a:ea typeface="Calibri" pitchFamily="34" charset="-122"/>
                <a:cs typeface="Calibri" pitchFamily="34" charset="-120"/>
              </a:rPr>
              <a:t>"I check the price and decide."</a:t>
            </a:r>
            <a:endParaRPr lang="en-US" sz="1000" dirty="0"/>
          </a:p>
        </p:txBody>
      </p:sp>
      <p:sp>
        <p:nvSpPr>
          <p:cNvPr id="10" name="Text 8"/>
          <p:cNvSpPr/>
          <p:nvPr/>
        </p:nvSpPr>
        <p:spPr>
          <a:xfrm>
            <a:off x="365760" y="2276856"/>
            <a:ext cx="2542032" cy="1115568"/>
          </a:xfrm>
          <a:prstGeom prst="rect">
            <a:avLst/>
          </a:prstGeom>
          <a:noFill/>
          <a:ln/>
        </p:spPr>
        <p:txBody>
          <a:bodyPr wrap="square" lIns="0" tIns="0" rIns="0" bIns="0" rtlCol="0" anchor="t"/>
          <a:lstStyle/>
          <a:p>
            <a:pPr marL="0" indent="0" algn="l">
              <a:buNone/>
            </a:pPr>
            <a:r>
              <a:rPr lang="en-US" sz="950" dirty="0">
                <a:solidFill>
                  <a:srgbClr val="334155"/>
                </a:solidFill>
                <a:latin typeface="Calibri" pitchFamily="34" charset="0"/>
                <a:ea typeface="Calibri" pitchFamily="34" charset="-122"/>
                <a:cs typeface="Calibri" pitchFamily="34" charset="-120"/>
              </a:rPr>
              <a:t>Fewer drivers enter at the peak: entry falls from 52% to 40%. Give them an hour of flexibility and the cut deepens from 12% to 18%.</a:t>
            </a:r>
            <a:endParaRPr lang="en-US" sz="950" dirty="0"/>
          </a:p>
        </p:txBody>
      </p:sp>
      <p:sp>
        <p:nvSpPr>
          <p:cNvPr id="11" name="Shape 9"/>
          <p:cNvSpPr/>
          <p:nvPr/>
        </p:nvSpPr>
        <p:spPr>
          <a:xfrm>
            <a:off x="228600" y="3685032"/>
            <a:ext cx="2816352" cy="1078992"/>
          </a:xfrm>
          <a:prstGeom prst="rect">
            <a:avLst/>
          </a:prstGeom>
          <a:solidFill>
            <a:srgbClr val="F8FAFC"/>
          </a:solidFill>
          <a:ln w="10160">
            <a:solidFill>
              <a:srgbClr val="CBD5E1"/>
            </a:solidFill>
            <a:prstDash val="solid"/>
          </a:ln>
        </p:spPr>
        <p:txBody>
          <a:bodyPr/>
          <a:lstStyle/>
          <a:p>
            <a:endParaRPr lang="en-GB"/>
          </a:p>
        </p:txBody>
      </p:sp>
      <p:sp>
        <p:nvSpPr>
          <p:cNvPr id="12" name="Text 10"/>
          <p:cNvSpPr/>
          <p:nvPr/>
        </p:nvSpPr>
        <p:spPr>
          <a:xfrm>
            <a:off x="338328" y="3730752"/>
            <a:ext cx="2633472" cy="201168"/>
          </a:xfrm>
          <a:prstGeom prst="rect">
            <a:avLst/>
          </a:prstGeom>
          <a:noFill/>
          <a:ln/>
        </p:spPr>
        <p:txBody>
          <a:bodyPr wrap="square" lIns="0" tIns="0" rIns="0" bIns="0"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Peak V/C (inner cordon)</a:t>
            </a:r>
            <a:endParaRPr lang="en-US" sz="850" dirty="0"/>
          </a:p>
        </p:txBody>
      </p:sp>
      <p:sp>
        <p:nvSpPr>
          <p:cNvPr id="13" name="Shape 11"/>
          <p:cNvSpPr/>
          <p:nvPr/>
        </p:nvSpPr>
        <p:spPr>
          <a:xfrm>
            <a:off x="338328" y="3959352"/>
            <a:ext cx="988089" cy="182880"/>
          </a:xfrm>
          <a:prstGeom prst="rect">
            <a:avLst/>
          </a:prstGeom>
          <a:solidFill>
            <a:srgbClr val="94A3B8"/>
          </a:solidFill>
          <a:ln w="12700">
            <a:solidFill>
              <a:srgbClr val="94A3B8"/>
            </a:solidFill>
            <a:prstDash val="solid"/>
          </a:ln>
        </p:spPr>
        <p:txBody>
          <a:bodyPr/>
          <a:lstStyle/>
          <a:p>
            <a:endParaRPr lang="en-GB"/>
          </a:p>
        </p:txBody>
      </p:sp>
      <p:sp>
        <p:nvSpPr>
          <p:cNvPr id="14" name="Text 12"/>
          <p:cNvSpPr/>
          <p:nvPr/>
        </p:nvSpPr>
        <p:spPr>
          <a:xfrm>
            <a:off x="1372137" y="3959352"/>
            <a:ext cx="109728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No charge  0.113</a:t>
            </a:r>
            <a:endParaRPr lang="en-US" sz="800" dirty="0"/>
          </a:p>
        </p:txBody>
      </p:sp>
      <p:sp>
        <p:nvSpPr>
          <p:cNvPr id="15" name="Shape 13"/>
          <p:cNvSpPr/>
          <p:nvPr/>
        </p:nvSpPr>
        <p:spPr>
          <a:xfrm>
            <a:off x="338328" y="4215384"/>
            <a:ext cx="890195" cy="182880"/>
          </a:xfrm>
          <a:prstGeom prst="rect">
            <a:avLst/>
          </a:prstGeom>
          <a:solidFill>
            <a:srgbClr val="F59E0B"/>
          </a:solidFill>
          <a:ln w="12700">
            <a:solidFill>
              <a:srgbClr val="F59E0B"/>
            </a:solidFill>
            <a:prstDash val="solid"/>
          </a:ln>
        </p:spPr>
        <p:txBody>
          <a:bodyPr/>
          <a:lstStyle/>
          <a:p>
            <a:endParaRPr lang="en-GB"/>
          </a:p>
        </p:txBody>
      </p:sp>
      <p:sp>
        <p:nvSpPr>
          <p:cNvPr id="16" name="Text 14"/>
          <p:cNvSpPr/>
          <p:nvPr/>
        </p:nvSpPr>
        <p:spPr>
          <a:xfrm>
            <a:off x="1274243" y="4215384"/>
            <a:ext cx="1097280" cy="182880"/>
          </a:xfrm>
          <a:prstGeom prst="rect">
            <a:avLst/>
          </a:prstGeom>
          <a:noFill/>
          <a:ln/>
        </p:spPr>
        <p:txBody>
          <a:bodyPr wrap="square" lIns="0" tIns="0" rIns="0" bIns="0" rtlCol="0" anchor="ctr"/>
          <a:lstStyle/>
          <a:p>
            <a:pPr marL="0" indent="0">
              <a:buNone/>
            </a:pPr>
            <a:r>
              <a:rPr lang="en-US" sz="800" b="1" dirty="0">
                <a:solidFill>
                  <a:srgbClr val="F59E0B"/>
                </a:solidFill>
                <a:latin typeface="Calibri" pitchFamily="34" charset="0"/>
                <a:ea typeface="Calibri" pitchFamily="34" charset="-122"/>
                <a:cs typeface="Calibri" pitchFamily="34" charset="-120"/>
              </a:rPr>
              <a:t>ToU  0.100</a:t>
            </a:r>
            <a:endParaRPr lang="en-US" sz="800" dirty="0"/>
          </a:p>
        </p:txBody>
      </p:sp>
      <p:sp>
        <p:nvSpPr>
          <p:cNvPr id="17" name="Shape 15"/>
          <p:cNvSpPr/>
          <p:nvPr/>
        </p:nvSpPr>
        <p:spPr>
          <a:xfrm>
            <a:off x="338328" y="4471416"/>
            <a:ext cx="2596896" cy="219456"/>
          </a:xfrm>
          <a:prstGeom prst="rect">
            <a:avLst/>
          </a:prstGeom>
          <a:solidFill>
            <a:srgbClr val="F59E0B">
              <a:alpha val="12000"/>
            </a:srgbClr>
          </a:solidFill>
          <a:ln w="12700">
            <a:solidFill>
              <a:srgbClr val="F59E0B"/>
            </a:solidFill>
            <a:prstDash val="solid"/>
          </a:ln>
        </p:spPr>
        <p:txBody>
          <a:bodyPr/>
          <a:lstStyle/>
          <a:p>
            <a:endParaRPr lang="en-GB"/>
          </a:p>
        </p:txBody>
      </p:sp>
      <p:sp>
        <p:nvSpPr>
          <p:cNvPr id="18" name="Text 16"/>
          <p:cNvSpPr/>
          <p:nvPr/>
        </p:nvSpPr>
        <p:spPr>
          <a:xfrm>
            <a:off x="338328" y="4471416"/>
            <a:ext cx="2596896" cy="219456"/>
          </a:xfrm>
          <a:prstGeom prst="rect">
            <a:avLst/>
          </a:prstGeom>
          <a:noFill/>
          <a:ln/>
        </p:spPr>
        <p:txBody>
          <a:bodyPr wrap="square" lIns="0" tIns="0" rIns="0" bIns="0" rtlCol="0" anchor="ctr"/>
          <a:lstStyle/>
          <a:p>
            <a:pPr marL="0" indent="0" algn="ctr">
              <a:buNone/>
            </a:pPr>
            <a:r>
              <a:rPr lang="en-US" sz="950" b="1" dirty="0">
                <a:solidFill>
                  <a:srgbClr val="F59E0B"/>
                </a:solidFill>
                <a:latin typeface="Calibri" pitchFamily="34" charset="0"/>
                <a:ea typeface="Calibri" pitchFamily="34" charset="-122"/>
                <a:cs typeface="Calibri" pitchFamily="34" charset="-120"/>
              </a:rPr>
              <a:t>↓  Steady reduction</a:t>
            </a:r>
            <a:endParaRPr lang="en-US" sz="950" dirty="0"/>
          </a:p>
        </p:txBody>
      </p:sp>
      <p:sp>
        <p:nvSpPr>
          <p:cNvPr id="19" name="Shape 17"/>
          <p:cNvSpPr/>
          <p:nvPr/>
        </p:nvSpPr>
        <p:spPr>
          <a:xfrm>
            <a:off x="3172968" y="1417320"/>
            <a:ext cx="2816352" cy="2194560"/>
          </a:xfrm>
          <a:prstGeom prst="rect">
            <a:avLst/>
          </a:prstGeom>
          <a:solidFill>
            <a:srgbClr val="FFFFFF"/>
          </a:solidFill>
          <a:ln w="12700">
            <a:solidFill>
              <a:srgbClr val="CBD5E1"/>
            </a:solidFill>
            <a:prstDash val="solid"/>
          </a:ln>
          <a:effectLst>
            <a:outerShdw blurRad="101600" dist="38100" dir="8100000" algn="bl" rotWithShape="0">
              <a:srgbClr val="000000">
                <a:alpha val="18000"/>
              </a:srgbClr>
            </a:outerShdw>
          </a:effectLst>
        </p:spPr>
        <p:txBody>
          <a:bodyPr/>
          <a:lstStyle/>
          <a:p>
            <a:endParaRPr lang="en-GB"/>
          </a:p>
        </p:txBody>
      </p:sp>
      <p:sp>
        <p:nvSpPr>
          <p:cNvPr id="20" name="Shape 18"/>
          <p:cNvSpPr/>
          <p:nvPr/>
        </p:nvSpPr>
        <p:spPr>
          <a:xfrm>
            <a:off x="3172968" y="1417320"/>
            <a:ext cx="2816352" cy="457200"/>
          </a:xfrm>
          <a:prstGeom prst="rect">
            <a:avLst/>
          </a:prstGeom>
          <a:solidFill>
            <a:srgbClr val="F97316"/>
          </a:solidFill>
          <a:ln w="12700">
            <a:solidFill>
              <a:srgbClr val="F97316"/>
            </a:solidFill>
            <a:prstDash val="solid"/>
          </a:ln>
        </p:spPr>
        <p:txBody>
          <a:bodyPr/>
          <a:lstStyle/>
          <a:p>
            <a:endParaRPr lang="en-GB"/>
          </a:p>
        </p:txBody>
      </p:sp>
      <p:sp>
        <p:nvSpPr>
          <p:cNvPr id="21" name="Text 19"/>
          <p:cNvSpPr/>
          <p:nvPr/>
        </p:nvSpPr>
        <p:spPr>
          <a:xfrm>
            <a:off x="3172968" y="1444752"/>
            <a:ext cx="548640" cy="402336"/>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3703320" y="1472184"/>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Herd Driver</a:t>
            </a:r>
            <a:endParaRPr lang="en-US" sz="1200" dirty="0"/>
          </a:p>
        </p:txBody>
      </p:sp>
      <p:sp>
        <p:nvSpPr>
          <p:cNvPr id="23" name="Text 21"/>
          <p:cNvSpPr/>
          <p:nvPr/>
        </p:nvSpPr>
        <p:spPr>
          <a:xfrm>
            <a:off x="3310128" y="1947672"/>
            <a:ext cx="2542032" cy="292608"/>
          </a:xfrm>
          <a:prstGeom prst="rect">
            <a:avLst/>
          </a:prstGeom>
          <a:noFill/>
          <a:ln/>
        </p:spPr>
        <p:txBody>
          <a:bodyPr wrap="square" lIns="0" tIns="0" rIns="0" bIns="0" rtlCol="0" anchor="ctr"/>
          <a:lstStyle/>
          <a:p>
            <a:pPr marL="0" indent="0" algn="l">
              <a:buNone/>
            </a:pPr>
            <a:r>
              <a:rPr lang="en-US" sz="1000" i="1" dirty="0">
                <a:solidFill>
                  <a:srgbClr val="F97316"/>
                </a:solidFill>
                <a:latin typeface="Calibri" pitchFamily="34" charset="0"/>
                <a:ea typeface="Calibri" pitchFamily="34" charset="-122"/>
                <a:cs typeface="Calibri" pitchFamily="34" charset="-120"/>
              </a:rPr>
              <a:t>"Everyone avoided it yesterday, so I'll go today."</a:t>
            </a:r>
            <a:endParaRPr lang="en-US" sz="1000" dirty="0"/>
          </a:p>
        </p:txBody>
      </p:sp>
      <p:sp>
        <p:nvSpPr>
          <p:cNvPr id="24" name="Text 22"/>
          <p:cNvSpPr/>
          <p:nvPr/>
        </p:nvSpPr>
        <p:spPr>
          <a:xfrm>
            <a:off x="3310128" y="2276856"/>
            <a:ext cx="2542032" cy="1115568"/>
          </a:xfrm>
          <a:prstGeom prst="rect">
            <a:avLst/>
          </a:prstGeom>
          <a:noFill/>
          <a:ln/>
        </p:spPr>
        <p:txBody>
          <a:bodyPr wrap="square" lIns="0" tIns="0" rIns="0" bIns="0" rtlCol="0" anchor="t"/>
          <a:lstStyle/>
          <a:p>
            <a:pPr marL="0" indent="0" algn="l">
              <a:buNone/>
            </a:pPr>
            <a:r>
              <a:rPr lang="en-US" sz="950" dirty="0">
                <a:solidFill>
                  <a:srgbClr val="334155"/>
                </a:solidFill>
                <a:latin typeface="Calibri" pitchFamily="34" charset="0"/>
                <a:ea typeface="Calibri" pitchFamily="34" charset="-122"/>
                <a:cs typeface="Calibri" pitchFamily="34" charset="-120"/>
              </a:rPr>
              <a:t>Drivers read yesterday's congestion, not today's price. Almost everyone still enters (91%), so the charge has nothing left to deter — in every arm we tried.</a:t>
            </a:r>
            <a:endParaRPr lang="en-US" sz="950" dirty="0"/>
          </a:p>
        </p:txBody>
      </p:sp>
      <p:sp>
        <p:nvSpPr>
          <p:cNvPr id="25" name="Shape 23"/>
          <p:cNvSpPr/>
          <p:nvPr/>
        </p:nvSpPr>
        <p:spPr>
          <a:xfrm>
            <a:off x="3172968" y="3685032"/>
            <a:ext cx="2816352" cy="1078992"/>
          </a:xfrm>
          <a:prstGeom prst="rect">
            <a:avLst/>
          </a:prstGeom>
          <a:solidFill>
            <a:srgbClr val="F8FAFC"/>
          </a:solidFill>
          <a:ln w="10160">
            <a:solidFill>
              <a:srgbClr val="CBD5E1"/>
            </a:solidFill>
            <a:prstDash val="solid"/>
          </a:ln>
        </p:spPr>
        <p:txBody>
          <a:bodyPr/>
          <a:lstStyle/>
          <a:p>
            <a:endParaRPr lang="en-GB"/>
          </a:p>
        </p:txBody>
      </p:sp>
      <p:sp>
        <p:nvSpPr>
          <p:cNvPr id="26" name="Text 24"/>
          <p:cNvSpPr/>
          <p:nvPr/>
        </p:nvSpPr>
        <p:spPr>
          <a:xfrm>
            <a:off x="3282696" y="3730752"/>
            <a:ext cx="2633472" cy="201168"/>
          </a:xfrm>
          <a:prstGeom prst="rect">
            <a:avLst/>
          </a:prstGeom>
          <a:noFill/>
          <a:ln/>
        </p:spPr>
        <p:txBody>
          <a:bodyPr wrap="square" lIns="0" tIns="0" rIns="0" bIns="0"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Peak V/C (inner cordon)</a:t>
            </a:r>
            <a:endParaRPr lang="en-US" sz="850" dirty="0"/>
          </a:p>
        </p:txBody>
      </p:sp>
      <p:sp>
        <p:nvSpPr>
          <p:cNvPr id="27" name="Shape 25"/>
          <p:cNvSpPr/>
          <p:nvPr/>
        </p:nvSpPr>
        <p:spPr>
          <a:xfrm>
            <a:off x="3282696" y="3959352"/>
            <a:ext cx="1417319" cy="182880"/>
          </a:xfrm>
          <a:prstGeom prst="rect">
            <a:avLst/>
          </a:prstGeom>
          <a:solidFill>
            <a:srgbClr val="94A3B8"/>
          </a:solidFill>
          <a:ln w="12700">
            <a:solidFill>
              <a:srgbClr val="94A3B8"/>
            </a:solidFill>
            <a:prstDash val="solid"/>
          </a:ln>
        </p:spPr>
        <p:txBody>
          <a:bodyPr/>
          <a:lstStyle/>
          <a:p>
            <a:endParaRPr lang="en-GB"/>
          </a:p>
        </p:txBody>
      </p:sp>
      <p:sp>
        <p:nvSpPr>
          <p:cNvPr id="28" name="Text 26"/>
          <p:cNvSpPr/>
          <p:nvPr/>
        </p:nvSpPr>
        <p:spPr>
          <a:xfrm>
            <a:off x="4745735" y="3959352"/>
            <a:ext cx="109728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No charge  0.170</a:t>
            </a:r>
            <a:endParaRPr lang="en-US" sz="800" dirty="0"/>
          </a:p>
        </p:txBody>
      </p:sp>
      <p:sp>
        <p:nvSpPr>
          <p:cNvPr id="29" name="Shape 27"/>
          <p:cNvSpPr/>
          <p:nvPr/>
        </p:nvSpPr>
        <p:spPr>
          <a:xfrm>
            <a:off x="3282696" y="4215384"/>
            <a:ext cx="1417319" cy="182880"/>
          </a:xfrm>
          <a:prstGeom prst="rect">
            <a:avLst/>
          </a:prstGeom>
          <a:solidFill>
            <a:srgbClr val="F97316"/>
          </a:solidFill>
          <a:ln w="12700">
            <a:solidFill>
              <a:srgbClr val="F97316"/>
            </a:solidFill>
            <a:prstDash val="solid"/>
          </a:ln>
        </p:spPr>
        <p:txBody>
          <a:bodyPr/>
          <a:lstStyle/>
          <a:p>
            <a:endParaRPr lang="en-GB"/>
          </a:p>
        </p:txBody>
      </p:sp>
      <p:sp>
        <p:nvSpPr>
          <p:cNvPr id="30" name="Text 28"/>
          <p:cNvSpPr/>
          <p:nvPr/>
        </p:nvSpPr>
        <p:spPr>
          <a:xfrm>
            <a:off x="4745735" y="4215384"/>
            <a:ext cx="1097280" cy="182880"/>
          </a:xfrm>
          <a:prstGeom prst="rect">
            <a:avLst/>
          </a:prstGeom>
          <a:noFill/>
          <a:ln/>
        </p:spPr>
        <p:txBody>
          <a:bodyPr wrap="square" lIns="0" tIns="0" rIns="0" bIns="0" rtlCol="0" anchor="ctr"/>
          <a:lstStyle/>
          <a:p>
            <a:pPr marL="0" indent="0">
              <a:buNone/>
            </a:pPr>
            <a:r>
              <a:rPr lang="en-US" sz="800" b="1" dirty="0">
                <a:solidFill>
                  <a:srgbClr val="F97316"/>
                </a:solidFill>
                <a:latin typeface="Calibri" pitchFamily="34" charset="0"/>
                <a:ea typeface="Calibri" pitchFamily="34" charset="-122"/>
                <a:cs typeface="Calibri" pitchFamily="34" charset="-120"/>
              </a:rPr>
              <a:t>ToU  0.170</a:t>
            </a:r>
            <a:endParaRPr lang="en-US" sz="800" dirty="0"/>
          </a:p>
        </p:txBody>
      </p:sp>
      <p:sp>
        <p:nvSpPr>
          <p:cNvPr id="31" name="Shape 29"/>
          <p:cNvSpPr/>
          <p:nvPr/>
        </p:nvSpPr>
        <p:spPr>
          <a:xfrm>
            <a:off x="3282696" y="4471416"/>
            <a:ext cx="2596896" cy="219456"/>
          </a:xfrm>
          <a:prstGeom prst="rect">
            <a:avLst/>
          </a:prstGeom>
          <a:solidFill>
            <a:srgbClr val="EF4444">
              <a:alpha val="12000"/>
            </a:srgbClr>
          </a:solidFill>
          <a:ln w="12700">
            <a:solidFill>
              <a:srgbClr val="EF4444"/>
            </a:solidFill>
            <a:prstDash val="solid"/>
          </a:ln>
        </p:spPr>
        <p:txBody>
          <a:bodyPr/>
          <a:lstStyle/>
          <a:p>
            <a:endParaRPr lang="en-GB"/>
          </a:p>
        </p:txBody>
      </p:sp>
      <p:sp>
        <p:nvSpPr>
          <p:cNvPr id="32" name="Text 30"/>
          <p:cNvSpPr/>
          <p:nvPr/>
        </p:nvSpPr>
        <p:spPr>
          <a:xfrm>
            <a:off x="3282696" y="4471416"/>
            <a:ext cx="2596896" cy="219456"/>
          </a:xfrm>
          <a:prstGeom prst="rect">
            <a:avLst/>
          </a:prstGeom>
          <a:noFill/>
          <a:ln/>
        </p:spPr>
        <p:txBody>
          <a:bodyPr wrap="square" lIns="0" tIns="0" rIns="0" bIns="0" rtlCol="0" anchor="ctr"/>
          <a:lstStyle/>
          <a:p>
            <a:pPr marL="0" indent="0" algn="ctr">
              <a:buNone/>
            </a:pPr>
            <a:r>
              <a:rPr lang="en-US" sz="950" b="1" dirty="0">
                <a:solidFill>
                  <a:srgbClr val="EF4444"/>
                </a:solidFill>
                <a:latin typeface="Calibri" pitchFamily="34" charset="0"/>
                <a:ea typeface="Calibri" pitchFamily="34" charset="-122"/>
                <a:cs typeface="Calibri" pitchFamily="34" charset="-120"/>
              </a:rPr>
              <a:t>→  No response</a:t>
            </a:r>
            <a:endParaRPr lang="en-US" sz="950" dirty="0"/>
          </a:p>
        </p:txBody>
      </p:sp>
      <p:sp>
        <p:nvSpPr>
          <p:cNvPr id="33" name="Shape 31"/>
          <p:cNvSpPr/>
          <p:nvPr/>
        </p:nvSpPr>
        <p:spPr>
          <a:xfrm>
            <a:off x="6117336" y="1417320"/>
            <a:ext cx="2816352" cy="2194560"/>
          </a:xfrm>
          <a:prstGeom prst="rect">
            <a:avLst/>
          </a:prstGeom>
          <a:solidFill>
            <a:srgbClr val="FFFFFF"/>
          </a:solidFill>
          <a:ln w="12700">
            <a:solidFill>
              <a:srgbClr val="CBD5E1"/>
            </a:solidFill>
            <a:prstDash val="solid"/>
          </a:ln>
          <a:effectLst>
            <a:outerShdw blurRad="101600" dist="38100" dir="8100000" algn="bl" rotWithShape="0">
              <a:srgbClr val="000000">
                <a:alpha val="18000"/>
              </a:srgbClr>
            </a:outerShdw>
          </a:effectLst>
        </p:spPr>
        <p:txBody>
          <a:bodyPr/>
          <a:lstStyle/>
          <a:p>
            <a:endParaRPr lang="en-GB"/>
          </a:p>
        </p:txBody>
      </p:sp>
      <p:sp>
        <p:nvSpPr>
          <p:cNvPr id="34" name="Shape 32"/>
          <p:cNvSpPr/>
          <p:nvPr/>
        </p:nvSpPr>
        <p:spPr>
          <a:xfrm>
            <a:off x="6117336" y="1417320"/>
            <a:ext cx="2816352" cy="457200"/>
          </a:xfrm>
          <a:prstGeom prst="rect">
            <a:avLst/>
          </a:prstGeom>
          <a:solidFill>
            <a:srgbClr val="10B981"/>
          </a:solidFill>
          <a:ln w="12700">
            <a:solidFill>
              <a:srgbClr val="10B981"/>
            </a:solidFill>
            <a:prstDash val="solid"/>
          </a:ln>
        </p:spPr>
        <p:txBody>
          <a:bodyPr/>
          <a:lstStyle/>
          <a:p>
            <a:endParaRPr lang="en-GB"/>
          </a:p>
        </p:txBody>
      </p:sp>
      <p:sp>
        <p:nvSpPr>
          <p:cNvPr id="35" name="Text 33"/>
          <p:cNvSpPr/>
          <p:nvPr/>
        </p:nvSpPr>
        <p:spPr>
          <a:xfrm>
            <a:off x="6117336" y="1444752"/>
            <a:ext cx="548640" cy="402336"/>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6" name="Text 34"/>
          <p:cNvSpPr/>
          <p:nvPr/>
        </p:nvSpPr>
        <p:spPr>
          <a:xfrm>
            <a:off x="6647688" y="1472184"/>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Learning Driver</a:t>
            </a:r>
            <a:endParaRPr lang="en-US" sz="1200" dirty="0"/>
          </a:p>
        </p:txBody>
      </p:sp>
      <p:sp>
        <p:nvSpPr>
          <p:cNvPr id="37" name="Text 35"/>
          <p:cNvSpPr/>
          <p:nvPr/>
        </p:nvSpPr>
        <p:spPr>
          <a:xfrm>
            <a:off x="6254496" y="1947672"/>
            <a:ext cx="2542032" cy="292608"/>
          </a:xfrm>
          <a:prstGeom prst="rect">
            <a:avLst/>
          </a:prstGeom>
          <a:noFill/>
          <a:ln/>
        </p:spPr>
        <p:txBody>
          <a:bodyPr wrap="square" lIns="0" tIns="0" rIns="0" bIns="0" rtlCol="0" anchor="ctr"/>
          <a:lstStyle/>
          <a:p>
            <a:pPr marL="0" indent="0" algn="l">
              <a:buNone/>
            </a:pPr>
            <a:r>
              <a:rPr lang="en-US" sz="1000" i="1" dirty="0">
                <a:solidFill>
                  <a:srgbClr val="10B981"/>
                </a:solidFill>
                <a:latin typeface="Calibri" pitchFamily="34" charset="0"/>
                <a:ea typeface="Calibri" pitchFamily="34" charset="-122"/>
                <a:cs typeface="Calibri" pitchFamily="34" charset="-120"/>
              </a:rPr>
              <a:t>"The fee stung last time — I'll skip the trip today."</a:t>
            </a:r>
            <a:endParaRPr lang="en-US" sz="1000" dirty="0"/>
          </a:p>
        </p:txBody>
      </p:sp>
      <p:sp>
        <p:nvSpPr>
          <p:cNvPr id="38" name="Text 36"/>
          <p:cNvSpPr/>
          <p:nvPr/>
        </p:nvSpPr>
        <p:spPr>
          <a:xfrm>
            <a:off x="6254496" y="2276856"/>
            <a:ext cx="2542032" cy="1115568"/>
          </a:xfrm>
          <a:prstGeom prst="rect">
            <a:avLst/>
          </a:prstGeom>
          <a:noFill/>
          <a:ln/>
        </p:spPr>
        <p:txBody>
          <a:bodyPr wrap="square" lIns="0" tIns="0" rIns="0" bIns="0" rtlCol="0" anchor="t"/>
          <a:lstStyle/>
          <a:p>
            <a:pPr marL="0" indent="0" algn="l">
              <a:buNone/>
            </a:pPr>
            <a:r>
              <a:rPr lang="en-US" sz="950" dirty="0">
                <a:solidFill>
                  <a:srgbClr val="334155"/>
                </a:solidFill>
                <a:latin typeface="Calibri" pitchFamily="34" charset="0"/>
                <a:ea typeface="Calibri" pitchFamily="34" charset="-122"/>
                <a:cs typeface="Calibri" pitchFamily="34" charset="-120"/>
              </a:rPr>
              <a:t>Drivers learn day by day. But this −39% assumes the only alternative is staying home: let them shift an hour and it falls to −14%.</a:t>
            </a:r>
            <a:endParaRPr lang="en-US" sz="950" dirty="0"/>
          </a:p>
        </p:txBody>
      </p:sp>
      <p:sp>
        <p:nvSpPr>
          <p:cNvPr id="39" name="Shape 37"/>
          <p:cNvSpPr/>
          <p:nvPr/>
        </p:nvSpPr>
        <p:spPr>
          <a:xfrm>
            <a:off x="6117336" y="3685032"/>
            <a:ext cx="2816352" cy="1078992"/>
          </a:xfrm>
          <a:prstGeom prst="rect">
            <a:avLst/>
          </a:prstGeom>
          <a:solidFill>
            <a:srgbClr val="F8FAFC"/>
          </a:solidFill>
          <a:ln w="10160">
            <a:solidFill>
              <a:srgbClr val="CBD5E1"/>
            </a:solidFill>
            <a:prstDash val="solid"/>
          </a:ln>
        </p:spPr>
        <p:txBody>
          <a:bodyPr/>
          <a:lstStyle/>
          <a:p>
            <a:endParaRPr lang="en-GB"/>
          </a:p>
        </p:txBody>
      </p:sp>
      <p:sp>
        <p:nvSpPr>
          <p:cNvPr id="40" name="Text 38"/>
          <p:cNvSpPr/>
          <p:nvPr/>
        </p:nvSpPr>
        <p:spPr>
          <a:xfrm>
            <a:off x="6227064" y="3730752"/>
            <a:ext cx="2633472" cy="201168"/>
          </a:xfrm>
          <a:prstGeom prst="rect">
            <a:avLst/>
          </a:prstGeom>
          <a:noFill/>
          <a:ln/>
        </p:spPr>
        <p:txBody>
          <a:bodyPr wrap="square" lIns="0" tIns="0" rIns="0" bIns="0"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Peak V/C (inner cordon)</a:t>
            </a:r>
            <a:endParaRPr lang="en-US" sz="850" dirty="0"/>
          </a:p>
        </p:txBody>
      </p:sp>
      <p:sp>
        <p:nvSpPr>
          <p:cNvPr id="41" name="Shape 39"/>
          <p:cNvSpPr/>
          <p:nvPr/>
        </p:nvSpPr>
        <p:spPr>
          <a:xfrm>
            <a:off x="6227064" y="3959352"/>
            <a:ext cx="1108575" cy="182880"/>
          </a:xfrm>
          <a:prstGeom prst="rect">
            <a:avLst/>
          </a:prstGeom>
          <a:solidFill>
            <a:srgbClr val="94A3B8"/>
          </a:solidFill>
          <a:ln w="12700">
            <a:solidFill>
              <a:srgbClr val="94A3B8"/>
            </a:solidFill>
            <a:prstDash val="solid"/>
          </a:ln>
        </p:spPr>
        <p:txBody>
          <a:bodyPr/>
          <a:lstStyle/>
          <a:p>
            <a:endParaRPr lang="en-GB"/>
          </a:p>
        </p:txBody>
      </p:sp>
      <p:sp>
        <p:nvSpPr>
          <p:cNvPr id="42" name="Text 40"/>
          <p:cNvSpPr/>
          <p:nvPr/>
        </p:nvSpPr>
        <p:spPr>
          <a:xfrm>
            <a:off x="7381359" y="3959352"/>
            <a:ext cx="109728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No charge  0.129</a:t>
            </a:r>
            <a:endParaRPr lang="en-US" sz="800" dirty="0"/>
          </a:p>
        </p:txBody>
      </p:sp>
      <p:sp>
        <p:nvSpPr>
          <p:cNvPr id="43" name="Shape 41"/>
          <p:cNvSpPr/>
          <p:nvPr/>
        </p:nvSpPr>
        <p:spPr>
          <a:xfrm>
            <a:off x="6227064" y="4215384"/>
            <a:ext cx="732057" cy="182880"/>
          </a:xfrm>
          <a:prstGeom prst="rect">
            <a:avLst/>
          </a:prstGeom>
          <a:solidFill>
            <a:srgbClr val="10B981"/>
          </a:solidFill>
          <a:ln w="12700">
            <a:solidFill>
              <a:srgbClr val="10B981"/>
            </a:solidFill>
            <a:prstDash val="solid"/>
          </a:ln>
        </p:spPr>
        <p:txBody>
          <a:bodyPr/>
          <a:lstStyle/>
          <a:p>
            <a:endParaRPr lang="en-GB"/>
          </a:p>
        </p:txBody>
      </p:sp>
      <p:sp>
        <p:nvSpPr>
          <p:cNvPr id="44" name="Text 42"/>
          <p:cNvSpPr/>
          <p:nvPr/>
        </p:nvSpPr>
        <p:spPr>
          <a:xfrm>
            <a:off x="7004841" y="4215384"/>
            <a:ext cx="1097280" cy="182880"/>
          </a:xfrm>
          <a:prstGeom prst="rect">
            <a:avLst/>
          </a:prstGeom>
          <a:noFill/>
          <a:ln/>
        </p:spPr>
        <p:txBody>
          <a:bodyPr wrap="square" lIns="0" tIns="0" rIns="0" bIns="0" rtlCol="0" anchor="ctr"/>
          <a:lstStyle/>
          <a:p>
            <a:pPr marL="0" indent="0">
              <a:buNone/>
            </a:pPr>
            <a:r>
              <a:rPr lang="en-US" sz="800" b="1" dirty="0">
                <a:solidFill>
                  <a:srgbClr val="10B981"/>
                </a:solidFill>
                <a:latin typeface="Calibri" pitchFamily="34" charset="0"/>
                <a:ea typeface="Calibri" pitchFamily="34" charset="-122"/>
                <a:cs typeface="Calibri" pitchFamily="34" charset="-120"/>
              </a:rPr>
              <a:t>ToU  0.079</a:t>
            </a:r>
            <a:endParaRPr lang="en-US" sz="800" dirty="0"/>
          </a:p>
        </p:txBody>
      </p:sp>
      <p:sp>
        <p:nvSpPr>
          <p:cNvPr id="45" name="Shape 43"/>
          <p:cNvSpPr/>
          <p:nvPr/>
        </p:nvSpPr>
        <p:spPr>
          <a:xfrm>
            <a:off x="6227064" y="4471416"/>
            <a:ext cx="2596896" cy="219456"/>
          </a:xfrm>
          <a:prstGeom prst="rect">
            <a:avLst/>
          </a:prstGeom>
          <a:solidFill>
            <a:srgbClr val="10B981">
              <a:alpha val="12000"/>
            </a:srgbClr>
          </a:solidFill>
          <a:ln w="12700">
            <a:solidFill>
              <a:srgbClr val="10B981"/>
            </a:solidFill>
            <a:prstDash val="solid"/>
          </a:ln>
        </p:spPr>
        <p:txBody>
          <a:bodyPr/>
          <a:lstStyle/>
          <a:p>
            <a:endParaRPr lang="en-GB"/>
          </a:p>
        </p:txBody>
      </p:sp>
      <p:sp>
        <p:nvSpPr>
          <p:cNvPr id="46" name="Text 44"/>
          <p:cNvSpPr/>
          <p:nvPr/>
        </p:nvSpPr>
        <p:spPr>
          <a:xfrm>
            <a:off x="6227064" y="4471416"/>
            <a:ext cx="2596896" cy="219456"/>
          </a:xfrm>
          <a:prstGeom prst="rect">
            <a:avLst/>
          </a:prstGeom>
          <a:noFill/>
          <a:ln/>
        </p:spPr>
        <p:txBody>
          <a:bodyPr wrap="square" lIns="0" tIns="0" rIns="0" bIns="0" rtlCol="0" anchor="ctr"/>
          <a:lstStyle/>
          <a:p>
            <a:pPr marL="0" indent="0" algn="ctr">
              <a:buNone/>
            </a:pPr>
            <a:r>
              <a:rPr lang="en-US" sz="950" b="1" dirty="0">
                <a:solidFill>
                  <a:srgbClr val="10B981"/>
                </a:solidFill>
                <a:latin typeface="Calibri" pitchFamily="34" charset="0"/>
                <a:ea typeface="Calibri" pitchFamily="34" charset="-122"/>
                <a:cs typeface="Calibri" pitchFamily="34" charset="-120"/>
              </a:rPr>
              <a:t>↓  Largest cut in entries</a:t>
            </a:r>
            <a:endParaRPr lang="en-US" sz="950" dirty="0"/>
          </a:p>
        </p:txBody>
      </p:sp>
      <p:sp>
        <p:nvSpPr>
          <p:cNvPr id="47" name="Shape 45"/>
          <p:cNvSpPr/>
          <p:nvPr/>
        </p:nvSpPr>
        <p:spPr>
          <a:xfrm>
            <a:off x="0" y="4818888"/>
            <a:ext cx="9144000" cy="324612"/>
          </a:xfrm>
          <a:prstGeom prst="rect">
            <a:avLst/>
          </a:prstGeom>
          <a:solidFill>
            <a:srgbClr val="0D2137"/>
          </a:solidFill>
          <a:ln w="12700">
            <a:solidFill>
              <a:srgbClr val="0D2137"/>
            </a:solidFill>
            <a:prstDash val="solid"/>
          </a:ln>
        </p:spPr>
        <p:txBody>
          <a:bodyPr/>
          <a:lstStyle/>
          <a:p>
            <a:endParaRPr lang="en-GB"/>
          </a:p>
        </p:txBody>
      </p:sp>
      <p:sp>
        <p:nvSpPr>
          <p:cNvPr id="48" name="Text 46"/>
          <p:cNvSpPr/>
          <p:nvPr/>
        </p:nvSpPr>
        <p:spPr>
          <a:xfrm>
            <a:off x="365760" y="4818888"/>
            <a:ext cx="8412480" cy="324612"/>
          </a:xfrm>
          <a:prstGeom prst="rect">
            <a:avLst/>
          </a:prstGeom>
          <a:noFill/>
          <a:ln/>
        </p:spPr>
        <p:txBody>
          <a:bodyPr wrap="square" lIns="0" tIns="0" rIns="0" bIns="0" rtlCol="0" anchor="ctr"/>
          <a:lstStyle/>
          <a:p>
            <a:pPr marL="0" indent="0" algn="ctr">
              <a:buNone/>
            </a:pPr>
            <a:r>
              <a:rPr lang="en-US" sz="1050" b="1" i="1" dirty="0">
                <a:solidFill>
                  <a:srgbClr val="22D3EE"/>
                </a:solidFill>
                <a:latin typeface="Calibri" pitchFamily="34" charset="0"/>
                <a:ea typeface="Calibri" pitchFamily="34" charset="-122"/>
                <a:cs typeface="Calibri" pitchFamily="34" charset="-120"/>
              </a:rPr>
              <a:t>Key insight: the right behavioural assumption changes not just how much congestion falls — but whether the policy works at all.</a:t>
            </a:r>
            <a:endParaRPr lang="en-US" sz="105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585216"/>
          </a:xfrm>
          <a:prstGeom prst="rect">
            <a:avLst/>
          </a:prstGeom>
          <a:noFill/>
        </p:spPr>
        <p:txBody>
          <a:bodyPr wrap="square" lIns="0" rIns="0" tIns="0" bIns="0">
            <a:spAutoFit/>
          </a:bodyPr>
          <a:lstStyle/>
          <a:p>
            <a:r>
              <a:rPr sz="2600" b="1">
                <a:solidFill>
                  <a:srgbClr val="FFFFFF"/>
                </a:solidFill>
                <a:latin typeface="Calibri"/>
              </a:rPr>
              <a:t>Calibrated on Volume and Space — Not on Time or OD</a:t>
            </a:r>
          </a:p>
        </p:txBody>
      </p:sp>
      <p:pic>
        <p:nvPicPr>
          <p:cNvPr id="4" name="Picture 3" descr="calibration_scatter.png"/>
          <p:cNvPicPr>
            <a:picLocks noChangeAspect="1"/>
          </p:cNvPicPr>
          <p:nvPr/>
        </p:nvPicPr>
        <p:blipFill>
          <a:blip r:embed="rId2"/>
          <a:stretch>
            <a:fillRect/>
          </a:stretch>
        </p:blipFill>
        <p:spPr>
          <a:xfrm>
            <a:off x="411480" y="1143000"/>
            <a:ext cx="2971800" cy="2743200"/>
          </a:xfrm>
          <a:prstGeom prst="rect">
            <a:avLst/>
          </a:prstGeom>
        </p:spPr>
      </p:pic>
      <p:sp>
        <p:nvSpPr>
          <p:cNvPr id="5" name="Rectangle 4"/>
          <p:cNvSpPr/>
          <p:nvPr/>
        </p:nvSpPr>
        <p:spPr>
          <a:xfrm>
            <a:off x="4617720" y="1115568"/>
            <a:ext cx="4114800" cy="841248"/>
          </a:xfrm>
          <a:prstGeom prst="rect">
            <a:avLst/>
          </a:prstGeom>
          <a:solidFill>
            <a:srgbClr val="FFFFFF"/>
          </a:solidFill>
          <a:ln>
            <a:solidFill>
              <a:srgbClr val="D8E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0" y="1197864"/>
            <a:ext cx="3840480" cy="219456"/>
          </a:xfrm>
          <a:prstGeom prst="rect">
            <a:avLst/>
          </a:prstGeom>
          <a:noFill/>
        </p:spPr>
        <p:txBody>
          <a:bodyPr wrap="square" lIns="0" rIns="0" tIns="0" bIns="0">
            <a:spAutoFit/>
          </a:bodyPr>
          <a:lstStyle/>
          <a:p>
            <a:r>
              <a:rPr sz="1100" b="1">
                <a:solidFill>
                  <a:srgbClr val="0D2137"/>
                </a:solidFill>
                <a:latin typeface="Calibri"/>
              </a:rPr>
              <a:t>Volume: 1 agent = 160 vehicles</a:t>
            </a:r>
          </a:p>
        </p:txBody>
      </p:sp>
      <p:sp>
        <p:nvSpPr>
          <p:cNvPr id="7" name="TextBox 6"/>
          <p:cNvSpPr txBox="1"/>
          <p:nvPr/>
        </p:nvSpPr>
        <p:spPr>
          <a:xfrm>
            <a:off x="4754880" y="1426464"/>
            <a:ext cx="3840480" cy="475488"/>
          </a:xfrm>
          <a:prstGeom prst="rect">
            <a:avLst/>
          </a:prstGeom>
          <a:noFill/>
        </p:spPr>
        <p:txBody>
          <a:bodyPr wrap="square" lIns="0" rIns="0" tIns="0" bIns="0">
            <a:spAutoFit/>
          </a:bodyPr>
          <a:lstStyle/>
          <a:p>
            <a:r>
              <a:rPr sz="850" b="0">
                <a:solidFill>
                  <a:srgbClr val="64748B"/>
                </a:solidFill>
                <a:latin typeface="Calibri"/>
              </a:rPr>
              <a:t>Flow-weighted modelled/observed ratio 1.013 across all 1,634 links (median 1.010). ~400,000 vehicle-trips a day.</a:t>
            </a:r>
          </a:p>
        </p:txBody>
      </p:sp>
      <p:sp>
        <p:nvSpPr>
          <p:cNvPr id="8" name="Rectangle 7"/>
          <p:cNvSpPr/>
          <p:nvPr/>
        </p:nvSpPr>
        <p:spPr>
          <a:xfrm>
            <a:off x="4617720" y="2048256"/>
            <a:ext cx="4114800" cy="841248"/>
          </a:xfrm>
          <a:prstGeom prst="rect">
            <a:avLst/>
          </a:prstGeom>
          <a:solidFill>
            <a:srgbClr val="FFFFFF"/>
          </a:solidFill>
          <a:ln>
            <a:solidFill>
              <a:srgbClr val="D8E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130552"/>
            <a:ext cx="3840480" cy="219456"/>
          </a:xfrm>
          <a:prstGeom prst="rect">
            <a:avLst/>
          </a:prstGeom>
          <a:noFill/>
        </p:spPr>
        <p:txBody>
          <a:bodyPr wrap="square" lIns="0" rIns="0" tIns="0" bIns="0">
            <a:spAutoFit/>
          </a:bodyPr>
          <a:lstStyle/>
          <a:p>
            <a:r>
              <a:rPr sz="1100" b="1">
                <a:solidFill>
                  <a:srgbClr val="0D2137"/>
                </a:solidFill>
                <a:latin typeface="Calibri"/>
              </a:rPr>
              <a:t>Space: 1,400 suburban trip ends added</a:t>
            </a:r>
          </a:p>
        </p:txBody>
      </p:sp>
      <p:sp>
        <p:nvSpPr>
          <p:cNvPr id="10" name="TextBox 9"/>
          <p:cNvSpPr txBox="1"/>
          <p:nvPr/>
        </p:nvSpPr>
        <p:spPr>
          <a:xfrm>
            <a:off x="4754880" y="2359152"/>
            <a:ext cx="3840480" cy="475488"/>
          </a:xfrm>
          <a:prstGeom prst="rect">
            <a:avLst/>
          </a:prstGeom>
          <a:noFill/>
        </p:spPr>
        <p:txBody>
          <a:bodyPr wrap="square" lIns="0" rIns="0" tIns="0" bIns="0">
            <a:spAutoFit/>
          </a:bodyPr>
          <a:lstStyle/>
          <a:p>
            <a:r>
              <a:rPr sz="850" b="0">
                <a:solidFill>
                  <a:srgbClr val="64748B"/>
                </a:solidFill>
                <a:latin typeface="Calibri"/>
              </a:rPr>
              <a:t>Every non-home destination used to sit inside the cordon. Group ratios went from 0.75–1.80 to 0.82–1.20; CBD from 1.80 to 1.12.</a:t>
            </a:r>
          </a:p>
        </p:txBody>
      </p:sp>
      <p:sp>
        <p:nvSpPr>
          <p:cNvPr id="11" name="Rectangle 10"/>
          <p:cNvSpPr/>
          <p:nvPr/>
        </p:nvSpPr>
        <p:spPr>
          <a:xfrm>
            <a:off x="4617720" y="2980944"/>
            <a:ext cx="4114800" cy="841248"/>
          </a:xfrm>
          <a:prstGeom prst="rect">
            <a:avLst/>
          </a:prstGeom>
          <a:solidFill>
            <a:srgbClr val="FFFFFF"/>
          </a:solidFill>
          <a:ln>
            <a:solidFill>
              <a:srgbClr val="D8E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063239"/>
            <a:ext cx="3840480" cy="219456"/>
          </a:xfrm>
          <a:prstGeom prst="rect">
            <a:avLst/>
          </a:prstGeom>
          <a:noFill/>
        </p:spPr>
        <p:txBody>
          <a:bodyPr wrap="square" lIns="0" rIns="0" tIns="0" bIns="0">
            <a:spAutoFit/>
          </a:bodyPr>
          <a:lstStyle/>
          <a:p>
            <a:r>
              <a:rPr sz="1100" b="1">
                <a:solidFill>
                  <a:srgbClr val="0D2137"/>
                </a:solidFill>
                <a:latin typeface="Calibri"/>
              </a:rPr>
              <a:t>Time: assumed, never fitted</a:t>
            </a:r>
          </a:p>
        </p:txBody>
      </p:sp>
      <p:sp>
        <p:nvSpPr>
          <p:cNvPr id="13" name="TextBox 12"/>
          <p:cNvSpPr txBox="1"/>
          <p:nvPr/>
        </p:nvSpPr>
        <p:spPr>
          <a:xfrm>
            <a:off x="4754880" y="3291839"/>
            <a:ext cx="3840480" cy="475488"/>
          </a:xfrm>
          <a:prstGeom prst="rect">
            <a:avLst/>
          </a:prstGeom>
          <a:noFill/>
        </p:spPr>
        <p:txBody>
          <a:bodyPr wrap="square" lIns="0" rIns="0" tIns="0" bIns="0">
            <a:spAutoFit/>
          </a:bodyPr>
          <a:lstStyle/>
          <a:p>
            <a:r>
              <a:rPr sz="850" b="0">
                <a:solidFill>
                  <a:srgbClr val="64748B"/>
                </a:solidFill>
                <a:latin typeface="Calibri"/>
              </a:rPr>
              <a:t>Departure hours come from a fixed weight profile (~20% of trips at 08:00), not from observed data. Implied design-hour factor 0.157 vs the 0.10 assumed, so absolute LoS reads pessimistically.</a:t>
            </a:r>
          </a:p>
        </p:txBody>
      </p:sp>
      <p:sp>
        <p:nvSpPr>
          <p:cNvPr id="14" name="Rectangle 13"/>
          <p:cNvSpPr/>
          <p:nvPr/>
        </p:nvSpPr>
        <p:spPr>
          <a:xfrm>
            <a:off x="4617720" y="3913632"/>
            <a:ext cx="4114800" cy="841248"/>
          </a:xfrm>
          <a:prstGeom prst="rect">
            <a:avLst/>
          </a:prstGeom>
          <a:solidFill>
            <a:srgbClr val="FFFFFF"/>
          </a:solidFill>
          <a:ln>
            <a:solidFill>
              <a:srgbClr val="D8E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995928"/>
            <a:ext cx="3840480" cy="219456"/>
          </a:xfrm>
          <a:prstGeom prst="rect">
            <a:avLst/>
          </a:prstGeom>
          <a:noFill/>
        </p:spPr>
        <p:txBody>
          <a:bodyPr wrap="square" lIns="0" rIns="0" tIns="0" bIns="0">
            <a:spAutoFit/>
          </a:bodyPr>
          <a:lstStyle/>
          <a:p>
            <a:r>
              <a:rPr sz="1100" b="1">
                <a:solidFill>
                  <a:srgbClr val="0D2137"/>
                </a:solidFill>
                <a:latin typeface="Calibri"/>
              </a:rPr>
              <a:t>OD matrix: synthetic, not estimated</a:t>
            </a:r>
          </a:p>
        </p:txBody>
      </p:sp>
      <p:sp>
        <p:nvSpPr>
          <p:cNvPr id="16" name="TextBox 15"/>
          <p:cNvSpPr txBox="1"/>
          <p:nvPr/>
        </p:nvSpPr>
        <p:spPr>
          <a:xfrm>
            <a:off x="4754880" y="4224528"/>
            <a:ext cx="3840480" cy="475488"/>
          </a:xfrm>
          <a:prstGeom prst="rect">
            <a:avLst/>
          </a:prstGeom>
          <a:noFill/>
        </p:spPr>
        <p:txBody>
          <a:bodyPr wrap="square" lIns="0" rIns="0" tIns="0" bIns="0">
            <a:spAutoFit/>
          </a:bodyPr>
          <a:lstStyle/>
          <a:p>
            <a:r>
              <a:rPr sz="850" b="0">
                <a:solidFill>
                  <a:srgbClr val="64748B"/>
                </a:solidFill>
                <a:latin typeface="Calibri"/>
              </a:rPr>
              <a:t>Origins follow 2023 Census sector shares; destinations are drawn uniformly from the building stock. No gravity model, no observed trip ends. k = 0.08/0.10/0.12 leaves direction and ordering unchanged.</a:t>
            </a:r>
          </a:p>
        </p:txBody>
      </p:sp>
      <p:sp>
        <p:nvSpPr>
          <p:cNvPr id="17" name="TextBox 16"/>
          <p:cNvSpPr txBox="1"/>
          <p:nvPr/>
        </p:nvSpPr>
        <p:spPr>
          <a:xfrm>
            <a:off x="411480" y="4846320"/>
            <a:ext cx="8412480" cy="228600"/>
          </a:xfrm>
          <a:prstGeom prst="rect">
            <a:avLst/>
          </a:prstGeom>
          <a:noFill/>
        </p:spPr>
        <p:txBody>
          <a:bodyPr wrap="square" lIns="0" rIns="0" tIns="0" bIns="0">
            <a:spAutoFit/>
          </a:bodyPr>
          <a:lstStyle/>
          <a:p>
            <a:r>
              <a:rPr sz="950" b="0">
                <a:solidFill>
                  <a:srgbClr val="64748B"/>
                </a:solidFill>
                <a:latin typeface="Calibri"/>
              </a:rPr>
              <a:t>So: the model reproduces observed traffic volume and its spatial spread, not observed travel patterns. Calibration still changed the answers — it removed El Farol's oscillation and cut every congestion level, superseding the pre-calibration numbers.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585216"/>
          </a:xfrm>
          <a:prstGeom prst="rect">
            <a:avLst/>
          </a:prstGeom>
          <a:noFill/>
        </p:spPr>
        <p:txBody>
          <a:bodyPr wrap="none">
            <a:spAutoFit/>
          </a:bodyPr>
          <a:lstStyle/>
          <a:p>
            <a:r>
              <a:rPr sz="2600" b="1">
                <a:solidFill>
                  <a:srgbClr val="FFFFFF"/>
                </a:solidFill>
                <a:latin typeface="Calibri"/>
              </a:rPr>
              <a:t>Who Would Pay? Derived, Not Yet Measured</a:t>
            </a:r>
          </a:p>
        </p:txBody>
      </p:sp>
      <p:sp>
        <p:nvSpPr>
          <p:cNvPr id="5" name="TextBox 4"/>
          <p:cNvSpPr txBox="1"/>
          <p:nvPr/>
        </p:nvSpPr>
        <p:spPr>
          <a:xfrm>
            <a:off x="365760" y="3429000"/>
            <a:ext cx="8412480" cy="1005840"/>
          </a:xfrm>
          <a:prstGeom prst="rect">
            <a:avLst/>
          </a:prstGeom>
          <a:noFill/>
        </p:spPr>
        <p:txBody>
          <a:bodyPr wrap="square">
            <a:spAutoFit/>
          </a:bodyPr>
          <a:lstStyle/>
          <a:p>
            <a:r>
              <a:rPr sz="1050">
                <a:solidFill>
                  <a:srgbClr val="64748B"/>
                </a:solidFill>
                <a:latin typeface="Calibri"/>
              </a:rPr>
              <a:t>Left (price rule): projected entries per value-of-time quintile as the fee rises. IF the decision rule holds, the $6 peak fee removes 59% of Q1’s trips against 6% of Q5’s — the same charge costs Q1 1.30 hours of its own time and Q5 0.28 hours.</a:t>
            </a:r>
          </a:p>
          <a:p>
            <a:r>
              <a:rPr sz="1050">
                <a:solidFill>
                  <a:srgbClr val="64748B"/>
                </a:solidFill>
                <a:latin typeface="Calibri"/>
              </a:rPr>
              <a:t>Implication, conditional on the rule: most of the congestion relief would be bought by low-income drivers giving up trips.</a:t>
            </a:r>
          </a:p>
          <a:p>
            <a:r>
              <a:rPr sz="1050">
                <a:solidFill>
                  <a:srgbClr val="64748B"/>
                </a:solidFill>
                <a:latin typeface="Calibri"/>
              </a:rPr>
              <a:t>Right (learner): a diagnosis, not a result — its flat income gradient exists only because the reward prices a commute at VoT/10. Valued at half an hour of VoT, the regressive pattern returns. The learner’s equity story is a scaling choice.</a:t>
            </a:r>
          </a:p>
        </p:txBody>
      </p:sp>
      <p:pic>
        <p:nvPicPr>
          <p:cNvPr id="6" name="Picture 5" descr="equity_by_income_gg.png"/>
          <p:cNvPicPr>
            <a:picLocks noChangeAspect="1"/>
          </p:cNvPicPr>
          <p:nvPr/>
        </p:nvPicPr>
        <p:blipFill>
          <a:blip r:embed="rId3"/>
          <a:stretch>
            <a:fillRect/>
          </a:stretch>
        </p:blipFill>
        <p:spPr>
          <a:xfrm>
            <a:off x="1470630" y="989000"/>
            <a:ext cx="6202741" cy="2377440"/>
          </a:xfrm>
          <a:prstGeom prst="rect">
            <a:avLst/>
          </a:prstGeom>
        </p:spPr>
      </p:pic>
      <p:sp>
        <p:nvSpPr>
          <p:cNvPr id="20" name="StatusBadge"/>
          <p:cNvSpPr/>
          <p:nvPr/>
        </p:nvSpPr>
        <p:spPr>
          <a:xfrm>
            <a:off x="7132320" y="274320"/>
            <a:ext cx="1737360" cy="365760"/>
          </a:xfrm>
          <a:prstGeom prst="roundRect">
            <a:avLst/>
          </a:prstGeom>
          <a:noFill/>
          <a:ln w="19050">
            <a:solidFill>
              <a:srgbClr val="F59E0B"/>
            </a:solidFill>
          </a:ln>
        </p:spPr>
        <p:txBody>
          <a:bodyPr anchor="ctr" lIns="0" rIns="0"/>
          <a:lstStyle/>
          <a:p>
            <a:pPr algn="ctr"/>
            <a:r>
              <a:rPr sz="1000" b="1">
                <a:solidFill>
                  <a:srgbClr val="F59E0B"/>
                </a:solidFill>
                <a:latin typeface="Calibri"/>
              </a:rPr>
              <a:t>DERIVED — NOT MEASURED</a:t>
            </a:r>
          </a:p>
        </p:txBody>
      </p:sp>
      <p:sp>
        <p:nvSpPr>
          <p:cNvPr id="21" name="StatusStrip"/>
          <p:cNvSpPr/>
          <p:nvPr/>
        </p:nvSpPr>
        <p:spPr>
          <a:xfrm>
            <a:off x="365760" y="4526280"/>
            <a:ext cx="8412480" cy="548640"/>
          </a:xfrm>
          <a:prstGeom prst="roundRect">
            <a:avLst>
              <a:gd name="adj" fmla="val 8000"/>
            </a:avLst>
          </a:prstGeom>
          <a:solidFill>
            <a:srgbClr val="FEF3C7"/>
          </a:solidFill>
          <a:ln>
            <a:solidFill>
              <a:srgbClr val="F59E0B"/>
            </a:solidFill>
          </a:ln>
        </p:spPr>
        <p:txBody>
          <a:bodyPr anchor="ctr" lIns="182880" rIns="182880"/>
          <a:lstStyle/>
          <a:p>
            <a:r>
              <a:rPr sz="1000" b="1">
                <a:solidFill>
                  <a:srgbClr val="92400E"/>
                </a:solidFill>
                <a:latin typeface="Calibri"/>
              </a:rPr>
              <a:t>How these numbers were obtained: </a:t>
            </a:r>
            <a:r>
              <a:rPr sz="1000">
                <a:solidFill>
                  <a:srgbClr val="92400E"/>
                </a:solidFill>
                <a:latin typeface="Calibri"/>
              </a:rPr>
              <a:t>the model’s decision and reward equations applied to the calibrated VoT distribution (median NZ$10/h). No run has recorded entries by income band, so regressivity is a projection of the assumed rule, not a confirmed simulation outcome. A recording re-run is planned.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585216"/>
          </a:xfrm>
          <a:prstGeom prst="rect">
            <a:avLst/>
          </a:prstGeom>
          <a:noFill/>
        </p:spPr>
        <p:txBody>
          <a:bodyPr wrap="none">
            <a:spAutoFit/>
          </a:bodyPr>
          <a:lstStyle/>
          <a:p>
            <a:r>
              <a:rPr sz="2600" b="1">
                <a:solidFill>
                  <a:srgbClr val="FFFFFF"/>
                </a:solidFill>
                <a:latin typeface="Calibri"/>
              </a:rPr>
              <a:t>Let Them Shift an Hour: Fewer Trips Forgone</a:t>
            </a:r>
          </a:p>
        </p:txBody>
      </p:sp>
      <p:sp>
        <p:nvSpPr>
          <p:cNvPr id="5" name="TextBox 4"/>
          <p:cNvSpPr txBox="1"/>
          <p:nvPr/>
        </p:nvSpPr>
        <p:spPr>
          <a:xfrm>
            <a:off x="365760" y="3931920"/>
            <a:ext cx="8412480" cy="1005840"/>
          </a:xfrm>
          <a:prstGeom prst="rect">
            <a:avLst/>
          </a:prstGeom>
          <a:noFill/>
        </p:spPr>
        <p:txBody>
          <a:bodyPr wrap="square">
            <a:spAutoFit/>
          </a:bodyPr>
          <a:lstStyle/>
          <a:p>
            <a:r>
              <a:rPr sz="1050">
                <a:solidFill>
                  <a:srgbClr val="64748B"/>
                </a:solidFill>
                <a:latin typeface="Calibri"/>
              </a:rPr>
              <a:t>Retiming is the only option that changes HOW MANY trips are made. Pay's entry rate is unchanged (0.40) because only 2.7% of its entrants shift — all of them earlier, all of them low-income, since an hour of schedule delay costs 0.6 x VoT against a $2 saving.</a:t>
            </a:r>
          </a:p>
          <a:p>
            <a:r>
              <a:rPr sz="1050">
                <a:solidFill>
                  <a:srgbClr val="64748B"/>
                </a:solidFill>
                <a:latin typeface="Calibri"/>
              </a:rPr>
              <a:t>Learn is the opposite: given somewhere to move, 67% shift and entry jumps 0.34 → 0.62, so the measured congestion benefit falls from 39% to 14%.</a:t>
            </a:r>
          </a:p>
          <a:p>
            <a:r>
              <a:rPr sz="1050">
                <a:solidFill>
                  <a:srgbClr val="64748B"/>
                </a:solidFill>
                <a:latin typeface="Calibri"/>
              </a:rPr>
              <a:t>A model where the only response is 'stay home' overstates what the charge achieves.</a:t>
            </a:r>
          </a:p>
        </p:txBody>
      </p:sp>
      <p:pic>
        <p:nvPicPr>
          <p:cNvPr id="6" name="Picture 5" descr="optin_retiming_gg.png"/>
          <p:cNvPicPr>
            <a:picLocks noChangeAspect="1"/>
          </p:cNvPicPr>
          <p:nvPr/>
        </p:nvPicPr>
        <p:blipFill>
          <a:blip r:embed="rId3"/>
          <a:stretch>
            <a:fillRect/>
          </a:stretch>
        </p:blipFill>
        <p:spPr>
          <a:xfrm>
            <a:off x="934278" y="1024128"/>
            <a:ext cx="7275443" cy="2788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585216"/>
          </a:xfrm>
          <a:prstGeom prst="rect">
            <a:avLst/>
          </a:prstGeom>
          <a:noFill/>
        </p:spPr>
        <p:txBody>
          <a:bodyPr wrap="none">
            <a:spAutoFit/>
          </a:bodyPr>
          <a:lstStyle/>
          <a:p>
            <a:r>
              <a:rPr sz="2600" b="1">
                <a:solidFill>
                  <a:srgbClr val="FFFFFF"/>
                </a:solidFill>
                <a:latin typeface="Calibri"/>
              </a:rPr>
              <a:t>Let Them Take Another Road: Same Trips, New Places</a:t>
            </a:r>
          </a:p>
        </p:txBody>
      </p:sp>
      <p:sp>
        <p:nvSpPr>
          <p:cNvPr id="5" name="TextBox 4"/>
          <p:cNvSpPr txBox="1"/>
          <p:nvPr/>
        </p:nvSpPr>
        <p:spPr>
          <a:xfrm>
            <a:off x="365760" y="3931920"/>
            <a:ext cx="8412480" cy="1005840"/>
          </a:xfrm>
          <a:prstGeom prst="rect">
            <a:avLst/>
          </a:prstGeom>
          <a:noFill/>
        </p:spPr>
        <p:txBody>
          <a:bodyPr wrap="square">
            <a:spAutoFit/>
          </a:bodyPr>
          <a:lstStyle/>
          <a:p>
            <a:r>
              <a:rPr sz="1050">
                <a:solidFill>
                  <a:srgbClr val="64748B"/>
                </a:solidFill>
                <a:latin typeface="Calibri"/>
              </a:rPr>
              <a:t>Route choice leaves the number of trips untouched — entry rates are identical to three decimals (Pay 0.40, Learn 0.34) — and changes only where those trips go.</a:t>
            </a:r>
          </a:p>
          <a:p>
            <a:r>
              <a:rPr sz="1050">
                <a:solidFill>
                  <a:srgbClr val="64748B"/>
                </a:solidFill>
                <a:latin typeface="Calibri"/>
              </a:rPr>
              <a:t>The no-charge baseline moves a lot: inner V/C rises (0.113 → 0.164 for Pay) while the cordon boundary falls by a third, because fixed shortest paths were funnelling traffic onto a few approach arterials.</a:t>
            </a:r>
          </a:p>
          <a:p>
            <a:r>
              <a:rPr sz="1050">
                <a:solidFill>
                  <a:srgbClr val="64748B"/>
                </a:solidFill>
                <a:latin typeface="Calibri"/>
              </a:rPr>
              <a:t>This is the arm that makes displacement testable: the traffic still exists and can move. It still does not pile up outside the cordon.</a:t>
            </a:r>
          </a:p>
        </p:txBody>
      </p:sp>
      <p:pic>
        <p:nvPicPr>
          <p:cNvPr id="6" name="Picture 5" descr="optin_rerouting_gg.png"/>
          <p:cNvPicPr>
            <a:picLocks noChangeAspect="1"/>
          </p:cNvPicPr>
          <p:nvPr/>
        </p:nvPicPr>
        <p:blipFill>
          <a:blip r:embed="rId3"/>
          <a:stretch>
            <a:fillRect/>
          </a:stretch>
        </p:blipFill>
        <p:spPr>
          <a:xfrm>
            <a:off x="934278" y="1024128"/>
            <a:ext cx="7275443" cy="2788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585216"/>
          </a:xfrm>
          <a:prstGeom prst="rect">
            <a:avLst/>
          </a:prstGeom>
          <a:noFill/>
        </p:spPr>
        <p:txBody>
          <a:bodyPr wrap="none">
            <a:spAutoFit/>
          </a:bodyPr>
          <a:lstStyle/>
          <a:p>
            <a:r>
              <a:rPr sz="2600" b="1">
                <a:solidFill>
                  <a:srgbClr val="FFFFFF"/>
                </a:solidFill>
                <a:latin typeface="Calibri"/>
              </a:rPr>
              <a:t>Why Learning Keeps Falling — and Herding Bounces Back</a:t>
            </a:r>
          </a:p>
        </p:txBody>
      </p:sp>
      <p:sp>
        <p:nvSpPr>
          <p:cNvPr id="5" name="TextBox 4"/>
          <p:cNvSpPr txBox="1"/>
          <p:nvPr/>
        </p:nvSpPr>
        <p:spPr>
          <a:xfrm>
            <a:off x="365760" y="3794760"/>
            <a:ext cx="8412480" cy="1097280"/>
          </a:xfrm>
          <a:prstGeom prst="rect">
            <a:avLst/>
          </a:prstGeom>
          <a:noFill/>
        </p:spPr>
        <p:txBody>
          <a:bodyPr wrap="square">
            <a:spAutoFit/>
          </a:bodyPr>
          <a:lstStyle/>
          <a:p>
            <a:r>
              <a:rPr sz="1050">
                <a:solidFill>
                  <a:srgbClr val="64748B"/>
                </a:solidFill>
                <a:latin typeface="Calibri"/>
              </a:rPr>
              <a:t>Pay reads the fee inside the decision, so its response is complete on day 1 and then flat.</a:t>
            </a:r>
          </a:p>
          <a:p>
            <a:r>
              <a:rPr sz="1050">
                <a:solidFill>
                  <a:srgbClr val="64748B"/>
                </a:solidFill>
                <a:latin typeface="Calibri"/>
              </a:rPr>
              <a:t>Learn never sees the fee when it decides — it only feels it in the reward. Entry starts at the no-charge level and slides for the whole fortnight (0.51 → 0.24), because the fee ($2–6) outweighs the congestion it could avoid (~0.3 in reward units) by an order of magnitude, so nothing pulls entry back up. Fee per entering agent is unchanged (2.83 → 2.75): deterrence, not retiming.</a:t>
            </a:r>
          </a:p>
          <a:p>
            <a:r>
              <a:rPr sz="1050">
                <a:solidFill>
                  <a:srgbClr val="64748B"/>
                </a:solidFill>
                <a:latin typeface="Calibri"/>
              </a:rPr>
              <a:t>Oscillate is deterred on day 1 (0.57 vs 0.73) but its own feedback erases that within a day — by day 2 both regimes sit at 0.91.</a:t>
            </a:r>
          </a:p>
        </p:txBody>
      </p:sp>
      <p:pic>
        <p:nvPicPr>
          <p:cNvPr id="6" name="Picture 5" descr="entry_trajectory_gg.png"/>
          <p:cNvPicPr>
            <a:picLocks noChangeAspect="1"/>
          </p:cNvPicPr>
          <p:nvPr/>
        </p:nvPicPr>
        <p:blipFill>
          <a:blip r:embed="rId3"/>
          <a:stretch>
            <a:fillRect/>
          </a:stretch>
        </p:blipFill>
        <p:spPr>
          <a:xfrm>
            <a:off x="768927" y="1051560"/>
            <a:ext cx="7606145" cy="2788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585216"/>
          </a:xfrm>
          <a:prstGeom prst="rect">
            <a:avLst/>
          </a:prstGeom>
          <a:noFill/>
        </p:spPr>
        <p:txBody>
          <a:bodyPr wrap="none">
            <a:spAutoFit/>
          </a:bodyPr>
          <a:lstStyle/>
          <a:p>
            <a:r>
              <a:rPr sz="2600" b="1">
                <a:solidFill>
                  <a:srgbClr val="FFFFFF"/>
                </a:solidFill>
                <a:latin typeface="Calibri"/>
              </a:rPr>
              <a:t>Where the Charge Acts Within the Day</a:t>
            </a:r>
          </a:p>
        </p:txBody>
      </p:sp>
      <p:sp>
        <p:nvSpPr>
          <p:cNvPr id="5" name="TextBox 4"/>
          <p:cNvSpPr txBox="1"/>
          <p:nvPr/>
        </p:nvSpPr>
        <p:spPr>
          <a:xfrm>
            <a:off x="365760" y="3977639"/>
            <a:ext cx="8412480" cy="914400"/>
          </a:xfrm>
          <a:prstGeom prst="rect">
            <a:avLst/>
          </a:prstGeom>
          <a:noFill/>
        </p:spPr>
        <p:txBody>
          <a:bodyPr wrap="square">
            <a:spAutoFit/>
          </a:bodyPr>
          <a:lstStyle/>
          <a:p>
            <a:pPr algn="l"/>
            <a:r>
              <a:rPr sz="1100">
                <a:solidFill>
                  <a:srgbClr val="64748B"/>
                </a:solidFill>
                <a:latin typeface="Calibri"/>
              </a:rPr>
              <a:t>Hour-of-day inner-cordon V/C, days 8–14, no charge (grey) vs ToU (blue); shaded bands are the $6 peak and $4 shoulder fee windows. Pay −23% at the morning peak, Learn −49%, Oscillate +2%. The whole-day mean falls by as much as the peaks do, so the charge deters trips rather than spreading them.</a:t>
            </a:r>
          </a:p>
        </p:txBody>
      </p:sp>
      <p:pic>
        <p:nvPicPr>
          <p:cNvPr id="6" name="Picture 5" descr="hourly_profile_gg.png"/>
          <p:cNvPicPr>
            <a:picLocks noChangeAspect="1"/>
          </p:cNvPicPr>
          <p:nvPr/>
        </p:nvPicPr>
        <p:blipFill>
          <a:blip r:embed="rId3"/>
          <a:stretch>
            <a:fillRect/>
          </a:stretch>
        </p:blipFill>
        <p:spPr>
          <a:xfrm>
            <a:off x="768927" y="1051560"/>
            <a:ext cx="7606145" cy="2788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585216"/>
          </a:xfrm>
          <a:prstGeom prst="rect">
            <a:avLst/>
          </a:prstGeom>
          <a:noFill/>
        </p:spPr>
        <p:txBody>
          <a:bodyPr wrap="none">
            <a:spAutoFit/>
          </a:bodyPr>
          <a:lstStyle/>
          <a:p>
            <a:r>
              <a:rPr sz="2600" b="1">
                <a:solidFill>
                  <a:srgbClr val="FFFFFF"/>
                </a:solidFill>
                <a:latin typeface="Calibri"/>
              </a:rPr>
              <a:t>No Displacement onto the Ring Roads — So Far</a:t>
            </a:r>
          </a:p>
        </p:txBody>
      </p:sp>
      <p:pic>
        <p:nvPicPr>
          <p:cNvPr id="4" name="Picture 3" descr="map_redistribution.png"/>
          <p:cNvPicPr>
            <a:picLocks noChangeAspect="1"/>
          </p:cNvPicPr>
          <p:nvPr/>
        </p:nvPicPr>
        <p:blipFill>
          <a:blip r:embed="rId2"/>
          <a:stretch>
            <a:fillRect/>
          </a:stretch>
        </p:blipFill>
        <p:spPr>
          <a:xfrm>
            <a:off x="1048854" y="1051560"/>
            <a:ext cx="7046291" cy="2788920"/>
          </a:xfrm>
          <a:prstGeom prst="rect">
            <a:avLst/>
          </a:prstGeom>
        </p:spPr>
      </p:pic>
      <p:sp>
        <p:nvSpPr>
          <p:cNvPr id="5" name="TextBox 4"/>
          <p:cNvSpPr txBox="1"/>
          <p:nvPr/>
        </p:nvSpPr>
        <p:spPr>
          <a:xfrm>
            <a:off x="365760" y="3977639"/>
            <a:ext cx="8412480" cy="914400"/>
          </a:xfrm>
          <a:prstGeom prst="rect">
            <a:avLst/>
          </a:prstGeom>
          <a:noFill/>
        </p:spPr>
        <p:txBody>
          <a:bodyPr wrap="square">
            <a:spAutoFit/>
          </a:bodyPr>
          <a:lstStyle/>
          <a:p>
            <a:pPr algn="l"/>
            <a:r>
              <a:rPr sz="1100">
                <a:solidFill>
                  <a:srgbClr val="64748B"/>
                </a:solidFill>
                <a:latin typeface="Calibri"/>
              </a:rPr>
              <a:t>Change in per-link peak V/C under ToU: blue is a reduction, red an increase, dashed outline is the cordon. Under Pay and Learn the boundary and approach roads fall together with the interior (−24% and −37% at the boundary). Under Oscillate the map is mottled and the net change is zero.</a:t>
            </a:r>
          </a:p>
          <a:p>
            <a:r>
              <a:rPr sz="1100" b="1">
                <a:solidFill>
                  <a:srgbClr val="92400E"/>
                </a:solidFill>
                <a:latin typeface="Calibri"/>
              </a:rPr>
              <a:t>Caveat: </a:t>
            </a:r>
            <a:r>
              <a:rPr sz="1100">
                <a:solidFill>
                  <a:srgbClr val="92400E"/>
                </a:solidFill>
                <a:latin typeface="Calibri"/>
              </a:rPr>
              <a:t>in these runs a declining agent’s suburban trips were cancelled along with its CBD trip (~100,000 vehicle-trips/day), which flatters the reductions outside the cordon. The model is now fixed; this map awaits a re-run.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585216"/>
          </a:xfrm>
          <a:prstGeom prst="rect">
            <a:avLst/>
          </a:prstGeom>
          <a:noFill/>
        </p:spPr>
        <p:txBody>
          <a:bodyPr wrap="none">
            <a:spAutoFit/>
          </a:bodyPr>
          <a:lstStyle/>
          <a:p>
            <a:r>
              <a:rPr sz="2600" b="1">
                <a:solidFill>
                  <a:srgbClr val="FFFFFF"/>
                </a:solidFill>
                <a:latin typeface="Calibri"/>
              </a:rPr>
              <a:t>What We Let Agents Do Changes the Answer</a:t>
            </a:r>
          </a:p>
        </p:txBody>
      </p:sp>
      <p:sp>
        <p:nvSpPr>
          <p:cNvPr id="5" name="TextBox 4"/>
          <p:cNvSpPr txBox="1"/>
          <p:nvPr/>
        </p:nvSpPr>
        <p:spPr>
          <a:xfrm>
            <a:off x="365760" y="3794760"/>
            <a:ext cx="8412480" cy="1097280"/>
          </a:xfrm>
          <a:prstGeom prst="rect">
            <a:avLst/>
          </a:prstGeom>
          <a:noFill/>
        </p:spPr>
        <p:txBody>
          <a:bodyPr wrap="square">
            <a:spAutoFit/>
          </a:bodyPr>
          <a:lstStyle/>
          <a:p>
            <a:r>
              <a:rPr sz="1050">
                <a:solidFill>
                  <a:srgbClr val="64748B"/>
                </a:solidFill>
                <a:latin typeface="Calibri"/>
              </a:rPr>
              <a:t>Same network, same population, same fee schedule. The only difference is the set of responses an agent is allowed: forgo the trip only (grey), or also shift an hour (blue), reroute (orange), or both (green).</a:t>
            </a:r>
          </a:p>
          <a:p>
            <a:r>
              <a:rPr sz="1050">
                <a:solidFill>
                  <a:srgbClr val="64748B"/>
                </a:solidFill>
                <a:latin typeface="Calibri"/>
              </a:rPr>
              <a:t>Pay is robust at 12–26%. Learn swings 39% → 14% — its headline needs the assumption that staying home is the only alternative. Oscillate is zero in every arm.</a:t>
            </a:r>
          </a:p>
          <a:p>
            <a:r>
              <a:rPr sz="1050">
                <a:solidFill>
                  <a:srgbClr val="64748B"/>
                </a:solidFill>
                <a:latin typeface="Calibri"/>
              </a:rPr>
              <a:t>Right: routing alone halves the load on the cordon boundary before any charge — the biggest single effect here is a modelling assumption, not a policy.</a:t>
            </a:r>
          </a:p>
        </p:txBody>
      </p:sp>
      <p:pic>
        <p:nvPicPr>
          <p:cNvPr id="6" name="Picture 5" descr="arms_comparison_gg.png"/>
          <p:cNvPicPr>
            <a:picLocks noChangeAspect="1"/>
          </p:cNvPicPr>
          <p:nvPr/>
        </p:nvPicPr>
        <p:blipFill>
          <a:blip r:embed="rId4"/>
          <a:stretch>
            <a:fillRect/>
          </a:stretch>
        </p:blipFill>
        <p:spPr>
          <a:xfrm>
            <a:off x="768927" y="1024128"/>
            <a:ext cx="7606145" cy="2788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TextBox 1"/>
          <p:cNvSpPr txBox="1"/>
          <p:nvPr/>
        </p:nvSpPr>
        <p:spPr>
          <a:xfrm>
            <a:off x="365760" y="256032"/>
            <a:ext cx="7315200" cy="548640"/>
          </a:xfrm>
          <a:prstGeom prst="rect">
            <a:avLst/>
          </a:prstGeom>
          <a:noFill/>
        </p:spPr>
        <p:txBody>
          <a:bodyPr wrap="square" lIns="0" rIns="0" tIns="0" bIns="0">
            <a:spAutoFit/>
          </a:bodyPr>
          <a:lstStyle/>
          <a:p>
            <a:r>
              <a:rPr sz="3000" b="1">
                <a:solidFill>
                  <a:srgbClr val="FFFFFF"/>
                </a:solidFill>
                <a:latin typeface="Calibri"/>
              </a:rPr>
              <a:t>What This Model Cannot Say</a:t>
            </a:r>
          </a:p>
        </p:txBody>
      </p:sp>
      <p:sp>
        <p:nvSpPr>
          <p:cNvPr id="3" name="Rectangle 2"/>
          <p:cNvSpPr/>
          <p:nvPr/>
        </p:nvSpPr>
        <p:spPr>
          <a:xfrm>
            <a:off x="365760" y="877824"/>
            <a:ext cx="3200400" cy="3657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69264"/>
            <a:ext cx="8412480" cy="237744"/>
          </a:xfrm>
          <a:prstGeom prst="rect">
            <a:avLst/>
          </a:prstGeom>
          <a:noFill/>
        </p:spPr>
        <p:txBody>
          <a:bodyPr wrap="square" lIns="0" rIns="0" tIns="0" bIns="0">
            <a:spAutoFit/>
          </a:bodyPr>
          <a:lstStyle/>
          <a:p>
            <a:r>
              <a:rPr sz="1150" b="0">
                <a:solidFill>
                  <a:srgbClr val="B6C6D2"/>
                </a:solidFill>
                <a:latin typeface="Calibri"/>
              </a:rPr>
              <a:t>Seven limits that bound every number in this talk</a:t>
            </a:r>
          </a:p>
        </p:txBody>
      </p:sp>
      <p:sp>
        <p:nvSpPr>
          <p:cNvPr id="5" name="Rectangle 4"/>
          <p:cNvSpPr/>
          <p:nvPr/>
        </p:nvSpPr>
        <p:spPr>
          <a:xfrm>
            <a:off x="365760" y="1298448"/>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98448"/>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380744"/>
            <a:ext cx="3730752" cy="219456"/>
          </a:xfrm>
          <a:prstGeom prst="rect">
            <a:avLst/>
          </a:prstGeom>
          <a:noFill/>
        </p:spPr>
        <p:txBody>
          <a:bodyPr wrap="square" lIns="0" rIns="0" tIns="0" bIns="0">
            <a:spAutoFit/>
          </a:bodyPr>
          <a:lstStyle/>
          <a:p>
            <a:r>
              <a:rPr sz="1050" b="1">
                <a:solidFill>
                  <a:srgbClr val="FFFFFF"/>
                </a:solidFill>
                <a:latin typeface="Calibri"/>
              </a:rPr>
              <a:t>Single seed</a:t>
            </a:r>
          </a:p>
        </p:txBody>
      </p:sp>
      <p:sp>
        <p:nvSpPr>
          <p:cNvPr id="8" name="TextBox 7"/>
          <p:cNvSpPr txBox="1"/>
          <p:nvPr/>
        </p:nvSpPr>
        <p:spPr>
          <a:xfrm>
            <a:off x="530352" y="1618488"/>
            <a:ext cx="3730752" cy="475488"/>
          </a:xfrm>
          <a:prstGeom prst="rect">
            <a:avLst/>
          </a:prstGeom>
          <a:noFill/>
        </p:spPr>
        <p:txBody>
          <a:bodyPr wrap="square" lIns="0" rIns="0" tIns="0" bIns="0">
            <a:spAutoFit/>
          </a:bodyPr>
          <a:lstStyle/>
          <a:p>
            <a:r>
              <a:rPr sz="850" b="0">
                <a:solidFill>
                  <a:srgbClr val="B6C6D2"/>
                </a:solidFill>
                <a:latin typeface="Calibri"/>
              </a:rPr>
              <a:t>Spreads are within-seed. Only El Farol has a five-seed replication.</a:t>
            </a:r>
          </a:p>
        </p:txBody>
      </p:sp>
      <p:sp>
        <p:nvSpPr>
          <p:cNvPr id="9" name="Rectangle 8"/>
          <p:cNvSpPr/>
          <p:nvPr/>
        </p:nvSpPr>
        <p:spPr>
          <a:xfrm>
            <a:off x="4754880" y="1298448"/>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0" y="1298448"/>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9472" y="1380744"/>
            <a:ext cx="3730752" cy="219456"/>
          </a:xfrm>
          <a:prstGeom prst="rect">
            <a:avLst/>
          </a:prstGeom>
          <a:noFill/>
        </p:spPr>
        <p:txBody>
          <a:bodyPr wrap="square" lIns="0" rIns="0" tIns="0" bIns="0">
            <a:spAutoFit/>
          </a:bodyPr>
          <a:lstStyle/>
          <a:p>
            <a:r>
              <a:rPr sz="1050" b="1">
                <a:solidFill>
                  <a:srgbClr val="FFFFFF"/>
                </a:solidFill>
                <a:latin typeface="Calibri"/>
              </a:rPr>
              <a:t>Fee level untested</a:t>
            </a:r>
          </a:p>
        </p:txBody>
      </p:sp>
      <p:sp>
        <p:nvSpPr>
          <p:cNvPr id="12" name="TextBox 11"/>
          <p:cNvSpPr txBox="1"/>
          <p:nvPr/>
        </p:nvSpPr>
        <p:spPr>
          <a:xfrm>
            <a:off x="4919472" y="1618488"/>
            <a:ext cx="3730752" cy="475488"/>
          </a:xfrm>
          <a:prstGeom prst="rect">
            <a:avLst/>
          </a:prstGeom>
          <a:noFill/>
        </p:spPr>
        <p:txBody>
          <a:bodyPr wrap="square" lIns="0" rIns="0" tIns="0" bIns="0">
            <a:spAutoFit/>
          </a:bodyPr>
          <a:lstStyle/>
          <a:p>
            <a:r>
              <a:rPr sz="850" b="0">
                <a:solidFill>
                  <a:srgbClr val="B6C6D2"/>
                </a:solidFill>
                <a:latin typeface="Calibri"/>
              </a:rPr>
              <a:t>No fee-level sweep. The beta sweep varies sensitivity, not price.</a:t>
            </a:r>
          </a:p>
        </p:txBody>
      </p:sp>
      <p:sp>
        <p:nvSpPr>
          <p:cNvPr id="13" name="Rectangle 12"/>
          <p:cNvSpPr/>
          <p:nvPr/>
        </p:nvSpPr>
        <p:spPr>
          <a:xfrm>
            <a:off x="365760" y="2231136"/>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231136"/>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2313432"/>
            <a:ext cx="3730752" cy="219456"/>
          </a:xfrm>
          <a:prstGeom prst="rect">
            <a:avLst/>
          </a:prstGeom>
          <a:noFill/>
        </p:spPr>
        <p:txBody>
          <a:bodyPr wrap="square" lIns="0" rIns="0" tIns="0" bIns="0">
            <a:spAutoFit/>
          </a:bodyPr>
          <a:lstStyle/>
          <a:p>
            <a:r>
              <a:rPr sz="1050" b="1">
                <a:solidFill>
                  <a:srgbClr val="FFFFFF"/>
                </a:solidFill>
                <a:latin typeface="Calibri"/>
              </a:rPr>
              <a:t>Equity is derived, not measured</a:t>
            </a:r>
          </a:p>
        </p:txBody>
      </p:sp>
      <p:sp>
        <p:nvSpPr>
          <p:cNvPr id="16" name="TextBox 15"/>
          <p:cNvSpPr txBox="1"/>
          <p:nvPr/>
        </p:nvSpPr>
        <p:spPr>
          <a:xfrm>
            <a:off x="530352" y="2551176"/>
            <a:ext cx="3730752" cy="475488"/>
          </a:xfrm>
          <a:prstGeom prst="rect">
            <a:avLst/>
          </a:prstGeom>
          <a:noFill/>
        </p:spPr>
        <p:txBody>
          <a:bodyPr wrap="square" lIns="0" rIns="0" tIns="0" bIns="0">
            <a:spAutoFit/>
          </a:bodyPr>
          <a:lstStyle/>
          <a:p>
            <a:r>
              <a:rPr sz="850" b="0">
                <a:solidFill>
                  <a:srgbClr val="B6C6D2"/>
                </a:solidFill>
                <a:latin typeface="Calibri"/>
              </a:rPr>
              <a:t>From the equations, not the runs. No entries recorded by income band.</a:t>
            </a:r>
          </a:p>
        </p:txBody>
      </p:sp>
      <p:sp>
        <p:nvSpPr>
          <p:cNvPr id="17" name="Rectangle 16"/>
          <p:cNvSpPr/>
          <p:nvPr/>
        </p:nvSpPr>
        <p:spPr>
          <a:xfrm>
            <a:off x="4754880" y="2231136"/>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54880" y="2231136"/>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19472" y="2313432"/>
            <a:ext cx="3730752" cy="219456"/>
          </a:xfrm>
          <a:prstGeom prst="rect">
            <a:avLst/>
          </a:prstGeom>
          <a:noFill/>
        </p:spPr>
        <p:txBody>
          <a:bodyPr wrap="square" lIns="0" rIns="0" tIns="0" bIns="0">
            <a:spAutoFit/>
          </a:bodyPr>
          <a:lstStyle/>
          <a:p>
            <a:r>
              <a:rPr sz="1050" b="1">
                <a:solidFill>
                  <a:srgbClr val="FFFFFF"/>
                </a:solidFill>
                <a:latin typeface="Calibri"/>
              </a:rPr>
              <a:t>Learn rests on two arbitrary settings</a:t>
            </a:r>
          </a:p>
        </p:txBody>
      </p:sp>
      <p:sp>
        <p:nvSpPr>
          <p:cNvPr id="20" name="TextBox 19"/>
          <p:cNvSpPr txBox="1"/>
          <p:nvPr/>
        </p:nvSpPr>
        <p:spPr>
          <a:xfrm>
            <a:off x="4919472" y="2551176"/>
            <a:ext cx="3730752" cy="475488"/>
          </a:xfrm>
          <a:prstGeom prst="rect">
            <a:avLst/>
          </a:prstGeom>
          <a:noFill/>
        </p:spPr>
        <p:txBody>
          <a:bodyPr wrap="square" lIns="0" rIns="0" tIns="0" bIns="0">
            <a:spAutoFit/>
          </a:bodyPr>
          <a:lstStyle/>
          <a:p>
            <a:r>
              <a:rPr sz="850" b="0">
                <a:solidFill>
                  <a:srgbClr val="B6C6D2"/>
                </a:solidFill>
                <a:latin typeface="Calibri"/>
              </a:rPr>
              <a:t>Reward scale and action space between them decide the headline.</a:t>
            </a:r>
          </a:p>
        </p:txBody>
      </p:sp>
      <p:sp>
        <p:nvSpPr>
          <p:cNvPr id="21" name="Rectangle 20"/>
          <p:cNvSpPr/>
          <p:nvPr/>
        </p:nvSpPr>
        <p:spPr>
          <a:xfrm>
            <a:off x="365760" y="3163824"/>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163824"/>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3246120"/>
            <a:ext cx="3730752" cy="219456"/>
          </a:xfrm>
          <a:prstGeom prst="rect">
            <a:avLst/>
          </a:prstGeom>
          <a:noFill/>
        </p:spPr>
        <p:txBody>
          <a:bodyPr wrap="square" lIns="0" rIns="0" tIns="0" bIns="0">
            <a:spAutoFit/>
          </a:bodyPr>
          <a:lstStyle/>
          <a:p>
            <a:r>
              <a:rPr sz="1050" b="1">
                <a:solidFill>
                  <a:srgbClr val="FFFFFF"/>
                </a:solidFill>
                <a:latin typeface="Calibri"/>
              </a:rPr>
              <a:t>Routing answers to congestion, not the fee</a:t>
            </a:r>
          </a:p>
        </p:txBody>
      </p:sp>
      <p:sp>
        <p:nvSpPr>
          <p:cNvPr id="24" name="TextBox 23"/>
          <p:cNvSpPr txBox="1"/>
          <p:nvPr/>
        </p:nvSpPr>
        <p:spPr>
          <a:xfrm>
            <a:off x="530352" y="3483864"/>
            <a:ext cx="3730752" cy="475488"/>
          </a:xfrm>
          <a:prstGeom prst="rect">
            <a:avLst/>
          </a:prstGeom>
          <a:noFill/>
        </p:spPr>
        <p:txBody>
          <a:bodyPr wrap="square" lIns="0" rIns="0" tIns="0" bIns="0">
            <a:spAutoFit/>
          </a:bodyPr>
          <a:lstStyle/>
          <a:p>
            <a:r>
              <a:rPr sz="850" b="0">
                <a:solidFill>
                  <a:srgbClr val="B6C6D2"/>
                </a:solidFill>
                <a:latin typeface="Calibri"/>
              </a:rPr>
              <a:t>A CBD-bound agent pays whichever road it takes.</a:t>
            </a:r>
          </a:p>
        </p:txBody>
      </p:sp>
      <p:sp>
        <p:nvSpPr>
          <p:cNvPr id="25" name="Rectangle 24"/>
          <p:cNvSpPr/>
          <p:nvPr/>
        </p:nvSpPr>
        <p:spPr>
          <a:xfrm>
            <a:off x="4754880" y="3163824"/>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80" y="3163824"/>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19472" y="3246120"/>
            <a:ext cx="3730752" cy="219456"/>
          </a:xfrm>
          <a:prstGeom prst="rect">
            <a:avLst/>
          </a:prstGeom>
          <a:noFill/>
        </p:spPr>
        <p:txBody>
          <a:bodyPr wrap="square" lIns="0" rIns="0" tIns="0" bIns="0">
            <a:spAutoFit/>
          </a:bodyPr>
          <a:lstStyle/>
          <a:p>
            <a:r>
              <a:rPr sz="1050" b="1">
                <a:solidFill>
                  <a:srgbClr val="FFFFFF"/>
                </a:solidFill>
                <a:latin typeface="Calibri"/>
              </a:rPr>
              <a:t>Demand is synthetic, not observed</a:t>
            </a:r>
          </a:p>
        </p:txBody>
      </p:sp>
      <p:sp>
        <p:nvSpPr>
          <p:cNvPr id="28" name="TextBox 27"/>
          <p:cNvSpPr txBox="1"/>
          <p:nvPr/>
        </p:nvSpPr>
        <p:spPr>
          <a:xfrm>
            <a:off x="4919472" y="3483864"/>
            <a:ext cx="3730752" cy="475488"/>
          </a:xfrm>
          <a:prstGeom prst="rect">
            <a:avLst/>
          </a:prstGeom>
          <a:noFill/>
        </p:spPr>
        <p:txBody>
          <a:bodyPr wrap="square" lIns="0" rIns="0" tIns="0" bIns="0">
            <a:spAutoFit/>
          </a:bodyPr>
          <a:lstStyle/>
          <a:p>
            <a:r>
              <a:rPr sz="850" b="0">
                <a:solidFill>
                  <a:srgbClr val="B6C6D2"/>
                </a:solidFill>
                <a:latin typeface="Calibri"/>
              </a:rPr>
              <a:t>No observed OD matrix or time-of-day profile behind the demand.</a:t>
            </a:r>
          </a:p>
        </p:txBody>
      </p:sp>
      <p:sp>
        <p:nvSpPr>
          <p:cNvPr id="29" name="Rectangle 28"/>
          <p:cNvSpPr/>
          <p:nvPr/>
        </p:nvSpPr>
        <p:spPr>
          <a:xfrm>
            <a:off x="365760" y="4096512"/>
            <a:ext cx="8046720" cy="896112"/>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4096512"/>
            <a:ext cx="64008" cy="89611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4178808"/>
            <a:ext cx="7726679" cy="219456"/>
          </a:xfrm>
          <a:prstGeom prst="rect">
            <a:avLst/>
          </a:prstGeom>
          <a:noFill/>
        </p:spPr>
        <p:txBody>
          <a:bodyPr wrap="square" lIns="0" rIns="0" tIns="0" bIns="0">
            <a:spAutoFit/>
          </a:bodyPr>
          <a:lstStyle/>
          <a:p>
            <a:r>
              <a:rPr sz="1050" b="1">
                <a:solidFill>
                  <a:srgbClr val="FFFFFF"/>
                </a:solidFill>
                <a:latin typeface="Calibri"/>
              </a:rPr>
              <a:t>A declined trip cancelled the agent’s whole day — fixed 29 Jul 2026, re-run pending</a:t>
            </a:r>
          </a:p>
        </p:txBody>
      </p:sp>
      <p:sp>
        <p:nvSpPr>
          <p:cNvPr id="32" name="TextBox 31"/>
          <p:cNvSpPr txBox="1"/>
          <p:nvPr/>
        </p:nvSpPr>
        <p:spPr>
          <a:xfrm>
            <a:off x="530352" y="4416552"/>
            <a:ext cx="7726679" cy="530352"/>
          </a:xfrm>
          <a:prstGeom prst="rect">
            <a:avLst/>
          </a:prstGeom>
          <a:noFill/>
        </p:spPr>
        <p:txBody>
          <a:bodyPr wrap="square" lIns="0" rIns="0" tIns="0" bIns="0">
            <a:spAutoFit/>
          </a:bodyPr>
          <a:lstStyle/>
          <a:p>
            <a:r>
              <a:rPr sz="850" b="0">
                <a:solidFill>
                  <a:srgbClr val="B6C6D2"/>
                </a:solidFill>
                <a:latin typeface="Calibri"/>
              </a:rPr>
              <a:t>Declining deactivated the whole multi-stop agent, so ~100,000 suburban vehicle-trips a day vanished. Fixed 29 Jul 2026; every number here predates the fix.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6492240" y="22860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3" name="Shape 1"/>
          <p:cNvSpPr/>
          <p:nvPr/>
        </p:nvSpPr>
        <p:spPr>
          <a:xfrm>
            <a:off x="6903720" y="22860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4" name="Shape 2"/>
          <p:cNvSpPr/>
          <p:nvPr/>
        </p:nvSpPr>
        <p:spPr>
          <a:xfrm>
            <a:off x="7315200" y="22860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5" name="Shape 3"/>
          <p:cNvSpPr/>
          <p:nvPr/>
        </p:nvSpPr>
        <p:spPr>
          <a:xfrm>
            <a:off x="7726680" y="22860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6" name="Shape 4"/>
          <p:cNvSpPr/>
          <p:nvPr/>
        </p:nvSpPr>
        <p:spPr>
          <a:xfrm>
            <a:off x="6492240" y="64008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7" name="Shape 5"/>
          <p:cNvSpPr/>
          <p:nvPr/>
        </p:nvSpPr>
        <p:spPr>
          <a:xfrm>
            <a:off x="6903720" y="64008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8" name="Shape 6"/>
          <p:cNvSpPr/>
          <p:nvPr/>
        </p:nvSpPr>
        <p:spPr>
          <a:xfrm>
            <a:off x="7315200" y="64008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9" name="Shape 7"/>
          <p:cNvSpPr/>
          <p:nvPr/>
        </p:nvSpPr>
        <p:spPr>
          <a:xfrm>
            <a:off x="7726680" y="64008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10" name="Shape 8"/>
          <p:cNvSpPr/>
          <p:nvPr/>
        </p:nvSpPr>
        <p:spPr>
          <a:xfrm>
            <a:off x="6492240" y="105156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11" name="Shape 9"/>
          <p:cNvSpPr/>
          <p:nvPr/>
        </p:nvSpPr>
        <p:spPr>
          <a:xfrm>
            <a:off x="6903720" y="105156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12" name="Shape 10"/>
          <p:cNvSpPr/>
          <p:nvPr/>
        </p:nvSpPr>
        <p:spPr>
          <a:xfrm>
            <a:off x="7315200" y="105156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13" name="Shape 11"/>
          <p:cNvSpPr/>
          <p:nvPr/>
        </p:nvSpPr>
        <p:spPr>
          <a:xfrm>
            <a:off x="7726680" y="105156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14" name="Shape 12"/>
          <p:cNvSpPr/>
          <p:nvPr/>
        </p:nvSpPr>
        <p:spPr>
          <a:xfrm>
            <a:off x="6492240" y="146304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15" name="Shape 13"/>
          <p:cNvSpPr/>
          <p:nvPr/>
        </p:nvSpPr>
        <p:spPr>
          <a:xfrm>
            <a:off x="6903720" y="146304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16" name="Shape 14"/>
          <p:cNvSpPr/>
          <p:nvPr/>
        </p:nvSpPr>
        <p:spPr>
          <a:xfrm>
            <a:off x="7315200" y="146304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17" name="Shape 15"/>
          <p:cNvSpPr/>
          <p:nvPr/>
        </p:nvSpPr>
        <p:spPr>
          <a:xfrm>
            <a:off x="7726680" y="146304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18" name="Shape 16"/>
          <p:cNvSpPr/>
          <p:nvPr/>
        </p:nvSpPr>
        <p:spPr>
          <a:xfrm>
            <a:off x="6492240" y="187452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19" name="Shape 17"/>
          <p:cNvSpPr/>
          <p:nvPr/>
        </p:nvSpPr>
        <p:spPr>
          <a:xfrm>
            <a:off x="6903720" y="187452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20" name="Shape 18"/>
          <p:cNvSpPr/>
          <p:nvPr/>
        </p:nvSpPr>
        <p:spPr>
          <a:xfrm>
            <a:off x="7315200" y="187452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21" name="Shape 19"/>
          <p:cNvSpPr/>
          <p:nvPr/>
        </p:nvSpPr>
        <p:spPr>
          <a:xfrm>
            <a:off x="7726680" y="1874520"/>
            <a:ext cx="91440" cy="91440"/>
          </a:xfrm>
          <a:prstGeom prst="ellipse">
            <a:avLst/>
          </a:prstGeom>
          <a:solidFill>
            <a:srgbClr val="0E7490">
              <a:alpha val="35000"/>
            </a:srgbClr>
          </a:solidFill>
          <a:ln w="12700">
            <a:solidFill>
              <a:srgbClr val="0E7490">
                <a:alpha val="35000"/>
              </a:srgbClr>
            </a:solidFill>
            <a:prstDash val="solid"/>
          </a:ln>
        </p:spPr>
        <p:txBody>
          <a:bodyPr/>
          <a:lstStyle/>
          <a:p>
            <a:endParaRPr lang="en-GB"/>
          </a:p>
        </p:txBody>
      </p:sp>
      <p:sp>
        <p:nvSpPr>
          <p:cNvPr id="22" name="Text 20"/>
          <p:cNvSpPr/>
          <p:nvPr/>
        </p:nvSpPr>
        <p:spPr>
          <a:xfrm>
            <a:off x="365760" y="274320"/>
            <a:ext cx="5943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Conclusions &amp; Next Steps</a:t>
            </a:r>
            <a:endParaRPr lang="en-US" sz="2600" dirty="0"/>
          </a:p>
        </p:txBody>
      </p:sp>
      <p:sp>
        <p:nvSpPr>
          <p:cNvPr id="23" name="Shape 21"/>
          <p:cNvSpPr/>
          <p:nvPr/>
        </p:nvSpPr>
        <p:spPr>
          <a:xfrm>
            <a:off x="365760" y="896112"/>
            <a:ext cx="3200400" cy="36576"/>
          </a:xfrm>
          <a:prstGeom prst="rect">
            <a:avLst/>
          </a:prstGeom>
          <a:solidFill>
            <a:srgbClr val="0E7490"/>
          </a:solidFill>
          <a:ln w="12700">
            <a:solidFill>
              <a:srgbClr val="0E7490"/>
            </a:solidFill>
            <a:prstDash val="solid"/>
          </a:ln>
        </p:spPr>
        <p:txBody>
          <a:bodyPr/>
          <a:lstStyle/>
          <a:p>
            <a:endParaRPr lang="en-GB"/>
          </a:p>
        </p:txBody>
      </p:sp>
      <p:sp>
        <p:nvSpPr>
          <p:cNvPr id="24" name="Text 22"/>
          <p:cNvSpPr/>
          <p:nvPr/>
        </p:nvSpPr>
        <p:spPr>
          <a:xfrm>
            <a:off x="365760" y="1024128"/>
            <a:ext cx="4114800" cy="347472"/>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Key Findings</a:t>
            </a:r>
            <a:endParaRPr lang="en-US" sz="1400" dirty="0"/>
          </a:p>
        </p:txBody>
      </p:sp>
      <p:sp>
        <p:nvSpPr>
          <p:cNvPr id="25" name="Shape 23"/>
          <p:cNvSpPr/>
          <p:nvPr/>
        </p:nvSpPr>
        <p:spPr>
          <a:xfrm>
            <a:off x="365760" y="1463040"/>
            <a:ext cx="256032" cy="256032"/>
          </a:xfrm>
          <a:prstGeom prst="ellipse">
            <a:avLst/>
          </a:prstGeom>
          <a:solidFill>
            <a:srgbClr val="0E7490"/>
          </a:solidFill>
          <a:ln w="12700">
            <a:solidFill>
              <a:srgbClr val="0E7490"/>
            </a:solidFill>
            <a:prstDash val="solid"/>
          </a:ln>
        </p:spPr>
        <p:txBody>
          <a:bodyPr/>
          <a:lstStyle/>
          <a:p>
            <a:endParaRPr lang="en-GB"/>
          </a:p>
        </p:txBody>
      </p:sp>
      <p:sp>
        <p:nvSpPr>
          <p:cNvPr id="26" name="Text 24"/>
          <p:cNvSpPr/>
          <p:nvPr/>
        </p:nvSpPr>
        <p:spPr>
          <a:xfrm>
            <a:off x="365760" y="146304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7" name="Text 25"/>
          <p:cNvSpPr/>
          <p:nvPr/>
        </p:nvSpPr>
        <p:spPr>
          <a:xfrm>
            <a:off x="713232" y="1444752"/>
            <a:ext cx="3749040" cy="640080"/>
          </a:xfrm>
          <a:prstGeom prst="rect">
            <a:avLst/>
          </a:prstGeom>
          <a:noFill/>
          <a:ln/>
        </p:spPr>
        <p:txBody>
          <a:bodyPr wrap="square" lIns="0" tIns="0" rIns="0" bIns="0" rtlCol="0" anchor="t"/>
          <a:lstStyle/>
          <a:p>
            <a:pPr marL="0" indent="0">
              <a:buNone/>
            </a:pPr>
            <a:r>
              <a:rPr lang="en-US" sz="1050" dirty="0">
                <a:solidFill>
                  <a:srgbClr val="CBD5E1"/>
                </a:solidFill>
                <a:latin typeface="Calibri" pitchFamily="34" charset="0"/>
                <a:ea typeface="Calibri" pitchFamily="34" charset="-122"/>
                <a:cs typeface="Calibri" pitchFamily="34" charset="-120"/>
              </a:rPr>
              <a:t>Behavioural assumption shapes both magnitude and temporal redistribution of congestion — not just the quantity</a:t>
            </a:r>
            <a:endParaRPr lang="en-US" sz="1050" dirty="0"/>
          </a:p>
        </p:txBody>
      </p:sp>
      <p:sp>
        <p:nvSpPr>
          <p:cNvPr id="28" name="Shape 26"/>
          <p:cNvSpPr/>
          <p:nvPr/>
        </p:nvSpPr>
        <p:spPr>
          <a:xfrm>
            <a:off x="365760" y="2212848"/>
            <a:ext cx="256032" cy="256032"/>
          </a:xfrm>
          <a:prstGeom prst="ellipse">
            <a:avLst/>
          </a:prstGeom>
          <a:solidFill>
            <a:srgbClr val="0E7490"/>
          </a:solidFill>
          <a:ln w="12700">
            <a:solidFill>
              <a:srgbClr val="0E7490"/>
            </a:solidFill>
            <a:prstDash val="solid"/>
          </a:ln>
        </p:spPr>
        <p:txBody>
          <a:bodyPr/>
          <a:lstStyle/>
          <a:p>
            <a:endParaRPr lang="en-GB"/>
          </a:p>
        </p:txBody>
      </p:sp>
      <p:sp>
        <p:nvSpPr>
          <p:cNvPr id="29" name="Text 27"/>
          <p:cNvSpPr/>
          <p:nvPr/>
        </p:nvSpPr>
        <p:spPr>
          <a:xfrm>
            <a:off x="365760" y="221284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8"/>
          <p:cNvSpPr/>
          <p:nvPr/>
        </p:nvSpPr>
        <p:spPr>
          <a:xfrm>
            <a:off x="713232" y="2194560"/>
            <a:ext cx="3749040" cy="640080"/>
          </a:xfrm>
          <a:prstGeom prst="rect">
            <a:avLst/>
          </a:prstGeom>
          <a:noFill/>
          <a:ln/>
        </p:spPr>
        <p:txBody>
          <a:bodyPr wrap="square" lIns="0" tIns="0" rIns="0" bIns="0" rtlCol="0" anchor="t"/>
          <a:lstStyle/>
          <a:p>
            <a:pPr marL="0" indent="0">
              <a:buNone/>
            </a:pPr>
            <a:r>
              <a:rPr lang="en-US" sz="1050" dirty="0">
                <a:solidFill>
                  <a:srgbClr val="CBD5E1"/>
                </a:solidFill>
                <a:latin typeface="Calibri" pitchFamily="34" charset="0"/>
                <a:ea typeface="Calibri" pitchFamily="34" charset="-122"/>
                <a:cs typeface="Calibri" pitchFamily="34" charset="-120"/>
              </a:rPr>
              <a:t>Q-learning's headline depends on what agents may do: −39% when the only option is to stay home, −14% when they can shift an hour</a:t>
            </a:r>
            <a:endParaRPr lang="en-US" sz="1050" dirty="0"/>
          </a:p>
        </p:txBody>
      </p:sp>
      <p:sp>
        <p:nvSpPr>
          <p:cNvPr id="31" name="Shape 29"/>
          <p:cNvSpPr/>
          <p:nvPr/>
        </p:nvSpPr>
        <p:spPr>
          <a:xfrm>
            <a:off x="365760" y="2962656"/>
            <a:ext cx="256032" cy="256032"/>
          </a:xfrm>
          <a:prstGeom prst="ellipse">
            <a:avLst/>
          </a:prstGeom>
          <a:solidFill>
            <a:srgbClr val="0E7490"/>
          </a:solidFill>
          <a:ln w="12700">
            <a:solidFill>
              <a:srgbClr val="0E7490"/>
            </a:solidFill>
            <a:prstDash val="solid"/>
          </a:ln>
        </p:spPr>
        <p:txBody>
          <a:bodyPr/>
          <a:lstStyle/>
          <a:p>
            <a:endParaRPr lang="en-GB"/>
          </a:p>
        </p:txBody>
      </p:sp>
      <p:sp>
        <p:nvSpPr>
          <p:cNvPr id="32" name="Text 30"/>
          <p:cNvSpPr/>
          <p:nvPr/>
        </p:nvSpPr>
        <p:spPr>
          <a:xfrm>
            <a:off x="365760" y="2962656"/>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3" name="Text 31"/>
          <p:cNvSpPr/>
          <p:nvPr/>
        </p:nvSpPr>
        <p:spPr>
          <a:xfrm>
            <a:off x="713232" y="2944368"/>
            <a:ext cx="3749040" cy="640080"/>
          </a:xfrm>
          <a:prstGeom prst="rect">
            <a:avLst/>
          </a:prstGeom>
          <a:noFill/>
          <a:ln/>
        </p:spPr>
        <p:txBody>
          <a:bodyPr wrap="square" lIns="0" tIns="0" rIns="0" bIns="0" rtlCol="0" anchor="t"/>
          <a:lstStyle/>
          <a:p>
            <a:pPr marL="0" indent="0">
              <a:buNone/>
            </a:pPr>
            <a:r>
              <a:rPr lang="en-US" sz="1050" dirty="0">
                <a:solidFill>
                  <a:srgbClr val="CBD5E1"/>
                </a:solidFill>
                <a:latin typeface="Calibri" pitchFamily="34" charset="0"/>
                <a:ea typeface="Calibri" pitchFamily="34" charset="-122"/>
                <a:cs typeface="Calibri" pitchFamily="34" charset="-120"/>
              </a:rPr>
              <a:t>El Farol shows what happens when agents track each other rather than the fee — entry stays at 91% and the charge does nothing</a:t>
            </a:r>
            <a:endParaRPr lang="en-US" sz="1050" dirty="0"/>
          </a:p>
        </p:txBody>
      </p:sp>
      <p:sp>
        <p:nvSpPr>
          <p:cNvPr id="34" name="Shape 32"/>
          <p:cNvSpPr/>
          <p:nvPr/>
        </p:nvSpPr>
        <p:spPr>
          <a:xfrm>
            <a:off x="365760" y="3712464"/>
            <a:ext cx="256032" cy="256032"/>
          </a:xfrm>
          <a:prstGeom prst="ellipse">
            <a:avLst/>
          </a:prstGeom>
          <a:solidFill>
            <a:srgbClr val="0E7490"/>
          </a:solidFill>
          <a:ln w="12700">
            <a:solidFill>
              <a:srgbClr val="0E7490"/>
            </a:solidFill>
            <a:prstDash val="solid"/>
          </a:ln>
        </p:spPr>
        <p:txBody>
          <a:bodyPr/>
          <a:lstStyle/>
          <a:p>
            <a:endParaRPr lang="en-GB"/>
          </a:p>
        </p:txBody>
      </p:sp>
      <p:sp>
        <p:nvSpPr>
          <p:cNvPr id="35" name="Text 33"/>
          <p:cNvSpPr/>
          <p:nvPr/>
        </p:nvSpPr>
        <p:spPr>
          <a:xfrm>
            <a:off x="365760" y="371246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Text 34"/>
          <p:cNvSpPr/>
          <p:nvPr/>
        </p:nvSpPr>
        <p:spPr>
          <a:xfrm>
            <a:off x="713232" y="3694176"/>
            <a:ext cx="3749040" cy="640080"/>
          </a:xfrm>
          <a:prstGeom prst="rect">
            <a:avLst/>
          </a:prstGeom>
          <a:noFill/>
          <a:ln/>
        </p:spPr>
        <p:txBody>
          <a:bodyPr wrap="square" lIns="0" tIns="0" rIns="0" bIns="0" rtlCol="0" anchor="t"/>
          <a:lstStyle/>
          <a:p>
            <a:pPr marL="0" indent="0">
              <a:buNone/>
            </a:pPr>
            <a:r>
              <a:rPr lang="en-US" sz="1050" dirty="0">
                <a:solidFill>
                  <a:srgbClr val="CBD5E1"/>
                </a:solidFill>
                <a:latin typeface="Calibri" pitchFamily="34" charset="0"/>
                <a:ea typeface="Calibri" pitchFamily="34" charset="-122"/>
                <a:cs typeface="Calibri" pitchFamily="34" charset="-120"/>
              </a:rPr>
              <a:t>ABM places competing theories side-by-side within a common environment — revealing structural differences invisible to aggregate models</a:t>
            </a:r>
            <a:endParaRPr lang="en-US" sz="1050" dirty="0"/>
          </a:p>
        </p:txBody>
      </p:sp>
      <p:sp>
        <p:nvSpPr>
          <p:cNvPr id="37" name="Shape 35"/>
          <p:cNvSpPr/>
          <p:nvPr/>
        </p:nvSpPr>
        <p:spPr>
          <a:xfrm>
            <a:off x="4709160" y="1005840"/>
            <a:ext cx="36576" cy="3749040"/>
          </a:xfrm>
          <a:prstGeom prst="rect">
            <a:avLst/>
          </a:prstGeom>
          <a:solidFill>
            <a:srgbClr val="0E7490">
              <a:alpha val="60000"/>
            </a:srgbClr>
          </a:solidFill>
          <a:ln w="12700">
            <a:solidFill>
              <a:srgbClr val="0E7490">
                <a:alpha val="60000"/>
              </a:srgbClr>
            </a:solidFill>
            <a:prstDash val="solid"/>
          </a:ln>
        </p:spPr>
        <p:txBody>
          <a:bodyPr/>
          <a:lstStyle/>
          <a:p>
            <a:endParaRPr lang="en-GB"/>
          </a:p>
        </p:txBody>
      </p:sp>
      <p:sp>
        <p:nvSpPr>
          <p:cNvPr id="38" name="Text 36"/>
          <p:cNvSpPr/>
          <p:nvPr/>
        </p:nvSpPr>
        <p:spPr>
          <a:xfrm>
            <a:off x="4937760" y="1024128"/>
            <a:ext cx="3840480" cy="347472"/>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Next Steps</a:t>
            </a:r>
            <a:endParaRPr lang="en-US" sz="1400" dirty="0"/>
          </a:p>
        </p:txBody>
      </p:sp>
      <p:sp>
        <p:nvSpPr>
          <p:cNvPr id="39" name="Shape 37"/>
          <p:cNvSpPr/>
          <p:nvPr/>
        </p:nvSpPr>
        <p:spPr>
          <a:xfrm>
            <a:off x="4937760" y="1444752"/>
            <a:ext cx="3840480" cy="685800"/>
          </a:xfrm>
          <a:prstGeom prst="rect">
            <a:avLst/>
          </a:prstGeom>
          <a:solidFill>
            <a:srgbClr val="0E2A3D"/>
          </a:solidFill>
          <a:ln w="10160">
            <a:solidFill>
              <a:srgbClr val="0E7490"/>
            </a:solidFill>
            <a:prstDash val="solid"/>
          </a:ln>
          <a:effectLst>
            <a:outerShdw blurRad="101600" dist="38100" dir="8100000" algn="bl" rotWithShape="0">
              <a:srgbClr val="000000">
                <a:alpha val="18000"/>
              </a:srgbClr>
            </a:outerShdw>
          </a:effectLst>
        </p:spPr>
        <p:txBody>
          <a:bodyPr/>
          <a:lstStyle/>
          <a:p>
            <a:endParaRPr lang="en-GB"/>
          </a:p>
        </p:txBody>
      </p:sp>
      <p:sp>
        <p:nvSpPr>
          <p:cNvPr id="40" name="Shape 38"/>
          <p:cNvSpPr/>
          <p:nvPr/>
        </p:nvSpPr>
        <p:spPr>
          <a:xfrm>
            <a:off x="4937760" y="1444752"/>
            <a:ext cx="64008" cy="685800"/>
          </a:xfrm>
          <a:prstGeom prst="rect">
            <a:avLst/>
          </a:prstGeom>
          <a:solidFill>
            <a:srgbClr val="0E7490"/>
          </a:solidFill>
          <a:ln w="12700">
            <a:solidFill>
              <a:srgbClr val="0E7490"/>
            </a:solidFill>
            <a:prstDash val="solid"/>
          </a:ln>
        </p:spPr>
        <p:txBody>
          <a:bodyPr/>
          <a:lstStyle/>
          <a:p>
            <a:endParaRPr lang="en-GB"/>
          </a:p>
        </p:txBody>
      </p:sp>
      <p:sp>
        <p:nvSpPr>
          <p:cNvPr id="41" name="Text 39"/>
          <p:cNvSpPr/>
          <p:nvPr/>
        </p:nvSpPr>
        <p:spPr>
          <a:xfrm>
            <a:off x="5084064" y="1472184"/>
            <a:ext cx="35661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Model Extension</a:t>
            </a:r>
            <a:endParaRPr lang="en-US" sz="1100" dirty="0"/>
          </a:p>
        </p:txBody>
      </p:sp>
      <p:sp>
        <p:nvSpPr>
          <p:cNvPr id="42" name="Text 40"/>
          <p:cNvSpPr/>
          <p:nvPr/>
        </p:nvSpPr>
        <p:spPr>
          <a:xfrm>
            <a:off x="5084064" y="1746504"/>
            <a:ext cx="3566160" cy="3474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Mode choice, household VoT calibration from NZ travel survey data</a:t>
            </a:r>
            <a:endParaRPr lang="en-US" sz="950" dirty="0"/>
          </a:p>
        </p:txBody>
      </p:sp>
      <p:sp>
        <p:nvSpPr>
          <p:cNvPr id="43" name="Shape 41"/>
          <p:cNvSpPr/>
          <p:nvPr/>
        </p:nvSpPr>
        <p:spPr>
          <a:xfrm>
            <a:off x="4937760" y="2221992"/>
            <a:ext cx="3840480" cy="685800"/>
          </a:xfrm>
          <a:prstGeom prst="rect">
            <a:avLst/>
          </a:prstGeom>
          <a:solidFill>
            <a:srgbClr val="0E2A3D"/>
          </a:solidFill>
          <a:ln w="10160">
            <a:solidFill>
              <a:srgbClr val="0E7490"/>
            </a:solidFill>
            <a:prstDash val="solid"/>
          </a:ln>
          <a:effectLst>
            <a:outerShdw blurRad="101600" dist="38100" dir="8100000" algn="bl" rotWithShape="0">
              <a:srgbClr val="000000">
                <a:alpha val="18000"/>
              </a:srgbClr>
            </a:outerShdw>
          </a:effectLst>
        </p:spPr>
        <p:txBody>
          <a:bodyPr/>
          <a:lstStyle/>
          <a:p>
            <a:endParaRPr lang="en-GB"/>
          </a:p>
        </p:txBody>
      </p:sp>
      <p:sp>
        <p:nvSpPr>
          <p:cNvPr id="44" name="Shape 42"/>
          <p:cNvSpPr/>
          <p:nvPr/>
        </p:nvSpPr>
        <p:spPr>
          <a:xfrm>
            <a:off x="4937760" y="2221992"/>
            <a:ext cx="64008" cy="685800"/>
          </a:xfrm>
          <a:prstGeom prst="rect">
            <a:avLst/>
          </a:prstGeom>
          <a:solidFill>
            <a:srgbClr val="0E7490"/>
          </a:solidFill>
          <a:ln w="12700">
            <a:solidFill>
              <a:srgbClr val="0E7490"/>
            </a:solidFill>
            <a:prstDash val="solid"/>
          </a:ln>
        </p:spPr>
        <p:txBody>
          <a:bodyPr/>
          <a:lstStyle/>
          <a:p>
            <a:endParaRPr lang="en-GB"/>
          </a:p>
        </p:txBody>
      </p:sp>
      <p:sp>
        <p:nvSpPr>
          <p:cNvPr id="45" name="Text 43"/>
          <p:cNvSpPr/>
          <p:nvPr/>
        </p:nvSpPr>
        <p:spPr>
          <a:xfrm>
            <a:off x="5084064" y="2249424"/>
            <a:ext cx="35661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LLM-ABM Hybrid</a:t>
            </a:r>
            <a:endParaRPr lang="en-US" sz="1100" dirty="0"/>
          </a:p>
        </p:txBody>
      </p:sp>
      <p:sp>
        <p:nvSpPr>
          <p:cNvPr id="46" name="Text 44"/>
          <p:cNvSpPr/>
          <p:nvPr/>
        </p:nvSpPr>
        <p:spPr>
          <a:xfrm>
            <a:off x="5084064" y="2523744"/>
            <a:ext cx="3566160" cy="3474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3-layer cognitive architecture: reactive (classical), deliberate (lightweight LLM), reflective (daily/weekly reasoning)</a:t>
            </a:r>
            <a:endParaRPr lang="en-US" sz="950" dirty="0"/>
          </a:p>
        </p:txBody>
      </p:sp>
      <p:sp>
        <p:nvSpPr>
          <p:cNvPr id="47" name="Shape 45"/>
          <p:cNvSpPr/>
          <p:nvPr/>
        </p:nvSpPr>
        <p:spPr>
          <a:xfrm>
            <a:off x="4937760" y="2999232"/>
            <a:ext cx="3840480" cy="685800"/>
          </a:xfrm>
          <a:prstGeom prst="rect">
            <a:avLst/>
          </a:prstGeom>
          <a:solidFill>
            <a:srgbClr val="0E2A3D"/>
          </a:solidFill>
          <a:ln w="10160">
            <a:solidFill>
              <a:srgbClr val="0E7490"/>
            </a:solidFill>
            <a:prstDash val="solid"/>
          </a:ln>
          <a:effectLst>
            <a:outerShdw blurRad="101600" dist="38100" dir="8100000" algn="bl" rotWithShape="0">
              <a:srgbClr val="000000">
                <a:alpha val="18000"/>
              </a:srgbClr>
            </a:outerShdw>
          </a:effectLst>
        </p:spPr>
        <p:txBody>
          <a:bodyPr/>
          <a:lstStyle/>
          <a:p>
            <a:endParaRPr lang="en-GB"/>
          </a:p>
        </p:txBody>
      </p:sp>
      <p:sp>
        <p:nvSpPr>
          <p:cNvPr id="48" name="Shape 46"/>
          <p:cNvSpPr/>
          <p:nvPr/>
        </p:nvSpPr>
        <p:spPr>
          <a:xfrm>
            <a:off x="4937760" y="2999232"/>
            <a:ext cx="64008" cy="685800"/>
          </a:xfrm>
          <a:prstGeom prst="rect">
            <a:avLst/>
          </a:prstGeom>
          <a:solidFill>
            <a:srgbClr val="0E7490"/>
          </a:solidFill>
          <a:ln w="12700">
            <a:solidFill>
              <a:srgbClr val="0E7490"/>
            </a:solidFill>
            <a:prstDash val="solid"/>
          </a:ln>
        </p:spPr>
        <p:txBody>
          <a:bodyPr/>
          <a:lstStyle/>
          <a:p>
            <a:endParaRPr lang="en-GB"/>
          </a:p>
        </p:txBody>
      </p:sp>
      <p:sp>
        <p:nvSpPr>
          <p:cNvPr id="49" name="Text 47"/>
          <p:cNvSpPr/>
          <p:nvPr/>
        </p:nvSpPr>
        <p:spPr>
          <a:xfrm>
            <a:off x="5084064" y="3026664"/>
            <a:ext cx="35661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Fee-Level Sweep</a:t>
            </a:r>
            <a:endParaRPr lang="en-US" sz="1100" dirty="0"/>
          </a:p>
        </p:txBody>
      </p:sp>
      <p:sp>
        <p:nvSpPr>
          <p:cNvPr id="50" name="Text 48"/>
          <p:cNvSpPr/>
          <p:nvPr/>
        </p:nvSpPr>
        <p:spPr>
          <a:xfrm>
            <a:off x="5084064" y="3300984"/>
            <a:ext cx="3566160" cy="3474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Vary the ToU schedule itself: the one experiment that would let us say how much to charge, not just whether</a:t>
            </a:r>
            <a:endParaRPr lang="en-US" sz="950" dirty="0"/>
          </a:p>
        </p:txBody>
      </p:sp>
      <p:sp>
        <p:nvSpPr>
          <p:cNvPr id="51" name="Shape 49"/>
          <p:cNvSpPr/>
          <p:nvPr/>
        </p:nvSpPr>
        <p:spPr>
          <a:xfrm>
            <a:off x="4937760" y="3776472"/>
            <a:ext cx="3840480" cy="685800"/>
          </a:xfrm>
          <a:prstGeom prst="rect">
            <a:avLst/>
          </a:prstGeom>
          <a:solidFill>
            <a:srgbClr val="0E2A3D"/>
          </a:solidFill>
          <a:ln w="10160">
            <a:solidFill>
              <a:srgbClr val="0E7490"/>
            </a:solidFill>
            <a:prstDash val="solid"/>
          </a:ln>
          <a:effectLst>
            <a:outerShdw blurRad="101600" dist="38100" dir="8100000" algn="bl" rotWithShape="0">
              <a:srgbClr val="000000">
                <a:alpha val="18000"/>
              </a:srgbClr>
            </a:outerShdw>
          </a:effectLst>
        </p:spPr>
        <p:txBody>
          <a:bodyPr/>
          <a:lstStyle/>
          <a:p>
            <a:endParaRPr lang="en-GB"/>
          </a:p>
        </p:txBody>
      </p:sp>
      <p:sp>
        <p:nvSpPr>
          <p:cNvPr id="52" name="Shape 50"/>
          <p:cNvSpPr/>
          <p:nvPr/>
        </p:nvSpPr>
        <p:spPr>
          <a:xfrm>
            <a:off x="4937760" y="3776472"/>
            <a:ext cx="64008" cy="685800"/>
          </a:xfrm>
          <a:prstGeom prst="rect">
            <a:avLst/>
          </a:prstGeom>
          <a:solidFill>
            <a:srgbClr val="0E7490"/>
          </a:solidFill>
          <a:ln w="12700">
            <a:solidFill>
              <a:srgbClr val="0E7490"/>
            </a:solidFill>
            <a:prstDash val="solid"/>
          </a:ln>
        </p:spPr>
        <p:txBody>
          <a:bodyPr/>
          <a:lstStyle/>
          <a:p>
            <a:endParaRPr lang="en-GB"/>
          </a:p>
        </p:txBody>
      </p:sp>
      <p:sp>
        <p:nvSpPr>
          <p:cNvPr id="53" name="Text 51"/>
          <p:cNvSpPr/>
          <p:nvPr/>
        </p:nvSpPr>
        <p:spPr>
          <a:xfrm>
            <a:off x="5084064" y="3803904"/>
            <a:ext cx="35661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Scale Up</a:t>
            </a:r>
            <a:endParaRPr lang="en-US" sz="1100" dirty="0"/>
          </a:p>
        </p:txBody>
      </p:sp>
      <p:sp>
        <p:nvSpPr>
          <p:cNvPr id="54" name="Text 52"/>
          <p:cNvSpPr/>
          <p:nvPr/>
        </p:nvSpPr>
        <p:spPr>
          <a:xfrm>
            <a:off x="5084064" y="4078224"/>
            <a:ext cx="3566160" cy="347472"/>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Scale beyond 2,500 agents (≈400k vehicles today); dynamic OD matrix replacing the fixed assumption</a:t>
            </a:r>
            <a:endParaRPr lang="en-US" sz="950" dirty="0"/>
          </a:p>
        </p:txBody>
      </p:sp>
      <p:sp>
        <p:nvSpPr>
          <p:cNvPr id="55" name="Text 53"/>
          <p:cNvSpPr/>
          <p:nvPr/>
        </p:nvSpPr>
        <p:spPr>
          <a:xfrm>
            <a:off x="365760" y="4828032"/>
            <a:ext cx="8412480" cy="228600"/>
          </a:xfrm>
          <a:prstGeom prst="rect">
            <a:avLst/>
          </a:prstGeom>
          <a:noFill/>
          <a:ln/>
        </p:spPr>
        <p:txBody>
          <a:bodyPr wrap="square" lIns="0" tIns="0" rIns="0" bIns="0"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github.com/dataandcrowd/SSC2026   |   h.shin@auckland.ac.nz</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TextBox 1"/>
          <p:cNvSpPr txBox="1"/>
          <p:nvPr/>
        </p:nvSpPr>
        <p:spPr>
          <a:xfrm>
            <a:off x="365760" y="256032"/>
            <a:ext cx="7315200" cy="548640"/>
          </a:xfrm>
          <a:prstGeom prst="rect">
            <a:avLst/>
          </a:prstGeom>
          <a:noFill/>
        </p:spPr>
        <p:txBody>
          <a:bodyPr wrap="square" lIns="0" rIns="0" tIns="0" bIns="0">
            <a:spAutoFit/>
          </a:bodyPr>
          <a:lstStyle/>
          <a:p>
            <a:r>
              <a:rPr sz="3000" b="1">
                <a:solidFill>
                  <a:srgbClr val="FFFFFF"/>
                </a:solidFill>
                <a:latin typeface="Calibri"/>
              </a:rPr>
              <a:t>How Much to Trust Each Number</a:t>
            </a:r>
          </a:p>
        </p:txBody>
      </p:sp>
      <p:sp>
        <p:nvSpPr>
          <p:cNvPr id="3" name="Rectangle 2"/>
          <p:cNvSpPr/>
          <p:nvPr/>
        </p:nvSpPr>
        <p:spPr>
          <a:xfrm>
            <a:off x="365760" y="877824"/>
            <a:ext cx="3200400" cy="3657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69264"/>
            <a:ext cx="8412480" cy="237744"/>
          </a:xfrm>
          <a:prstGeom prst="rect">
            <a:avLst/>
          </a:prstGeom>
          <a:noFill/>
        </p:spPr>
        <p:txBody>
          <a:bodyPr wrap="square" lIns="0" rIns="0" tIns="0" bIns="0">
            <a:spAutoFit/>
          </a:bodyPr>
          <a:lstStyle/>
          <a:p>
            <a:r>
              <a:rPr sz="1150" b="0">
                <a:solidFill>
                  <a:srgbClr val="B6C6D2"/>
                </a:solidFill>
                <a:latin typeface="Calibri"/>
              </a:rPr>
              <a:t>Evidence status: what is measured, what is only derived, and what is superseded</a:t>
            </a:r>
          </a:p>
        </p:txBody>
      </p:sp>
      <p:sp>
        <p:nvSpPr>
          <p:cNvPr id="5" name="Rectangle 4"/>
          <p:cNvSpPr/>
          <p:nvPr/>
        </p:nvSpPr>
        <p:spPr>
          <a:xfrm>
            <a:off x="365760" y="1298448"/>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98448"/>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380744"/>
            <a:ext cx="3730752" cy="219456"/>
          </a:xfrm>
          <a:prstGeom prst="rect">
            <a:avLst/>
          </a:prstGeom>
          <a:noFill/>
        </p:spPr>
        <p:txBody>
          <a:bodyPr wrap="square" lIns="0" rIns="0" tIns="0" bIns="0">
            <a:spAutoFit/>
          </a:bodyPr>
          <a:lstStyle/>
          <a:p>
            <a:r>
              <a:rPr sz="1050" b="1">
                <a:solidFill>
                  <a:srgbClr val="FFFFFF"/>
                </a:solidFill>
                <a:latin typeface="Calibri"/>
              </a:rPr>
              <a:t>MEASURED in the runs</a:t>
            </a:r>
          </a:p>
        </p:txBody>
      </p:sp>
      <p:sp>
        <p:nvSpPr>
          <p:cNvPr id="8" name="TextBox 7"/>
          <p:cNvSpPr txBox="1"/>
          <p:nvPr/>
        </p:nvSpPr>
        <p:spPr>
          <a:xfrm>
            <a:off x="530352" y="1618488"/>
            <a:ext cx="3730752" cy="475488"/>
          </a:xfrm>
          <a:prstGeom prst="rect">
            <a:avLst/>
          </a:prstGeom>
          <a:noFill/>
        </p:spPr>
        <p:txBody>
          <a:bodyPr wrap="square" lIns="0" rIns="0" tIns="0" bIns="0">
            <a:spAutoFit/>
          </a:bodyPr>
          <a:lstStyle/>
          <a:p>
            <a:r>
              <a:rPr sz="850" b="0">
                <a:solidFill>
                  <a:srgbClr val="B6C6D2"/>
                </a:solidFill>
                <a:latin typeface="Calibri"/>
              </a:rPr>
              <a:t>Peak V/C, entry trajectories, hourly profiles, LoS shares, the map. Seed 11, 14 days.</a:t>
            </a:r>
          </a:p>
        </p:txBody>
      </p:sp>
      <p:sp>
        <p:nvSpPr>
          <p:cNvPr id="9" name="Rectangle 8"/>
          <p:cNvSpPr/>
          <p:nvPr/>
        </p:nvSpPr>
        <p:spPr>
          <a:xfrm>
            <a:off x="4754880" y="1298448"/>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0" y="1298448"/>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9472" y="1380744"/>
            <a:ext cx="3730752" cy="219456"/>
          </a:xfrm>
          <a:prstGeom prst="rect">
            <a:avLst/>
          </a:prstGeom>
          <a:noFill/>
        </p:spPr>
        <p:txBody>
          <a:bodyPr wrap="square" lIns="0" rIns="0" tIns="0" bIns="0">
            <a:spAutoFit/>
          </a:bodyPr>
          <a:lstStyle/>
          <a:p>
            <a:r>
              <a:rPr sz="1050" b="1">
                <a:solidFill>
                  <a:srgbClr val="FFFFFF"/>
                </a:solidFill>
                <a:latin typeface="Calibri"/>
              </a:rPr>
              <a:t>DERIVED — not yet measured</a:t>
            </a:r>
          </a:p>
        </p:txBody>
      </p:sp>
      <p:sp>
        <p:nvSpPr>
          <p:cNvPr id="12" name="TextBox 11"/>
          <p:cNvSpPr txBox="1"/>
          <p:nvPr/>
        </p:nvSpPr>
        <p:spPr>
          <a:xfrm>
            <a:off x="4919472" y="1618488"/>
            <a:ext cx="3730752" cy="475488"/>
          </a:xfrm>
          <a:prstGeom prst="rect">
            <a:avLst/>
          </a:prstGeom>
          <a:noFill/>
        </p:spPr>
        <p:txBody>
          <a:bodyPr wrap="square" lIns="0" rIns="0" tIns="0" bIns="0">
            <a:spAutoFit/>
          </a:bodyPr>
          <a:lstStyle/>
          <a:p>
            <a:r>
              <a:rPr sz="850" b="0">
                <a:solidFill>
                  <a:srgbClr val="B6C6D2"/>
                </a:solidFill>
                <a:latin typeface="Calibri"/>
              </a:rPr>
              <a:t>The equity result, the OD matrix and the time-of-day profile.</a:t>
            </a:r>
          </a:p>
        </p:txBody>
      </p:sp>
      <p:sp>
        <p:nvSpPr>
          <p:cNvPr id="13" name="Rectangle 12"/>
          <p:cNvSpPr/>
          <p:nvPr/>
        </p:nvSpPr>
        <p:spPr>
          <a:xfrm>
            <a:off x="365760" y="2231136"/>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231136"/>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2313432"/>
            <a:ext cx="3730752" cy="219456"/>
          </a:xfrm>
          <a:prstGeom prst="rect">
            <a:avLst/>
          </a:prstGeom>
          <a:noFill/>
        </p:spPr>
        <p:txBody>
          <a:bodyPr wrap="square" lIns="0" rIns="0" tIns="0" bIns="0">
            <a:spAutoFit/>
          </a:bodyPr>
          <a:lstStyle/>
          <a:p>
            <a:r>
              <a:rPr sz="1050" b="1">
                <a:solidFill>
                  <a:srgbClr val="FFFFFF"/>
                </a:solidFill>
                <a:latin typeface="Calibri"/>
              </a:rPr>
              <a:t>SUPERSEDED — not quoted</a:t>
            </a:r>
          </a:p>
        </p:txBody>
      </p:sp>
      <p:sp>
        <p:nvSpPr>
          <p:cNvPr id="16" name="TextBox 15"/>
          <p:cNvSpPr txBox="1"/>
          <p:nvPr/>
        </p:nvSpPr>
        <p:spPr>
          <a:xfrm>
            <a:off x="530352" y="2551176"/>
            <a:ext cx="3730752" cy="475488"/>
          </a:xfrm>
          <a:prstGeom prst="rect">
            <a:avLst/>
          </a:prstGeom>
          <a:noFill/>
        </p:spPr>
        <p:txBody>
          <a:bodyPr wrap="square" lIns="0" rIns="0" tIns="0" bIns="0">
            <a:spAutoFit/>
          </a:bodyPr>
          <a:lstStyle/>
          <a:p>
            <a:r>
              <a:rPr sz="850" b="0">
                <a:solidFill>
                  <a:srgbClr val="B6C6D2"/>
                </a:solidFill>
                <a:latin typeface="Calibri"/>
              </a:rPr>
              <a:t>All pre-calibration numbers, El Farol’s ‘oscillation’, Learn’s −39 %.</a:t>
            </a:r>
          </a:p>
        </p:txBody>
      </p:sp>
      <p:sp>
        <p:nvSpPr>
          <p:cNvPr id="17" name="Rectangle 16"/>
          <p:cNvSpPr/>
          <p:nvPr/>
        </p:nvSpPr>
        <p:spPr>
          <a:xfrm>
            <a:off x="4754880" y="2231136"/>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54880" y="2231136"/>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19472" y="2313432"/>
            <a:ext cx="3730752" cy="219456"/>
          </a:xfrm>
          <a:prstGeom prst="rect">
            <a:avLst/>
          </a:prstGeom>
          <a:noFill/>
        </p:spPr>
        <p:txBody>
          <a:bodyPr wrap="square" lIns="0" rIns="0" tIns="0" bIns="0">
            <a:spAutoFit/>
          </a:bodyPr>
          <a:lstStyle/>
          <a:p>
            <a:r>
              <a:rPr sz="1050" b="1">
                <a:solidFill>
                  <a:srgbClr val="FFFFFF"/>
                </a:solidFill>
                <a:latin typeface="Calibri"/>
              </a:rPr>
              <a:t>RANGES, not point estimates</a:t>
            </a:r>
          </a:p>
        </p:txBody>
      </p:sp>
      <p:sp>
        <p:nvSpPr>
          <p:cNvPr id="20" name="TextBox 19"/>
          <p:cNvSpPr txBox="1"/>
          <p:nvPr/>
        </p:nvSpPr>
        <p:spPr>
          <a:xfrm>
            <a:off x="4919472" y="2551176"/>
            <a:ext cx="3730752" cy="475488"/>
          </a:xfrm>
          <a:prstGeom prst="rect">
            <a:avLst/>
          </a:prstGeom>
          <a:noFill/>
        </p:spPr>
        <p:txBody>
          <a:bodyPr wrap="square" lIns="0" rIns="0" tIns="0" bIns="0">
            <a:spAutoFit/>
          </a:bodyPr>
          <a:lstStyle/>
          <a:p>
            <a:r>
              <a:rPr sz="850" b="0">
                <a:solidFill>
                  <a:srgbClr val="B6C6D2"/>
                </a:solidFill>
                <a:latin typeface="Calibri"/>
              </a:rPr>
              <a:t>Pay 12–26 %, Learn 14–39 %, Oscillate 0 % — width set by the action space.</a:t>
            </a:r>
          </a:p>
        </p:txBody>
      </p:sp>
      <p:sp>
        <p:nvSpPr>
          <p:cNvPr id="21" name="Rectangle 20"/>
          <p:cNvSpPr/>
          <p:nvPr/>
        </p:nvSpPr>
        <p:spPr>
          <a:xfrm>
            <a:off x="365760" y="3163824"/>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163824"/>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3246120"/>
            <a:ext cx="3730752" cy="219456"/>
          </a:xfrm>
          <a:prstGeom prst="rect">
            <a:avLst/>
          </a:prstGeom>
          <a:noFill/>
        </p:spPr>
        <p:txBody>
          <a:bodyPr wrap="square" lIns="0" rIns="0" tIns="0" bIns="0">
            <a:spAutoFit/>
          </a:bodyPr>
          <a:lstStyle/>
          <a:p>
            <a:r>
              <a:rPr sz="1050" b="1">
                <a:solidFill>
                  <a:srgbClr val="FFFFFF"/>
                </a:solidFill>
                <a:latin typeface="Calibri"/>
              </a:rPr>
              <a:t>Controlled comparison</a:t>
            </a:r>
          </a:p>
        </p:txBody>
      </p:sp>
      <p:sp>
        <p:nvSpPr>
          <p:cNvPr id="24" name="TextBox 23"/>
          <p:cNvSpPr txBox="1"/>
          <p:nvPr/>
        </p:nvSpPr>
        <p:spPr>
          <a:xfrm>
            <a:off x="530352" y="3483864"/>
            <a:ext cx="3730752" cy="475488"/>
          </a:xfrm>
          <a:prstGeom prst="rect">
            <a:avLst/>
          </a:prstGeom>
          <a:noFill/>
        </p:spPr>
        <p:txBody>
          <a:bodyPr wrap="square" lIns="0" rIns="0" tIns="0" bIns="0">
            <a:spAutoFit/>
          </a:bodyPr>
          <a:lstStyle/>
          <a:p>
            <a:r>
              <a:rPr sz="850" b="0">
                <a:solidFill>
                  <a:srgbClr val="B6C6D2"/>
                </a:solidFill>
                <a:latin typeface="Calibri"/>
              </a:rPr>
              <a:t>One network, one population, one seed across every rule and arm.</a:t>
            </a:r>
          </a:p>
        </p:txBody>
      </p:sp>
      <p:sp>
        <p:nvSpPr>
          <p:cNvPr id="25" name="Rectangle 24"/>
          <p:cNvSpPr/>
          <p:nvPr/>
        </p:nvSpPr>
        <p:spPr>
          <a:xfrm>
            <a:off x="4754880" y="3163824"/>
            <a:ext cx="4023360" cy="859536"/>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80" y="3163824"/>
            <a:ext cx="64008" cy="8595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19472" y="3246120"/>
            <a:ext cx="3730752" cy="219456"/>
          </a:xfrm>
          <a:prstGeom prst="rect">
            <a:avLst/>
          </a:prstGeom>
          <a:noFill/>
        </p:spPr>
        <p:txBody>
          <a:bodyPr wrap="square" lIns="0" rIns="0" tIns="0" bIns="0">
            <a:spAutoFit/>
          </a:bodyPr>
          <a:lstStyle/>
          <a:p>
            <a:r>
              <a:rPr sz="1050" b="1">
                <a:solidFill>
                  <a:srgbClr val="FFFFFF"/>
                </a:solidFill>
                <a:latin typeface="Calibri"/>
              </a:rPr>
              <a:t>Direction robust to capacity assumption</a:t>
            </a:r>
          </a:p>
        </p:txBody>
      </p:sp>
      <p:sp>
        <p:nvSpPr>
          <p:cNvPr id="28" name="TextBox 27"/>
          <p:cNvSpPr txBox="1"/>
          <p:nvPr/>
        </p:nvSpPr>
        <p:spPr>
          <a:xfrm>
            <a:off x="4919472" y="3483864"/>
            <a:ext cx="3730752" cy="475488"/>
          </a:xfrm>
          <a:prstGeom prst="rect">
            <a:avLst/>
          </a:prstGeom>
          <a:noFill/>
        </p:spPr>
        <p:txBody>
          <a:bodyPr wrap="square" lIns="0" rIns="0" tIns="0" bIns="0">
            <a:spAutoFit/>
          </a:bodyPr>
          <a:lstStyle/>
          <a:p>
            <a:r>
              <a:rPr sz="850" b="0">
                <a:solidFill>
                  <a:srgbClr val="B6C6D2"/>
                </a:solidFill>
                <a:latin typeface="Calibri"/>
              </a:rPr>
              <a:t>k = 0.08 / 0.10 / 0.12 never changes the sign or ordering.</a:t>
            </a:r>
          </a:p>
        </p:txBody>
      </p:sp>
      <p:sp>
        <p:nvSpPr>
          <p:cNvPr id="29" name="Rectangle 28"/>
          <p:cNvSpPr/>
          <p:nvPr/>
        </p:nvSpPr>
        <p:spPr>
          <a:xfrm>
            <a:off x="365760" y="4096512"/>
            <a:ext cx="8046720" cy="896112"/>
          </a:xfrm>
          <a:prstGeom prst="rect">
            <a:avLst/>
          </a:prstGeom>
          <a:solidFill>
            <a:srgbClr val="0E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4096512"/>
            <a:ext cx="64008" cy="89611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4178808"/>
            <a:ext cx="7726679" cy="219456"/>
          </a:xfrm>
          <a:prstGeom prst="rect">
            <a:avLst/>
          </a:prstGeom>
          <a:noFill/>
        </p:spPr>
        <p:txBody>
          <a:bodyPr wrap="square" lIns="0" rIns="0" tIns="0" bIns="0">
            <a:spAutoFit/>
          </a:bodyPr>
          <a:lstStyle/>
          <a:p>
            <a:r>
              <a:rPr sz="1050" b="1">
                <a:solidFill>
                  <a:srgbClr val="FFFFFF"/>
                </a:solidFill>
                <a:latin typeface="Calibri"/>
              </a:rPr>
              <a:t>KNOWN BIAS, under repair: a declined CBD entry cancelled the agent’s whole day</a:t>
            </a:r>
          </a:p>
        </p:txBody>
      </p:sp>
      <p:sp>
        <p:nvSpPr>
          <p:cNvPr id="32" name="TextBox 31"/>
          <p:cNvSpPr txBox="1"/>
          <p:nvPr/>
        </p:nvSpPr>
        <p:spPr>
          <a:xfrm>
            <a:off x="530352" y="4416552"/>
            <a:ext cx="7726679" cy="530352"/>
          </a:xfrm>
          <a:prstGeom prst="rect">
            <a:avLst/>
          </a:prstGeom>
          <a:noFill/>
        </p:spPr>
        <p:txBody>
          <a:bodyPr wrap="square" lIns="0" rIns="0" tIns="0" bIns="0">
            <a:spAutoFit/>
          </a:bodyPr>
          <a:lstStyle/>
          <a:p>
            <a:r>
              <a:rPr sz="850" b="0">
                <a:solidFill>
                  <a:srgbClr val="B6C6D2"/>
                </a:solidFill>
                <a:latin typeface="Calibri"/>
              </a:rPr>
              <a:t>~100,000 suburban vehicle-trips a day vanished with the declining agents, flattering every result outside the cordon. Fixed 29 Jul 2026; these numbers predate the fix.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txBody>
          <a:bodyPr rtlCol="0" anchor="ctr"/>
          <a:lstStyle/>
          <a:p>
            <a:pPr algn="ctr"/>
          </a:p>
        </p:txBody>
      </p:sp>
      <p:sp>
        <p:nvSpPr>
          <p:cNvPr id="3" name="TextBox 2"/>
          <p:cNvSpPr txBox="1"/>
          <p:nvPr/>
        </p:nvSpPr>
        <p:spPr>
          <a:xfrm>
            <a:off x="365760" y="164592"/>
            <a:ext cx="8412480" cy="585216"/>
          </a:xfrm>
          <a:prstGeom prst="rect">
            <a:avLst/>
          </a:prstGeom>
          <a:noFill/>
        </p:spPr>
        <p:txBody>
          <a:bodyPr wrap="none">
            <a:spAutoFit/>
          </a:bodyPr>
          <a:lstStyle/>
          <a:p>
            <a:r>
              <a:rPr sz="2600" b="1">
                <a:solidFill>
                  <a:srgbClr val="FFFFFF"/>
                </a:solidFill>
                <a:latin typeface="Calibri"/>
              </a:rPr>
              <a:t>Who Are the 2,500 Agents?</a:t>
            </a:r>
          </a:p>
        </p:txBody>
      </p:sp>
      <p:pic>
        <p:nvPicPr>
          <p:cNvPr id="4" name="Picture 3" descr="agent_composition.png"/>
          <p:cNvPicPr>
            <a:picLocks noChangeAspect="1"/>
          </p:cNvPicPr>
          <p:nvPr/>
        </p:nvPicPr>
        <p:blipFill>
          <a:blip r:embed="rId2"/>
          <a:stretch>
            <a:fillRect/>
          </a:stretch>
        </p:blipFill>
        <p:spPr>
          <a:xfrm>
            <a:off x="365760" y="1005840"/>
            <a:ext cx="8412480" cy="2849388"/>
          </a:xfrm>
          <a:prstGeom prst="rect">
            <a:avLst/>
          </a:prstGeom>
        </p:spPr>
      </p:pic>
      <p:sp>
        <p:nvSpPr>
          <p:cNvPr id="5" name="TextBox 4"/>
          <p:cNvSpPr txBox="1"/>
          <p:nvPr/>
        </p:nvSpPr>
        <p:spPr>
          <a:xfrm>
            <a:off x="365760" y="4023360"/>
            <a:ext cx="8412480" cy="1143000"/>
          </a:xfrm>
          <a:prstGeom prst="rect">
            <a:avLst/>
          </a:prstGeom>
          <a:noFill/>
        </p:spPr>
        <p:txBody>
          <a:bodyPr wrap="square">
            <a:spAutoFit/>
          </a:bodyPr>
          <a:lstStyle/>
          <a:p>
            <a:pPr algn="l"/>
            <a:r>
              <a:rPr sz="1150" b="1">
                <a:solidFill>
                  <a:srgbClr val="0D2137"/>
                </a:solidFill>
                <a:latin typeface="Calibri"/>
              </a:rPr>
              <a:t>Measured at setup, seed 11. </a:t>
            </a:r>
            <a:r>
              <a:rPr sz="1150">
                <a:solidFill>
                  <a:srgbClr val="64748B"/>
                </a:solidFill>
                <a:latin typeface="Calibri"/>
              </a:rPr>
              <a:t>Every agent lives outside the cordon, so the charge is always a decision to cross a boundary — never a resident’s parking decision.</a:t>
            </a:r>
          </a:p>
          <a:p>
            <a:pPr algn="l"/>
            <a:r>
              <a:rPr sz="1150">
                <a:solidFill>
                  <a:srgbClr val="64748B"/>
                </a:solidFill>
                <a:latin typeface="Calibri"/>
              </a:rPr>
              <a:t>The 1,000 agents that never enter are an unpriced comparison group inside the same run.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txBody>
          <a:bodyPr rtlCol="0" anchor="ctr"/>
          <a:lstStyle/>
          <a:p>
            <a:pPr algn="ctr"/>
          </a:p>
        </p:txBody>
      </p:sp>
      <p:sp>
        <p:nvSpPr>
          <p:cNvPr id="3" name="TextBox 2"/>
          <p:cNvSpPr txBox="1"/>
          <p:nvPr/>
        </p:nvSpPr>
        <p:spPr>
          <a:xfrm>
            <a:off x="365760" y="164592"/>
            <a:ext cx="8412480" cy="585216"/>
          </a:xfrm>
          <a:prstGeom prst="rect">
            <a:avLst/>
          </a:prstGeom>
          <a:noFill/>
        </p:spPr>
        <p:txBody>
          <a:bodyPr wrap="none">
            <a:spAutoFit/>
          </a:bodyPr>
          <a:lstStyle/>
          <a:p>
            <a:r>
              <a:rPr sz="2600" b="1">
                <a:solidFill>
                  <a:srgbClr val="FFFFFF"/>
                </a:solidFill>
                <a:latin typeface="Calibri"/>
              </a:rPr>
              <a:t>What Was Fitted, and What Was Assumed</a:t>
            </a:r>
          </a:p>
        </p:txBody>
      </p:sp>
      <p:pic>
        <p:nvPicPr>
          <p:cNvPr id="4" name="Picture 3" descr="calibration_scope.png"/>
          <p:cNvPicPr>
            <a:picLocks noChangeAspect="1"/>
          </p:cNvPicPr>
          <p:nvPr/>
        </p:nvPicPr>
        <p:blipFill>
          <a:blip r:embed="rId2"/>
          <a:stretch>
            <a:fillRect/>
          </a:stretch>
        </p:blipFill>
        <p:spPr>
          <a:xfrm>
            <a:off x="365760" y="1005840"/>
            <a:ext cx="8412480" cy="2813681"/>
          </a:xfrm>
          <a:prstGeom prst="rect">
            <a:avLst/>
          </a:prstGeom>
        </p:spPr>
      </p:pic>
      <p:sp>
        <p:nvSpPr>
          <p:cNvPr id="5" name="TextBox 4"/>
          <p:cNvSpPr txBox="1"/>
          <p:nvPr/>
        </p:nvSpPr>
        <p:spPr>
          <a:xfrm>
            <a:off x="365760" y="3987600"/>
            <a:ext cx="8412480" cy="1143000"/>
          </a:xfrm>
          <a:prstGeom prst="rect">
            <a:avLst/>
          </a:prstGeom>
          <a:noFill/>
        </p:spPr>
        <p:txBody>
          <a:bodyPr wrap="square">
            <a:spAutoFit/>
          </a:bodyPr>
          <a:lstStyle/>
          <a:p>
            <a:pPr algn="l"/>
            <a:r>
              <a:rPr sz="1150" b="1">
                <a:solidFill>
                  <a:srgbClr val="0D2137"/>
                </a:solidFill>
                <a:latin typeface="Calibri"/>
              </a:rPr>
              <a:t>Two knobs, and only two. </a:t>
            </a:r>
            <a:r>
              <a:rPr sz="1150">
                <a:solidFill>
                  <a:srgbClr val="64748B"/>
                </a:solidFill>
                <a:latin typeface="Calibri"/>
              </a:rPr>
              <a:t>The agent scale factor fixes total volume; suburban destinations fix the spatial spread. Both converge on the observed counts.</a:t>
            </a:r>
          </a:p>
          <a:p>
            <a:pPr algn="l"/>
            <a:r>
              <a:rPr sz="1150">
                <a:solidFill>
                  <a:srgbClr val="64748B"/>
                </a:solidFill>
                <a:latin typeface="Calibri"/>
              </a:rPr>
              <a:t>Nothing fits the temporal axis, which is why the implied design-hour factor sits at 0.157 against the 0.10 assumed — a missing fit, not a poor 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9FF"/>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D2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8412480" cy="585216"/>
          </a:xfrm>
          <a:prstGeom prst="rect">
            <a:avLst/>
          </a:prstGeom>
          <a:noFill/>
        </p:spPr>
        <p:txBody>
          <a:bodyPr wrap="none">
            <a:spAutoFit/>
          </a:bodyPr>
          <a:lstStyle/>
          <a:p>
            <a:r>
              <a:rPr sz="2600" b="1">
                <a:solidFill>
                  <a:srgbClr val="FFFFFF"/>
                </a:solidFill>
                <a:latin typeface="Calibri"/>
              </a:rPr>
              <a:t>How Departure Hours Are Drawn — Not an OD Matrix</a:t>
            </a:r>
          </a:p>
        </p:txBody>
      </p:sp>
      <p:pic>
        <p:nvPicPr>
          <p:cNvPr id="4" name="Picture 3" descr="demand_profile.png"/>
          <p:cNvPicPr>
            <a:picLocks noChangeAspect="1"/>
          </p:cNvPicPr>
          <p:nvPr/>
        </p:nvPicPr>
        <p:blipFill>
          <a:blip r:embed="rId2"/>
          <a:stretch>
            <a:fillRect/>
          </a:stretch>
        </p:blipFill>
        <p:spPr>
          <a:xfrm>
            <a:off x="365760" y="1005840"/>
            <a:ext cx="8412480" cy="2691993"/>
          </a:xfrm>
          <a:prstGeom prst="rect">
            <a:avLst/>
          </a:prstGeom>
        </p:spPr>
      </p:pic>
      <p:sp>
        <p:nvSpPr>
          <p:cNvPr id="5" name="TextBox 4"/>
          <p:cNvSpPr txBox="1"/>
          <p:nvPr/>
        </p:nvSpPr>
        <p:spPr>
          <a:xfrm>
            <a:off x="365760" y="3886200"/>
            <a:ext cx="8412480" cy="1143000"/>
          </a:xfrm>
          <a:prstGeom prst="rect">
            <a:avLst/>
          </a:prstGeom>
          <a:noFill/>
        </p:spPr>
        <p:txBody>
          <a:bodyPr wrap="square">
            <a:spAutoFit/>
          </a:bodyPr>
          <a:lstStyle/>
          <a:p>
            <a:pPr algn="l"/>
            <a:r>
              <a:rPr sz="1100">
                <a:solidFill>
                  <a:srgbClr val="64748B"/>
                </a:solidFill>
                <a:latin typeface="Calibri"/>
              </a:rPr>
              <a:t>Two axes, drawn independently. </a:t>
            </a:r>
            <a:r>
              <a:rPr sz="1100">
                <a:solidFill>
                  <a:srgbClr val="64748B"/>
                </a:solidFill>
                <a:latin typeface="Calibri"/>
              </a:rPr>
              <a:t>The OD matrix answers </a:t>
            </a:r>
            <a:r>
              <a:rPr sz="1100" b="1">
                <a:solidFill>
                  <a:srgbClr val="0D2137"/>
                </a:solidFill>
                <a:latin typeface="Calibri"/>
              </a:rPr>
              <a:t>where</a:t>
            </a:r>
            <a:r>
              <a:rPr sz="1100">
                <a:solidFill>
                  <a:srgbClr val="64748B"/>
                </a:solidFill>
                <a:latin typeface="Calibri"/>
              </a:rPr>
              <a:t> a trip goes; these weights answer </a:t>
            </a:r>
            <a:r>
              <a:rPr sz="1100" b="1">
                <a:solidFill>
                  <a:srgbClr val="0D2137"/>
                </a:solidFill>
                <a:latin typeface="Calibri"/>
              </a:rPr>
              <a:t>when</a:t>
            </a:r>
            <a:r>
              <a:rPr sz="1100">
                <a:solidFill>
                  <a:srgbClr val="64748B"/>
                </a:solidFill>
                <a:latin typeface="Calibri"/>
              </a:rPr>
              <a:t> it leaves. The weights do not stand in for an OD matrix — they act after the origin and destination are already fixed.</a:t>
            </a:r>
          </a:p>
          <a:p>
            <a:r>
              <a:rPr sz="1100">
                <a:solidFill>
                  <a:srgbClr val="64748B"/>
                </a:solidFill>
                <a:latin typeface="Calibri"/>
              </a:rPr>
              <a:t>Hourly volume is never assigned. Each of the 2,500 agents spins its own roulette every simulated day, so "how many depart at 08:00" emerges from 2,500 independent draws and differs from day to day. The 20.7 % spike at 08:00 is the direct cause of the too-sharp morning peak (implied k = 0.157 against the 0.10 assumed).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736</Words>
  <Application>Microsoft Macintosh PowerPoint</Application>
  <PresentationFormat>On-screen Show (16:9)</PresentationFormat>
  <Paragraphs>99</Paragraphs>
  <Slides>6</Slides>
  <Notes>5</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 Oscillate, or Learn? Three Agent Decision Rules under Congestion Pricing</dc:title>
  <dc:subject>PptxGenJS Presentation</dc:subject>
  <dc:creator>Hyesop Shin</dc:creator>
  <cp:lastModifiedBy>Hyesop Shin</cp:lastModifiedBy>
  <cp:revision>2</cp:revision>
  <dcterms:created xsi:type="dcterms:W3CDTF">2026-06-03T22:09:15Z</dcterms:created>
  <dcterms:modified xsi:type="dcterms:W3CDTF">2026-06-03T22:15:07Z</dcterms:modified>
</cp:coreProperties>
</file>