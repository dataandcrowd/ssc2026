
<file path=[Content_Types].xml><?xml version="1.0" encoding="utf-8"?>
<Types xmlns="http://schemas.openxmlformats.org/package/2006/content-types"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59" r:id="rId6"/>
    <p:sldId id="270" r:id="rId21"/>
    <p:sldId id="266" r:id="rId17"/>
    <p:sldId id="267" r:id="rId18"/>
    <p:sldId id="268" r:id="rId19"/>
    <p:sldId id="264" r:id="rId15"/>
    <p:sldId id="262" r:id="rId13"/>
    <p:sldId id="263" r:id="rId14"/>
    <p:sldId id="265" r:id="rId16"/>
    <p:sldId id="269" r:id="rId20"/>
    <p:sldId id="260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0.xml"/><Relationship Id="rId16" Type="http://schemas.openxmlformats.org/officeDocument/2006/relationships/slide" Target="slides/slide13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4.xml"/><Relationship Id="rId21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4918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microsoft.com/office/2007/relationships/media" Target="../media/media1.mov"/><Relationship Id="rId2" Type="http://schemas.openxmlformats.org/officeDocument/2006/relationships/video" Target="../media/media1.mov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67512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022592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370064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7717536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8065008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8412480" y="274320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667512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7022592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7370064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717536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065008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12480" y="621792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67512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22592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370064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717536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065008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8412480" y="969264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667512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022592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370064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717536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65008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412480" y="1316736"/>
            <a:ext cx="73152" cy="73152"/>
          </a:xfrm>
          <a:prstGeom prst="ellipse">
            <a:avLst/>
          </a:prstGeom>
          <a:solidFill>
            <a:srgbClr val="0E7490">
              <a:alpha val="40000"/>
            </a:srgbClr>
          </a:solidFill>
          <a:ln w="12700">
            <a:solidFill>
              <a:srgbClr val="0E749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365760" y="100584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Pay, Oscillate, or Learn?</a:t>
            </a:r>
            <a:endParaRPr lang="en-US" sz="3800" dirty="0"/>
          </a:p>
        </p:txBody>
      </p:sp>
      <p:sp>
        <p:nvSpPr>
          <p:cNvPr id="28" name="Text 26"/>
          <p:cNvSpPr/>
          <p:nvPr/>
        </p:nvSpPr>
        <p:spPr>
          <a:xfrm>
            <a:off x="365760" y="18288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 under Congestion Pricing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365760" y="2514600"/>
            <a:ext cx="41148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365760" y="26517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Simulation Conference 2026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65760" y="30175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Hyesop Shin   |   University of Auckland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65760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Text 31"/>
          <p:cNvSpPr/>
          <p:nvPr/>
        </p:nvSpPr>
        <p:spPr>
          <a:xfrm>
            <a:off x="365760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Agent-Based Modelling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892808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1892808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19856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Text 35"/>
          <p:cNvSpPr/>
          <p:nvPr/>
        </p:nvSpPr>
        <p:spPr>
          <a:xfrm>
            <a:off x="3419856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946904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Text 37"/>
          <p:cNvSpPr/>
          <p:nvPr/>
        </p:nvSpPr>
        <p:spPr>
          <a:xfrm>
            <a:off x="4946904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 CBD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73952" y="4297680"/>
            <a:ext cx="1417320" cy="347472"/>
          </a:xfrm>
          <a:prstGeom prst="roundRect">
            <a:avLst>
              <a:gd name="adj" fmla="val 13158"/>
            </a:avLst>
          </a:prstGeom>
          <a:solidFill>
            <a:srgbClr val="0E7490">
              <a:alpha val="45000"/>
            </a:srgbClr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6473952" y="42976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Pricing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Behavioural Assumption Matter?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🏙️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389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Auckland's Context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389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costs NZ$2.6B/yr. Time-of-Use (ToU) charging legislation passed Nov 2025. CBD cordon launch expected alongside City Rail Link.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32461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❓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4107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4107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models ask 'how much will traffic fall?' — but behavioural assumptions drive whether congestion shifts in time, in space, or not at all.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051560"/>
            <a:ext cx="2834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217920" y="1051560"/>
            <a:ext cx="2834640" cy="54864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6217920" y="11887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🔬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82512" y="1874520"/>
            <a:ext cx="2505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382512" y="2331720"/>
            <a:ext cx="2505456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with 2,500 heterogeneous agents (1 agent = 160 vehicles, calibrated to observed daily counts), Auckland CBD road network. Three decision rules, same pricing environment, same LoS measurement.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questions:  (1) How does decision rule choice affect V/C outcomes?   (2) Where does congestion shift spatially under ToU?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Agent Decision Rules: A Rationality Spectrum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6459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1783080" y="1005840"/>
            <a:ext cx="347472" cy="3474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26280" y="1005840"/>
            <a:ext cx="347472" cy="34747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7269480" y="1005840"/>
            <a:ext cx="347472" cy="34747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Static Rationality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669280" y="12070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 →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6032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256032" y="1463040"/>
            <a:ext cx="82296" cy="3474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420624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20624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Decay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0624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Rationality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384048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P(entry) = e^(–α · fee / VoT)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20624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probability declines with fee/VoT ratio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memory, no adaptation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equilibrium assumption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peak V/C −12% (fixed hour) to −26% (may reroute)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3200400" y="1463040"/>
            <a:ext cx="82296" cy="3474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3364992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364992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Bar Model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64992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(No Learning)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328416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Enter if best predictor: E[congestion] &lt; θ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64992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of predictors based on recent history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yesterday's congestion, not today's fee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Near-universal entry (91%), so little left to deter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0% in every arm — the charge never binds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44768" y="1463040"/>
            <a:ext cx="2816352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6144768" y="1463040"/>
            <a:ext cx="82296" cy="3474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6309360" y="15361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309360" y="1938528"/>
            <a:ext cx="2542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309360" y="2286000"/>
            <a:ext cx="2542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Rationality with Learning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272784" y="2578608"/>
            <a:ext cx="2578608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Q(s,a) ← Q(s,a) + α[r + γ·max Q(s',a') – Q(s,a)]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309360" y="3035808"/>
            <a:ext cx="254203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= time band x congestion band; action = enter or not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is absent from the decision — it enters only via the reward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response is learned over days, not applied at once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−39% if staying home is the only option, −14% if not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creen Recording 2026-06-04 at 10.14.16.mov">
            <a:hlinkClick r:id="" action="ppaction://media"/>
            <a:extLst>
              <a:ext uri="{FF2B5EF4-FFF2-40B4-BE49-F238E27FC236}">
                <a16:creationId xmlns:a16="http://schemas.microsoft.com/office/drawing/2014/main" id="{01870293-2F5F-0615-90CA-289F5EEF9BE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46125" y="0"/>
            <a:ext cx="7650163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469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6306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You Charge Drivers?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road. Same price. Three very different outcomes — depending on how drivers think.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228600" y="1417320"/>
            <a:ext cx="281635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228600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😐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58952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Driver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check the price and decide."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drivers enter at the peak: entry falls from 52% to 40%. Give them an hour of flexibility and the cut deepens from 12% to 18%.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28600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338328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38328" y="3959352"/>
            <a:ext cx="988089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372137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0.113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38328" y="4215384"/>
            <a:ext cx="890195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1274243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0.100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338328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Steady reduction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72968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3172968" y="1417320"/>
            <a:ext cx="2816352" cy="457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3172968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😵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703320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 Driver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10128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"Everyone avoided it yesterday, so I'll go today."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310128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read yesterday's congestion, not today's price. Almost everyone still enters (91%), so the charge has nothing left to deter — in every arm we tried.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72968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282696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82696" y="3959352"/>
            <a:ext cx="1417319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745735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0.170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82696" y="4215384"/>
            <a:ext cx="1417319" cy="18288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4745735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0.170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solidFill>
            <a:srgbClr val="EF4444">
              <a:alpha val="12000"/>
            </a:srgbClr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282696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response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17336" y="1417320"/>
            <a:ext cx="281635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6117336" y="1417320"/>
            <a:ext cx="2816352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6117336" y="1444752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00000"/>
                </a:solidFill>
              </a:rPr>
              <a:t>🧠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6647688" y="147218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Driver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54496" y="1947672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"I'll try leaving earlier — it worked last week."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54496" y="2276856"/>
            <a:ext cx="25420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learn day by day. But this −39% assumes the only alternative is staying home: let them shift an hour and it falls to −14%.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17336" y="3685032"/>
            <a:ext cx="2816352" cy="1078992"/>
          </a:xfrm>
          <a:prstGeom prst="rect">
            <a:avLst/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Text 38"/>
          <p:cNvSpPr/>
          <p:nvPr/>
        </p:nvSpPr>
        <p:spPr>
          <a:xfrm>
            <a:off x="6227064" y="3730752"/>
            <a:ext cx="26334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V/C (inner cordon)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227064" y="3959352"/>
            <a:ext cx="1108575" cy="18288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Text 40"/>
          <p:cNvSpPr/>
          <p:nvPr/>
        </p:nvSpPr>
        <p:spPr>
          <a:xfrm>
            <a:off x="7381359" y="39593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  0.129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27064" y="4215384"/>
            <a:ext cx="732057" cy="1828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Text 42"/>
          <p:cNvSpPr/>
          <p:nvPr/>
        </p:nvSpPr>
        <p:spPr>
          <a:xfrm>
            <a:off x="7004841" y="421538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  0.079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solidFill>
            <a:srgbClr val="10B981">
              <a:alpha val="12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Text 44"/>
          <p:cNvSpPr/>
          <p:nvPr/>
        </p:nvSpPr>
        <p:spPr>
          <a:xfrm>
            <a:off x="6227064" y="447141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 Largest cut in entries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0" y="4818888"/>
            <a:ext cx="9144000" cy="324612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Text 46"/>
          <p:cNvSpPr/>
          <p:nvPr/>
        </p:nvSpPr>
        <p:spPr>
          <a:xfrm>
            <a:off x="365760" y="4818888"/>
            <a:ext cx="841248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the right behavioural assumption changes not just how much congestion falls — but whether the policy works at all.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Calibrated Against Observed Counts</a:t>
            </a:r>
          </a:p>
        </p:txBody>
      </p:sp>
      <p:pic>
        <p:nvPicPr>
          <p:cNvPr id="4" name="Picture 3" descr="calibratio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43000"/>
            <a:ext cx="2971800" cy="27432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617720" y="1115568"/>
            <a:ext cx="4114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8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0" y="1197864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D2137"/>
                </a:solidFill>
                <a:latin typeface="Calibri"/>
              </a:rPr>
              <a:t>Volume: 1 agent = 160 vehicles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426464"/>
            <a:ext cx="3840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64748B"/>
                </a:solidFill>
                <a:latin typeface="Calibri"/>
              </a:rPr>
              <a:t>Flow-weighted modelled/observed ratio 1.013 across all 1,634 links (median 1.010). ~400,000 vehicle-trips a 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2048256"/>
            <a:ext cx="4114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8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2130552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D2137"/>
                </a:solidFill>
                <a:latin typeface="Calibri"/>
              </a:rPr>
              <a:t>Space: 1,400 suburban trip ends added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359152"/>
            <a:ext cx="3840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64748B"/>
                </a:solidFill>
                <a:latin typeface="Calibri"/>
              </a:rPr>
              <a:t>Every non-home destination used to sit inside the cordon. Group ratios went from 0.75–1.80 to 0.82–1.20; CBD from 1.80 to 1.12.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2980944"/>
            <a:ext cx="4114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8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063239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D2137"/>
                </a:solidFill>
                <a:latin typeface="Calibri"/>
              </a:rPr>
              <a:t>Time: the one residual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291839"/>
            <a:ext cx="3840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64748B"/>
                </a:solidFill>
                <a:latin typeface="Calibri"/>
              </a:rPr>
              <a:t>Implied design-hour factor 0.157 against the 0.10 assumed — the morning peak is still too sharp, so absolute LoS reads pessimistically.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3913632"/>
            <a:ext cx="41148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D8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3995928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0D2137"/>
                </a:solidFill>
                <a:latin typeface="Calibri"/>
              </a:rPr>
              <a:t>k = 0.08 / 0.10 / 0.12 tested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224528"/>
            <a:ext cx="3840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64748B"/>
                </a:solidFill>
                <a:latin typeface="Calibri"/>
              </a:rPr>
              <a:t>Direction and ordering unchanged. Note this re-grades identical traffic: it tests measurement, not demand.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64748B"/>
                </a:solidFill>
                <a:latin typeface="Calibri"/>
              </a:rPr>
              <a:t>Calibration changed the answers: it removed El Farol's oscillation and cut every reported congestion level — the pre-calibration numbers are superseded.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Who Actually Pays: the Charge Is Regressive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Left: of 500 agents in each value-of-time quintile, how many still enter as the fee rises. The $6 peak fee removes 59% of the lowest-income band and 6% of the highest — the same charge costs Q1 1.3 hours of its own time and Q5 0.28 hours.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Most of the congestion relief is bought by low-income drivers giving up the trip.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Right: the learner deters every income band equally — but only because its reward values a commute at one tenth of an hour (red). Price it at half an hour (blue) and the familiar regressive pattern returns. Derived from the model's equations, not measured.</a:t>
            </a:r>
          </a:p>
        </p:txBody>
      </p:sp>
      <p:pic>
        <p:nvPicPr>
          <p:cNvPr id="6" name="Picture 5" descr="equity_by_income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Let Them Shift an Hour: Fewer Trips Forgone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Retiming is the only option that changes HOW MANY trips are made. Pay's entry rate is unchanged (0.40) because only 2.7% of its entrants shift — all of them earlier, all of them low-income, since an hour of schedule delay costs 0.6 x VoT against a $2 saving.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Learn is the opposite: given somewhere to move, 67% shift and entry jumps 0.34 → 0.62, so the measured congestion benefit falls from 39% to 14%.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A model where the only response is 'stay home' overstates what the charge achieves.</a:t>
            </a:r>
          </a:p>
        </p:txBody>
      </p:sp>
      <p:pic>
        <p:nvPicPr>
          <p:cNvPr id="6" name="Picture 5" descr="optin_retiming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Let Them Take Another Road: Same Trips, New Places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3192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Route choice leaves the number of trips untouched — entry rates are identical to three decimals (Pay 0.40, Learn 0.34) — and changes only where those trips go.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The no-charge baseline moves a lot: inner V/C rises (0.113 → 0.164 for Pay) while the cordon boundary falls by a third, because fixed shortest paths were funnelling traffic onto a few approach arterials.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This is the arm that makes displacement testable: the traffic still exists and can move. It still does not pile up outside the cordon.</a:t>
            </a:r>
          </a:p>
        </p:txBody>
      </p:sp>
      <p:pic>
        <p:nvPicPr>
          <p:cNvPr id="6" name="Picture 5" descr="optin_rerouting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278" y="1024128"/>
            <a:ext cx="7275443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Why Learning Keeps Falling — and Herding Bounces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947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Pay reads the fee inside the decision, so its response is complete on day 1 and then flat.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Learn never sees the fee when it decides — it only feels it in the reward. Entry starts at the no-charge level and slides for the whole fortnight (0.51 → 0.24), because the fee ($2–6) outweighs the congestion it could avoid (~0.3 in reward units) by an order of magnitude, so nothing pulls entry back up. Fee per entering agent is unchanged (2.83 → 2.75): deterrence, not retiming.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Oscillate is deterred on day 1 (0.57 vs 0.73) but its own feedback erases that within a day — by day 2 both regimes sit at 0.91.</a:t>
            </a:r>
          </a:p>
        </p:txBody>
      </p:sp>
      <p:pic>
        <p:nvPicPr>
          <p:cNvPr id="6" name="Picture 5" descr="entry_trajectory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7" y="1051560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Where the Charge Acts Within the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Hour-of-day inner-cordon V/C, days 8–14, no charge (grey) vs ToU (blue); shaded bands are the $6 peak and $4 shoulder fee windows. Pay −23% at the morning peak, Learn −49%, Oscillate +2%. The whole-day mean falls by as much as the peaks do, so the charge deters trips rather than spreading them.</a:t>
            </a:r>
          </a:p>
        </p:txBody>
      </p:sp>
      <p:pic>
        <p:nvPicPr>
          <p:cNvPr id="6" name="Picture 5" descr="hourly_profile_g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7" y="1051560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No Displacement onto the Ring Roads</a:t>
            </a:r>
          </a:p>
        </p:txBody>
      </p:sp>
      <p:pic>
        <p:nvPicPr>
          <p:cNvPr id="4" name="Picture 3" descr="map_re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54" y="1051560"/>
            <a:ext cx="7046291" cy="2788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977639"/>
            <a:ext cx="8412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64748B"/>
                </a:solidFill>
                <a:latin typeface="Calibri"/>
              </a:rPr>
              <a:t>Change in per-link peak V/C under ToU: blue is a reduction, red an increase, dashed outline is the cordon. Under Pay and Learn the boundary and approach roads fall together with the interior (−24% and −37% at the boundary). Under Oscillate the map is mottled and the net change is zero.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21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585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What We Let Agents Do Changes 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94760"/>
            <a:ext cx="8412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Calibri"/>
              </a:rPr>
              <a:t>Same network, same population, same fee schedule. The only difference is the set of responses an agent is allowed: forgo the trip only (grey), or also shift an hour (blue), reroute (orange), or both (green).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Pay is robust at 12–26%. Learn swings 39% → 14% — its headline needs the assumption that staying home is the only alternative. Oscillate is zero in every arm.</a:t>
            </a:r>
          </a:p>
          <a:p>
            <a:r>
              <a:rPr sz="1050">
                <a:solidFill>
                  <a:srgbClr val="64748B"/>
                </a:solidFill>
                <a:latin typeface="Calibri"/>
              </a:rPr>
              <a:t>Right: routing alone halves the load on the cordon boundary before any charge — the biggest single effect here is a modelling assumption, not a policy.</a:t>
            </a:r>
          </a:p>
        </p:txBody>
      </p:sp>
      <p:pic>
        <p:nvPicPr>
          <p:cNvPr id="6" name="Picture 5" descr="arms_comparison_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927" y="1024128"/>
            <a:ext cx="7606145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6032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What This Model Cannot Say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877824"/>
            <a:ext cx="3200400" cy="3657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69264"/>
            <a:ext cx="8412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0">
                <a:solidFill>
                  <a:srgbClr val="B6C6D2"/>
                </a:solidFill>
                <a:latin typeface="Calibri"/>
              </a:rPr>
              <a:t>Seven limits that bound every number in this talk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98448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98448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380744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Single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18488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Day-to-day spreads are variation within one seed, not run-to-run uncertainty. Only El Farol has a five-seed replication.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98448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754880" y="1298448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9472" y="1380744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Fee level untested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9472" y="1618488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No fee-level sweep on the calibrated model. The beta sweep varies price sensitivity, not price.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31136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231136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313432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Equity is derived, not measured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2551176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Quintile results come from the decision and reward equations. No run recorded entries by income band.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231136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54880" y="2231136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9472" y="2313432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Learn rests on two arbitrary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9472" y="2551176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Its reward values a commute at VoT/10, and its action space decides the headline (39 % vs 14 %).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63824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163824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Routing answers to congestion, not the fee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483864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A CBD-bound agent pays whichever road it takes, so cordon-dodging is still untested.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163824"/>
            <a:ext cx="4023360" cy="859536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54880" y="3163824"/>
            <a:ext cx="64008" cy="859536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3246120"/>
            <a:ext cx="37307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Peak too sharp, demand static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3483864"/>
            <a:ext cx="3730752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Implied design-hour factor 0.157 against the 0.10 assumed; fixed OD matrix and no mode shift.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096512"/>
            <a:ext cx="8046720" cy="896112"/>
          </a:xfrm>
          <a:prstGeom prst="rect">
            <a:avLst/>
          </a:prstGeom>
          <a:solidFill>
            <a:srgbClr val="0E2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096512"/>
            <a:ext cx="64008" cy="896112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178808"/>
            <a:ext cx="77266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FFFFF"/>
                </a:solidFill>
                <a:latin typeface="Calibri"/>
              </a:rPr>
              <a:t>A declined trip cancels the agent's whole 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" y="4416552"/>
            <a:ext cx="772667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B6C6D2"/>
                </a:solidFill>
                <a:latin typeface="Calibri"/>
              </a:rPr>
              <a:t>All 1,500 CBD-bound agents are multi-stop (3.76 destinations each), and declining the charge deactivates the agent — so roughly 100,000 vehicle-trips a day leave roads outside the cordon for no behavioural reason. This inflates the peripheral reductions and the no-displacement result. The k-factor sweep re-grades identical traffic, so it does not test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0372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731520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7726680" y="22860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649224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690372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731520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7726680" y="64008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649224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0372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731520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7726680" y="105156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49224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0372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726680" y="146304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49224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90372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31520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726680" y="1874520"/>
            <a:ext cx="91440" cy="91440"/>
          </a:xfrm>
          <a:prstGeom prst="ellipse">
            <a:avLst/>
          </a:prstGeom>
          <a:solidFill>
            <a:srgbClr val="0E7490">
              <a:alpha val="35000"/>
            </a:srgbClr>
          </a:solidFill>
          <a:ln w="12700">
            <a:solidFill>
              <a:srgbClr val="0E7490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Text 20"/>
          <p:cNvSpPr/>
          <p:nvPr/>
        </p:nvSpPr>
        <p:spPr>
          <a:xfrm>
            <a:off x="365760" y="27432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Next Steps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365760" y="896112"/>
            <a:ext cx="3200400" cy="36576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365760" y="10241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1463040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Text 24"/>
          <p:cNvSpPr/>
          <p:nvPr/>
        </p:nvSpPr>
        <p:spPr>
          <a:xfrm>
            <a:off x="365760" y="14630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13232" y="1444752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assumption shapes both magnitude and temporal redistribution of congestion — not just the quantity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2212848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365760" y="22128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13232" y="219456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Q-learning's headline depends on what agents may do: −39% when the only option is to stay home, −14% when they can shift an hour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2962656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365760" y="2962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13232" y="294436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Farol shows what happens when agents track each other rather than the fee — entry stays at 91% and the charge does nothing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3712464"/>
            <a:ext cx="256032" cy="25603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Text 33"/>
          <p:cNvSpPr/>
          <p:nvPr/>
        </p:nvSpPr>
        <p:spPr>
          <a:xfrm>
            <a:off x="365760" y="3712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13232" y="3694176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ABM places competing theories side-by-side within a common environment — revealing structural differences invisible to aggregate models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09160" y="1005840"/>
            <a:ext cx="36576" cy="3749040"/>
          </a:xfrm>
          <a:prstGeom prst="rect">
            <a:avLst/>
          </a:prstGeom>
          <a:solidFill>
            <a:srgbClr val="0E7490">
              <a:alpha val="60000"/>
            </a:srgbClr>
          </a:solidFill>
          <a:ln w="12700">
            <a:solidFill>
              <a:srgbClr val="0E749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Text 36"/>
          <p:cNvSpPr/>
          <p:nvPr/>
        </p:nvSpPr>
        <p:spPr>
          <a:xfrm>
            <a:off x="4937760" y="102412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937760" y="144475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4937760" y="144475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Text 39"/>
          <p:cNvSpPr/>
          <p:nvPr/>
        </p:nvSpPr>
        <p:spPr>
          <a:xfrm>
            <a:off x="5084064" y="14721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Extension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084064" y="174650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choice, household VoT calibration from NZ travel survey data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937760" y="222199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4937760" y="222199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Text 43"/>
          <p:cNvSpPr/>
          <p:nvPr/>
        </p:nvSpPr>
        <p:spPr>
          <a:xfrm>
            <a:off x="5084064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LLM-ABM Hybrid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084064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cognitive architecture: reactive (classical), deliberate (lightweight LLM), reflective (daily/weekly reasoning)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937760" y="299923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4937760" y="299923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Text 47"/>
          <p:cNvSpPr/>
          <p:nvPr/>
        </p:nvSpPr>
        <p:spPr>
          <a:xfrm>
            <a:off x="5084064" y="30266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Fee-Level Sweep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084064" y="3300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 the ToU schedule itself: the one experiment that would let us say how much to charge, not just whether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937760" y="3776472"/>
            <a:ext cx="3840480" cy="685800"/>
          </a:xfrm>
          <a:prstGeom prst="rect">
            <a:avLst/>
          </a:prstGeom>
          <a:solidFill>
            <a:srgbClr val="0E2A3D"/>
          </a:solidFill>
          <a:ln w="10160">
            <a:solidFill>
              <a:srgbClr val="0E749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4937760" y="3776472"/>
            <a:ext cx="64008" cy="685800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Text 51"/>
          <p:cNvSpPr/>
          <p:nvPr/>
        </p:nvSpPr>
        <p:spPr>
          <a:xfrm>
            <a:off x="5084064" y="38039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Up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084064" y="40782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beyond 2,500 agents (≈400k vehicles today); dynamic OD matrix replacing the fixed assumption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365760" y="4828032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github.com/dataandcrowd/SSC2026   |   h.shin@auckland.ac.nz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736</Words>
  <Application>Microsoft Macintosh PowerPoint</Application>
  <PresentationFormat>On-screen Show (16:9)</PresentationFormat>
  <Paragraphs>99</Paragraphs>
  <Slides>6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Pay, Oscillate, or Learn? Three Agent Decision Rules under Congestion Pricing</dc:title>
  <dc:subject>PptxGenJS Presentation</dc:subject>
  <dc:creator>Hyesop Shin</dc:creator>
  <cp:lastModifiedBy>Hyesop Shin</cp:lastModifiedBy>
  <cp:revision>2</cp:revision>
  <dcterms:created xsi:type="dcterms:W3CDTF">2026-06-03T22:09:15Z</dcterms:created>
  <dcterms:modified xsi:type="dcterms:W3CDTF">2026-06-03T22:15:07Z</dcterms:modified>
</cp:coreProperties>
</file>