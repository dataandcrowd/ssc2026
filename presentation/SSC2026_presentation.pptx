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6" r:id="rId17"/>
    <p:sldId id="267" r:id="rId18"/>
    <p:sldId id="268" r:id="rId19"/>
    <p:sldId id="264" r:id="rId15"/>
    <p:sldId id="262" r:id="rId13"/>
    <p:sldId id="263" r:id="rId14"/>
    <p:sldId id="265" r:id="rId16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3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9.xml"/><Relationship Id="rId16" Type="http://schemas.openxmlformats.org/officeDocument/2006/relationships/slide" Target="slides/slide12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91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67512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022592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70064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717536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065008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67512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022592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370064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717536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065008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67512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22592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70064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717536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065008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41248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67512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022592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70064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17536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65008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41248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Oscillate, or Learn?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365760" y="1828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 under Congestion Pricing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365760" y="2514600"/>
            <a:ext cx="41148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5760" y="2651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Simulation Conference 2026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017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Hyesop Shin   |   University of Auckland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Agent-Based Modelling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92808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92808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19856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419856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946904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946904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 CBD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73952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73952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Pricing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Behavioural Assumption Matter?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89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Auckland's Context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costs NZ$2.6B/yr. Time-of-Use (ToU) charging legislation passed Nov 2025. CBD cordon launch expected alongside City Rail Link.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107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107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models ask 'how much will traffic fall?' — but behavioural assumptions drive whether congestion shifts in time, in space, or not at all.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2179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825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with 2,500 heterogeneous agents (1 agent = 160 vehicles, calibrated to observed daily counts), Auckland CBD road network. Three decision rules, same pricing environment, same LoS measurement.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questions:  (1) How does decision rule choice affect V/C outcomes?   (2) Where does congestion shift spatially under ToU?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Rules: A Rationality Spectrum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783080" y="1005840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26280" y="100584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269480" y="1005840"/>
            <a:ext cx="347472" cy="3474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Static Rationality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0" y="1207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 →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" y="1463040"/>
            <a:ext cx="82296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0624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Rationality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P(entry) = e^(–α · fee / VoT)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20624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probability declines with fee/VoT ratio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memory, no adaptation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equilibrium assumption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−12% (fixed hour) to −26% (may reroute)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00400" y="1463040"/>
            <a:ext cx="82296" cy="3474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364992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364992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Bar Model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(No Learning)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if best predictor: E[congestion] &lt; 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64992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of predictors based on recent history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yesterday's congestion, not today's fee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Near-universal entry (91%), so little left to deter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0% in every arm — the charge never binds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44768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44768" y="1463040"/>
            <a:ext cx="82296" cy="3474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0936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09360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← Q(s,a) + α[r + γ·max Q(s',a') – Q(s,a)]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309360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time band x congestion band; action = enter or not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is absent from the decision — it enters only via the reward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response is learned over days, not applied at once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−39% if staying home is the only option, −14% if not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6-04 at 10.14.16.mov">
            <a:hlinkClick r:id="" action="ppaction://media"/>
            <a:extLst>
              <a:ext uri="{FF2B5EF4-FFF2-40B4-BE49-F238E27FC236}">
                <a16:creationId xmlns:a16="http://schemas.microsoft.com/office/drawing/2014/main" id="{01870293-2F5F-0615-90CA-289F5EEF9B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6125" y="0"/>
            <a:ext cx="76501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46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30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Charge Drivers?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road. Same price. Three very different outcomes — depending on how drivers think.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281635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28600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Driver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check the price and decide."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drivers enter at the peak: entry falls from 52% to 40%. Give them an hour of flexibility and the cut deepens from 12% to 18%.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8328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3959352"/>
            <a:ext cx="98808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2137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0.113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" y="4215384"/>
            <a:ext cx="890195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74243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Steady reduction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72968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72968" y="1417320"/>
            <a:ext cx="2816352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172968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😵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 Driver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 avoided it yesterday, so I'll go today."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read yesterday's congestion, not today's price. Almost everyone still enters (91%), so the charge has nothing left to deter — in every arm we tried.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2968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282696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82696" y="3959352"/>
            <a:ext cx="141731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45735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0.170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82696" y="4215384"/>
            <a:ext cx="1417319" cy="182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45735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0.170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solidFill>
            <a:srgbClr val="EF4444">
              <a:alpha val="12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response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17336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117336" y="1417320"/>
            <a:ext cx="2816352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17336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647688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Driver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"I'll try leaving earlier — it worked last week."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learn day by day. But this −39% assumes the only alternative is staying home: let them shift an hour and it falls to −14%.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17336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27064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7064" y="3959352"/>
            <a:ext cx="1108575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381359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0.129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27064" y="4215384"/>
            <a:ext cx="732057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004841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0.079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Largest cut in entries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365760" y="4818888"/>
            <a:ext cx="841248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right behavioural assumption changes not just how much congestion falls — but whether the policy works at all.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Who Actually Pays: the Charge Is Regressive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Left: of 500 agents in each value-of-time quintile, how many still enter as the fee rises. The $6 peak fee removes 59% of the lowest-income band and 6% of the highest — the same charge costs Q1 1.3 hours of its own time and Q5 0.28 hours.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Most of the congestion relief is bought by low-income drivers giving up the trip.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the learner deters every income band equally — but only because its reward values a commute at one tenth of an hour (red). Price it at half an hour (blue) and the familiar regressive pattern returns. Derived from the model's equations, not measured.</a:t>
            </a:r>
          </a:p>
        </p:txBody>
      </p:sp>
      <p:pic>
        <p:nvPicPr>
          <p:cNvPr id="6" name="Picture 5" descr="equity_by_incom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Shift an Hour: Fewer Trips Forgone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Retiming is the only option that changes HOW MANY trips are made. Pay's entry rate is unchanged (0.40) because only 2.7% of its entrants shift — all of them earlier, all of them low-income, since an hour of schedule delay costs 0.6 x VoT against a $2 saving.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is the opposite: given somewhere to move, 67% shift and entry jumps 0.34 → 0.62, so the measured congestion benefit falls from 39% to 14%.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A model where the only response is 'stay home' overstates what the charge achieves.</a:t>
            </a:r>
          </a:p>
        </p:txBody>
      </p:sp>
      <p:pic>
        <p:nvPicPr>
          <p:cNvPr id="6" name="Picture 5" descr="optin_retim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Take Another Road: Same Trips, New Places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Route choice leaves the number of trips untouched — entry rates are identical to three decimals (Pay 0.40, Learn 0.34) — and changes only where those trips go.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The no-charge baseline moves a lot: inner V/C rises (0.113 → 0.164 for Pay) while the cordon boundary falls by a third, because fixed shortest paths were funnelling traffic onto a few approach arterials.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This is the arm that makes displacement testable: the traffic still exists and can move. It still does not pile up outside the cordon.</a:t>
            </a:r>
          </a:p>
        </p:txBody>
      </p:sp>
      <p:pic>
        <p:nvPicPr>
          <p:cNvPr id="6" name="Picture 5" descr="optin_rerout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Why Learning Keeps Falling — and Herding Bounces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Pay reads the fee inside the decision, so its response is complete on day 1 and then flat.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never sees the fee when it decides — it only feels it in the reward. Entry starts at the no-charge level and slides for the whole fortnight (0.51 → 0.24), because the fee ($2–6) outweighs the congestion it could avoid (~0.3 in reward units) by an order of magnitude, so nothing pulls entry back up. Fee per entering agent is unchanged (2.83 → 2.75): deterrence, not retiming.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Oscillate is deterred on day 1 (0.57 vs 0.73) but its own feedback erases that within a day — by day 2 both regimes sit at 0.91.</a:t>
            </a:r>
          </a:p>
        </p:txBody>
      </p:sp>
      <p:pic>
        <p:nvPicPr>
          <p:cNvPr id="6" name="Picture 5" descr="entry_trajectory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Where the Charge Acts Within the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Hour-of-day inner-cordon V/C, days 8–14, no charge (grey) vs ToU (blue); shaded bands are the $6 peak and $4 shoulder fee windows. Pay −23% at the morning peak, Learn −49%, Oscillate +2%. The whole-day mean falls by as much as the peaks do, so the charge deters trips rather than spreading them.</a:t>
            </a:r>
          </a:p>
        </p:txBody>
      </p:sp>
      <p:pic>
        <p:nvPicPr>
          <p:cNvPr id="6" name="Picture 5" descr="hourly_profil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No Displacement onto the Ring Roads</a:t>
            </a:r>
          </a:p>
        </p:txBody>
      </p:sp>
      <p:pic>
        <p:nvPicPr>
          <p:cNvPr id="4" name="Picture 3" descr="map_re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54" y="1051560"/>
            <a:ext cx="704629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Change in per-link peak V/C under ToU: blue is a reduction, red an increase, dashed outline is the cordon. Under Pay and Learn the boundary and approach roads fall together with the interior (−24% and −37% at the boundary). Under Oscillate the map is mottled and the net change is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What We Let Agents Do Changes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Same network, same population, same fee schedule. The only difference is the set of responses an agent is allowed: forgo the trip only (grey), or also shift an hour (blue), reroute (orange), or both (green).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Pay is robust at 12–26%. Learn swings 39% → 14% — its headline needs the assumption that staying home is the only alternative. Oscillate is zero in every arm.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routing alone halves the load on the cordon boundary before any charge — the biggest single effect here is a modelling assumption, not a policy.</a:t>
            </a:r>
          </a:p>
        </p:txBody>
      </p:sp>
      <p:pic>
        <p:nvPicPr>
          <p:cNvPr id="6" name="Picture 5" descr="arms_comparison_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927" y="1024128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0372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2668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49224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90372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31520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72668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0372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31520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72668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49224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0372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72668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49224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1520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72668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2743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5760" y="896112"/>
            <a:ext cx="32004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" y="10241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1463040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6576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assumption shapes both magnitude and temporal redistribution of congestion — not just the quantity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2212848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57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2194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Q-learning's headline depends on what agents may do: −39% when the only option is to stay home, −14% when they can shift an hour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962656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65760" y="2962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3232" y="29443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shows what happens when agents track each other rather than the fee — entry stays at 91% and the charge does nothing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712464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3712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3232" y="369417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places competing theories side-by-side within a common environment — revealing structural differences invisible to aggregate models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6576" cy="374904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93776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37760" y="144475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144475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084064" y="14721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Extension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84064" y="17465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choice, household VoT calibration from NZ travel survey data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37760" y="222199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4937760" y="222199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084064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LLM-ABM Hybrid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84064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cognitive architecture: reactive (classical), deliberate (lightweight LLM), reflective (daily/weekly reasoning)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37760" y="299923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37760" y="299923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084064" y="3026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Routing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84064" y="3300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keep fixed shortest paths, so the only response is temporal — rerouting would test diversion around the cordon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937760" y="377647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937760" y="377647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5084064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84064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2,500 agents (≈400k vehicles today); dynamic OD matrix replacing the fixed assumption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github.com/dataandcrowd/SSC2026   |   h.shin@auckland.ac.nz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736</Words>
  <Application>Microsoft Macintosh PowerPoint</Application>
  <PresentationFormat>On-screen Show (16:9)</PresentationFormat>
  <Paragraphs>99</Paragraphs>
  <Slides>6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Pay, Oscillate, or Learn? Three Agent Decision Rules under Congestion Pricing</dc:title>
  <dc:subject>PptxGenJS Presentation</dc:subject>
  <dc:creator>Hyesop Shin</dc:creator>
  <cp:lastModifiedBy>Hyesop Shin</cp:lastModifiedBy>
  <cp:revision>2</cp:revision>
  <dcterms:created xsi:type="dcterms:W3CDTF">2026-06-03T22:09:15Z</dcterms:created>
  <dcterms:modified xsi:type="dcterms:W3CDTF">2026-06-03T22:15:07Z</dcterms:modified>
</cp:coreProperties>
</file>