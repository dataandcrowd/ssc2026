
<file path=[Content_Types].xml><?xml version="1.0" encoding="utf-8"?>
<Types xmlns="http://schemas.openxmlformats.org/package/2006/content-types"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59" r:id="rId6"/>
    <p:sldId id="270" r:id="rId21"/>
    <p:sldId id="271" r:id="rId22"/>
    <p:sldId id="266" r:id="rId17"/>
    <p:sldId id="267" r:id="rId18"/>
    <p:sldId id="268" r:id="rId19"/>
    <p:sldId id="264" r:id="rId15"/>
    <p:sldId id="262" r:id="rId13"/>
    <p:sldId id="263" r:id="rId14"/>
    <p:sldId id="265" r:id="rId16"/>
    <p:sldId id="269" r:id="rId20"/>
    <p:sldId id="260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176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5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0.xml"/><Relationship Id="rId16" Type="http://schemas.openxmlformats.org/officeDocument/2006/relationships/slide" Target="slides/slide13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4.xml"/><Relationship Id="rId21" Type="http://schemas.openxmlformats.org/officeDocument/2006/relationships/slide" Target="slides/slide6.xml"/>  <Relationship Id="rId22" Type="http://schemas.openxmlformats.org/officeDocument/2006/relationships/slide" Target="slides/slide16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491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microsoft.com/office/2007/relationships/media" Target="../media/media1.mov"/><Relationship Id="rId2" Type="http://schemas.openxmlformats.org/officeDocument/2006/relationships/video" Target="../media/media1.mov"/><Relationship Id="rId3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675120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022592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370064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7717536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8065008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412480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675120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022592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7370064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717536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065008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412480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675120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22592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370064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717536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065008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412480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675120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022592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370064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717536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65008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412480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65760" y="100584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Oscillate, or Learn?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365760" y="18288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 Decision Rules under Congestion Pricing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365760" y="2514600"/>
            <a:ext cx="4114800" cy="3657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65760" y="26517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Simulation Conference 2026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65760" y="3017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Hyesop Shin   |   University of Auckland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65760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Agent-Based Modelling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892808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892808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419856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3419856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946904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946904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Auckland CBD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73952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473952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Pricing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Behavioural Assumption Matter?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🏙️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89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Auckland's Context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389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costs NZ$2.6B/yr. Time-of-Use (ToU) charging legislation passed Nov 2025. CBD cordon launch expected alongside City Rail Link.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2461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❓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107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107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models ask 'how much will traffic fall?' — but behavioural assumptions drive whether congestion shifts in time, in space, or not at all.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2179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825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with 2,500 heterogeneous agents (1 agent = 160 vehicles, calibrated to observed daily counts), Auckland CBD road network. Three decision rules, same pricing environment, same LoS measurement.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questions:  (1) How does decision rule choice affect V/C outcomes?   (2) Where does congestion shift spatially under ToU?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 Decision Rules: A Rationality Spectrum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6459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783080" y="1005840"/>
            <a:ext cx="347472" cy="3474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26280" y="1005840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269480" y="1005840"/>
            <a:ext cx="347472" cy="3474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Static Rationality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0" y="1207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with Learning →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6032" y="1463040"/>
            <a:ext cx="82296" cy="3474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20624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20624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Decay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0624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Rationality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4048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84048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P(entry) = e^(–α · fee / VoT)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20624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probability declines with fee/VoT ratio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memory, no adaptation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equilibrium assumption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peak V/C −12% (fixed hour) to −26% (may reroute)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200400" y="1463040"/>
            <a:ext cx="82296" cy="3474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364992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364992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 Bar Model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64992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(No Learning)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28416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328416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 if best predictor: E[congestion] &lt; θ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364992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of predictors based on recent history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yesterday's congestion, not today's fee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Near-universal entry (91%), so little left to deter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0% in every arm — the charge never binds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44768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144768" y="1463040"/>
            <a:ext cx="82296" cy="3474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30936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309360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309360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with Learning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72784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272784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Q(s,a) ← Q(s,a) + α[r + γ·max Q(s',a') – Q(s,a)]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309360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time band x congestion band; action = enter or not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is absent from the decision — it enters only via the reward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response is learned over days, not applied at once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−39% if staying home is the only option, −14% if not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creen Recording 2026-06-04 at 10.14.16.mov">
            <a:hlinkClick r:id="" action="ppaction://media"/>
            <a:extLst>
              <a:ext uri="{FF2B5EF4-FFF2-40B4-BE49-F238E27FC236}">
                <a16:creationId xmlns:a16="http://schemas.microsoft.com/office/drawing/2014/main" id="{01870293-2F5F-0615-90CA-289F5EEF9BE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46125" y="0"/>
            <a:ext cx="765016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469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30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You Charge Drivers?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road. Same price. Three very different outcomes — depending on how drivers think.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281635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28600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58952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Driver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check the price and decide."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drivers enter at the peak: entry falls from 52% to 40%. Give them an hour of flexibility and the cut deepens from 12% to 18%.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8600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38328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38328" y="3959352"/>
            <a:ext cx="988089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372137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0.113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8328" y="4215384"/>
            <a:ext cx="890195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74243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0.100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38328" y="4471416"/>
            <a:ext cx="2596896" cy="219456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38328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Steady reduction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72968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172968" y="1417320"/>
            <a:ext cx="2816352" cy="4572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172968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😵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703320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Herd Driver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10128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"Everyone avoided it yesterday, so I'll go today."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10128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read yesterday's congestion, not today's price. Almost everyone still enters (91%), so the charge has nothing left to deter — in every arm we tried.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72968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282696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82696" y="3959352"/>
            <a:ext cx="1417319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745735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0.170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82696" y="4215384"/>
            <a:ext cx="1417319" cy="1828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4745735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0.170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282696" y="4471416"/>
            <a:ext cx="2596896" cy="219456"/>
          </a:xfrm>
          <a:prstGeom prst="rect">
            <a:avLst/>
          </a:prstGeom>
          <a:solidFill>
            <a:srgbClr val="EF4444">
              <a:alpha val="12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282696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response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17336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117336" y="1417320"/>
            <a:ext cx="2816352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117336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647688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Driver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fee stung last time — I'll skip the trip today."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54496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learn day by day. But this −39% assumes the only alternative is staying home: let them shift an hour and it falls to −14%.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17336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227064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27064" y="3959352"/>
            <a:ext cx="1108575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7381359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0.129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227064" y="4215384"/>
            <a:ext cx="732057" cy="182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7004841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0.079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227064" y="4471416"/>
            <a:ext cx="2596896" cy="219456"/>
          </a:xfrm>
          <a:prstGeom prst="rect">
            <a:avLst/>
          </a:prstGeom>
          <a:solidFill>
            <a:srgbClr val="10B981">
              <a:alpha val="12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6227064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Largest cut in entries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365760" y="4818888"/>
            <a:ext cx="841248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the right behavioural assumption changes not just how much congestion falls — but whether the policy works at all.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Calibrated on Volume and Space — Not on Time or OD</a:t>
            </a:r>
          </a:p>
        </p:txBody>
      </p:sp>
      <p:pic>
        <p:nvPicPr>
          <p:cNvPr id="4" name="Picture 3" descr="calibratio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2971800" cy="2743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617720" y="1115568"/>
            <a:ext cx="41148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8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0" y="1197864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0D2137"/>
                </a:solidFill>
                <a:latin typeface="Calibri"/>
              </a:rPr>
              <a:t>Volume: 1 agent = 160 vehicles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426464"/>
            <a:ext cx="3840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64748B"/>
                </a:solidFill>
                <a:latin typeface="Calibri"/>
              </a:rPr>
              <a:t>Flow-weighted modelled/observed ratio 1.013 across all 1,634 links (median 1.010). ~400,000 vehicle-trips a 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2048256"/>
            <a:ext cx="41148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8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2130552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0D2137"/>
                </a:solidFill>
                <a:latin typeface="Calibri"/>
              </a:rPr>
              <a:t>Space: 1,400 suburban trip ends added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359152"/>
            <a:ext cx="3840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64748B"/>
                </a:solidFill>
                <a:latin typeface="Calibri"/>
              </a:rPr>
              <a:t>Every non-home destination used to sit inside the cordon. Group ratios went from 0.75–1.80 to 0.82–1.20; CBD from 1.80 to 1.12.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2980944"/>
            <a:ext cx="41148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8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3063239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0D2137"/>
                </a:solidFill>
                <a:latin typeface="Calibri"/>
              </a:rPr>
              <a:t>Time: assumed, never fitted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91839"/>
            <a:ext cx="3840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64748B"/>
                </a:solidFill>
                <a:latin typeface="Calibri"/>
              </a:rPr>
              <a:t>Departure hours come from a fixed weight profile (~20% of trips at 08:00), not from observed data. Implied design-hour factor 0.157 vs the 0.10 assumed, so absolute LoS reads pessimistically.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3913632"/>
            <a:ext cx="41148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8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3995928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0D2137"/>
                </a:solidFill>
                <a:latin typeface="Calibri"/>
              </a:rPr>
              <a:t>OD matrix: synthetic, not estimated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224528"/>
            <a:ext cx="3840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64748B"/>
                </a:solidFill>
                <a:latin typeface="Calibri"/>
              </a:rPr>
              <a:t>Origins follow 2023 Census sector shares; destinations are drawn uniformly from the building stock. No gravity model, no observed trip ends. k = 0.08/0.10/0.12 leaves direction and ordering unchanged.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64748B"/>
                </a:solidFill>
                <a:latin typeface="Calibri"/>
              </a:rPr>
              <a:t>So: the model reproduces observed traffic volume and its spatial spread, not observed travel patterns. Calibration still changed the answers — it removed El Farol's oscillation and cut every congestion level, superseding the pre-calibration numbers.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Who Would Pay? Derived, Not Yet 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42900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Left (price rule): projected entries per value-of-time quintile as the fee rises. IF the decision rule holds, the $6 peak fee removes 59% of Q1’s trips against 6% of Q5’s — the same charge costs Q1 1.30 hours of its own time and Q5 0.28 hours.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Implication, conditional on the rule: most of the congestion relief would be bought by low-income drivers giving up trips.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Right (learner): a diagnosis, not a result — its flat income gradient exists only because the reward prices a commute at VoT/10. Valued at half an hour of VoT, the regressive pattern returns. The learner’s equity story is a scaling choice.</a:t>
            </a:r>
          </a:p>
        </p:txBody>
      </p:sp>
      <p:pic>
        <p:nvPicPr>
          <p:cNvPr id="6" name="Picture 5" descr="equity_by_income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630" y="989000"/>
            <a:ext cx="6202741" cy="2377440"/>
          </a:xfrm>
          <a:prstGeom prst="rect">
            <a:avLst/>
          </a:prstGeom>
        </p:spPr>
      </p:pic>
      <p:sp>
        <p:nvSpPr>
          <p:cNvPr id="20" name="StatusBadge"/>
          <p:cNvSpPr/>
          <p:nvPr/>
        </p:nvSpPr>
        <p:spPr>
          <a:xfrm>
            <a:off x="7132320" y="274320"/>
            <a:ext cx="1737360" cy="365760"/>
          </a:xfrm>
          <a:prstGeom prst="roundRect">
            <a:avLst/>
          </a:prstGeom>
          <a:noFill/>
          <a:ln w="19050">
            <a:solidFill>
              <a:srgbClr val="F59E0B"/>
            </a:solidFill>
          </a:ln>
        </p:spPr>
        <p:txBody>
          <a:bodyPr anchor="ctr" lIns="0" rIns="0"/>
          <a:lstStyle/>
          <a:p>
            <a:pPr algn="ctr"/>
            <a:r>
              <a:rPr sz="1000" b="1">
                <a:solidFill>
                  <a:srgbClr val="F59E0B"/>
                </a:solidFill>
                <a:latin typeface="Calibri"/>
              </a:rPr>
              <a:t>DERIVED — NOT MEASURED</a:t>
            </a:r>
          </a:p>
        </p:txBody>
      </p:sp>
      <p:sp>
        <p:nvSpPr>
          <p:cNvPr id="21" name="StatusStrip"/>
          <p:cNvSpPr/>
          <p:nvPr/>
        </p:nvSpPr>
        <p:spPr>
          <a:xfrm>
            <a:off x="365760" y="4526280"/>
            <a:ext cx="8412480" cy="54864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59E0B"/>
            </a:solidFill>
          </a:ln>
        </p:spPr>
        <p:txBody>
          <a:bodyPr anchor="ctr" lIns="182880" rIns="182880"/>
          <a:lstStyle/>
          <a:p>
            <a:r>
              <a:rPr sz="1000" b="1">
                <a:solidFill>
                  <a:srgbClr val="92400E"/>
                </a:solidFill>
                <a:latin typeface="Calibri"/>
              </a:rPr>
              <a:t>How these numbers were obtained: </a:t>
            </a:r>
            <a:r>
              <a:rPr sz="1000">
                <a:solidFill>
                  <a:srgbClr val="92400E"/>
                </a:solidFill>
                <a:latin typeface="Calibri"/>
              </a:rPr>
              <a:t>the model’s decision and reward equations applied to the calibrated VoT distribution (median NZ$10/h). No run has recorded entries by income band, so regressivity is a projection of the assumed rule, not a confirmed simulation outcome. A recording re-run is planned.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Let Them Shift an Hour: Fewer Trips Forgone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Retiming is the only option that changes HOW MANY trips are made. Pay's entry rate is unchanged (0.40) because only 2.7% of its entrants shift — all of them earlier, all of them low-income, since an hour of schedule delay costs 0.6 x VoT against a $2 saving.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Learn is the opposite: given somewhere to move, 67% shift and entry jumps 0.34 → 0.62, so the measured congestion benefit falls from 39% to 14%.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A model where the only response is 'stay home' overstates what the charge achieves.</a:t>
            </a:r>
          </a:p>
        </p:txBody>
      </p:sp>
      <p:pic>
        <p:nvPicPr>
          <p:cNvPr id="6" name="Picture 5" descr="optin_retiming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78" y="1024128"/>
            <a:ext cx="7275443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Let Them Take Another Road: Same Trips, New Places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Route choice leaves the number of trips untouched — entry rates are identical to three decimals (Pay 0.40, Learn 0.34) — and changes only where those trips go.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The no-charge baseline moves a lot: inner V/C rises (0.113 → 0.164 for Pay) while the cordon boundary falls by a third, because fixed shortest paths were funnelling traffic onto a few approach arterials.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This is the arm that makes displacement testable: the traffic still exists and can move. It still does not pile up outside the cordon.</a:t>
            </a:r>
          </a:p>
        </p:txBody>
      </p:sp>
      <p:pic>
        <p:nvPicPr>
          <p:cNvPr id="6" name="Picture 5" descr="optin_rerouting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78" y="1024128"/>
            <a:ext cx="7275443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Why Learning Keeps Falling — and Herding Bounces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794760"/>
            <a:ext cx="8412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Pay reads the fee inside the decision, so its response is complete on day 1 and then flat.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Learn never sees the fee when it decides — it only feels it in the reward. Entry starts at the no-charge level and slides for the whole fortnight (0.51 → 0.24), because the fee ($2–6) outweighs the congestion it could avoid (~0.3 in reward units) by an order of magnitude, so nothing pulls entry back up. Fee per entering agent is unchanged (2.83 → 2.75): deterrence, not retiming.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Oscillate is deterred on day 1 (0.57 vs 0.73) but its own feedback erases that within a day — by day 2 both regimes sit at 0.91.</a:t>
            </a:r>
          </a:p>
        </p:txBody>
      </p:sp>
      <p:pic>
        <p:nvPicPr>
          <p:cNvPr id="6" name="Picture 5" descr="entry_trajectory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27" y="1051560"/>
            <a:ext cx="7606145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Where the Charge Acts Within the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77639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64748B"/>
                </a:solidFill>
                <a:latin typeface="Calibri"/>
              </a:rPr>
              <a:t>Hour-of-day inner-cordon V/C, days 8–14, no charge (grey) vs ToU (blue); shaded bands are the $6 peak and $4 shoulder fee windows. Pay −23% at the morning peak, Learn −49%, Oscillate +2%. The whole-day mean falls by as much as the peaks do, so the charge deters trips rather than spreading them.</a:t>
            </a:r>
          </a:p>
        </p:txBody>
      </p:sp>
      <p:pic>
        <p:nvPicPr>
          <p:cNvPr id="6" name="Picture 5" descr="hourly_profile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27" y="1051560"/>
            <a:ext cx="7606145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No Displacement onto the Ring Roads — So Far</a:t>
            </a:r>
          </a:p>
        </p:txBody>
      </p:sp>
      <p:pic>
        <p:nvPicPr>
          <p:cNvPr id="4" name="Picture 3" descr="map_re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54" y="1051560"/>
            <a:ext cx="7046291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977639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64748B"/>
                </a:solidFill>
                <a:latin typeface="Calibri"/>
              </a:rPr>
              <a:t>Change in per-link peak V/C under ToU: blue is a reduction, red an increase, dashed outline is the cordon. Under Pay and Learn the boundary and approach roads fall together with the interior (−24% and −37% at the boundary). Under Oscillate the map is mottled and the net change is zero.</a:t>
            </a:r>
          </a:p>
          <a:p>
            <a:r>
              <a:rPr sz="1100" b="1">
                <a:solidFill>
                  <a:srgbClr val="92400E"/>
                </a:solidFill>
                <a:latin typeface="Calibri"/>
              </a:rPr>
              <a:t>Caveat: </a:t>
            </a:r>
            <a:r>
              <a:rPr sz="1100">
                <a:solidFill>
                  <a:srgbClr val="92400E"/>
                </a:solidFill>
                <a:latin typeface="Calibri"/>
              </a:rPr>
              <a:t>in these runs a declining agent’s suburban trips were cancelled along with its CBD trip (~100,000 vehicle-trips/day), which flatters the reductions outside the cordon. The model is now fixed; this map awaits a re-run.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What We Let Agents Do Changes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794760"/>
            <a:ext cx="8412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Same network, same population, same fee schedule. The only difference is the set of responses an agent is allowed: forgo the trip only (grey), or also shift an hour (blue), reroute (orange), or both (green).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Pay is robust at 12–26%. Learn swings 39% → 14% — its headline needs the assumption that staying home is the only alternative. Oscillate is zero in every arm.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Right: routing alone halves the load on the cordon boundary before any charge — the biggest single effect here is a modelling assumption, not a policy.</a:t>
            </a:r>
          </a:p>
        </p:txBody>
      </p:sp>
      <p:pic>
        <p:nvPicPr>
          <p:cNvPr id="6" name="Picture 5" descr="arms_comparison_g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927" y="1024128"/>
            <a:ext cx="7606145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What This Model Cannot Say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77824"/>
            <a:ext cx="3200400" cy="3657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6926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B6C6D2"/>
                </a:solidFill>
                <a:latin typeface="Calibri"/>
              </a:rPr>
              <a:t>Seven limits that bound every number in this talk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380744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Single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18488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Day-to-day spreads are variation within one seed, not run-to-run uncertainty. Only El Farol has a five-seed replication.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298448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1298448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19472" y="1380744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Fee level untested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9472" y="1618488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No fee-level sweep on the calibrated model. The beta sweep varies price sensitivity, not price.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31136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31136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313432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Equity is derived, not measured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2551176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Quintile results come from the decision and reward equations. No run recorded entries by income band.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231136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80" y="2231136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2313432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Learn rests on two arbitrary settings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2551176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Its reward values a commute at VoT/10, and its action space decides the headline (39 % vs 14 %).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63824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163824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Routing answers to congestion, not the fee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483864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A CBD-bound agent pays whichever road it takes, so cordon-dodging is still untested.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163824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0" y="3163824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3246120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Demand is synthetic, not observed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3483864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No observed OD matrix or time-of-day profile: destinations are drawn uniformly, departure hours from a fixed weight list. Volume and spatial spread are fitted; travel patterns are not.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096512"/>
            <a:ext cx="8046720" cy="896112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096512"/>
            <a:ext cx="64008" cy="89611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178808"/>
            <a:ext cx="77266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A declined trip cancelled the agent’s whole day — fixed 29 Jul 2026, re-run pending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" y="4416552"/>
            <a:ext cx="772667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All 1,500 CBD-bound agents are multi-stop (3.76 destinations each), and declining the charge deactivated the whole agent — roughly 100,000 vehicle-trips a day left roads outside the cordon for no behavioural reason, inflating the peripheral reductions and the no-displacement result. The code now drops only the CBD stops; every number here predates that fix. The k-factor sweep re-grades identical traffic, so it never tested this.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0372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31520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72668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649224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690372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731520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72668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49224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0372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31520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72668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49224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0372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31520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72668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49224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90372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31520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72668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65760" y="27432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Next Steps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365760" y="896112"/>
            <a:ext cx="3200400" cy="3657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65760" y="102412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1463040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65760" y="14630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3232" y="14447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assumption shapes both magnitude and temporal redistribution of congestion — not just the quantity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2212848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65760" y="2212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21945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Q-learning's headline depends on what agents may do: −39% when the only option is to stay home, −14% when they can shift an hour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2962656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65760" y="29626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13232" y="294436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 shows what happens when agents track each other rather than the fee — entry stays at 91% and the charge does nothing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3712464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65760" y="3712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3232" y="369417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places competing theories side-by-side within a common environment — revealing structural differences invisible to aggregate models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09160" y="1005840"/>
            <a:ext cx="36576" cy="3749040"/>
          </a:xfrm>
          <a:prstGeom prst="rect">
            <a:avLst/>
          </a:prstGeom>
          <a:solidFill>
            <a:srgbClr val="0E7490">
              <a:alpha val="60000"/>
            </a:srgbClr>
          </a:solidFill>
          <a:ln w="12700">
            <a:solidFill>
              <a:srgbClr val="0E749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937760" y="1024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937760" y="144475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937760" y="144475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084064" y="14721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Extension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84064" y="17465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choice, household VoT calibration from NZ travel survey data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937760" y="222199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4937760" y="222199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5084064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LLM-ABM Hybrid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84064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cognitive architecture: reactive (classical), deliberate (lightweight LLM), reflective (daily/weekly reasoning)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37760" y="299923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4937760" y="299923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5084064" y="3026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Fee-Level Sweep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084064" y="3300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the ToU schedule itself: the one experiment that would let us say how much to charge, not just whether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937760" y="377647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4937760" y="377647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5084064" y="38039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084064" y="40782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beyond 2,500 agents (≈400k vehicles today); dynamic OD matrix replacing the fixed assumption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365760" y="482803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github.com/dataandcrowd/SSC2026   |   h.shin@auckland.ac.nz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How Much to Trust Each Number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77824"/>
            <a:ext cx="3200400" cy="3657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6926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B6C6D2"/>
                </a:solidFill>
                <a:latin typeface="Calibri"/>
              </a:rPr>
              <a:t>Evidence status: what is measured, what is only derived, and what is superseded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380744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MEASURED in the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18488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Peak V/C by rule and arm, entry trajectories, hourly profiles, LoS shares, the redistribution map. Seed 11, 14 days, day-to-day SD quoted with every mean.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298448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1298448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19472" y="1380744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DERIVED — not yet 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9472" y="1618488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The income-quintile burden and the learner’s reward diagnosis — the model’s equations applied to the calibrated VoT distribution, with no run recording entries by income band. The OD matrix and time-of-day profile are likewise assumed, not estimated.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31136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31136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313432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SUPERSEDED — not quoted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2551176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Every pre-calibration number, El Farol’s ‘oscillation’ (a demand-level artefact) and Learn’s −39% base-arm headline (an action-space artefact).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231136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80" y="2231136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2313432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RANGES, not point estimates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2551176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ToU cut in peak inner V/C: Pay 12–26%, Learn 14–39%, Oscillate 0%. The width comes from what agents are allowed to do, not from the decision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63824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163824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Controlled comparison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483864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One network, one population, one fee schedule and one seed across all rules and arms — differences between cells are attributable, not sampling noise.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163824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0" y="3163824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3246120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Direction robust to capacity assumption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3483864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k = 0.08 / 0.10 / 0.12 changes how congestion is graded, never the sign or ordering of any pricing effect — so we report differences, not absolute LoS.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096512"/>
            <a:ext cx="8046720" cy="896112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096512"/>
            <a:ext cx="64008" cy="89611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178808"/>
            <a:ext cx="77266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KNOWN BIAS, under repair: a declined CBD entry cancelled the agent’s whole day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" y="4416552"/>
            <a:ext cx="772667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Deleting a declining agent deleted its suburban errands too — roughly 100,000 vehicle-trips a day vanished from roads outside the cordon, flattering the peripheral reductions and the no-displacement result. Fixed in the model on 29 Jul 2026 (decliners now keep their non-CBD stops); every number in this talk predates the fix, and the re-run is pending.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736</Words>
  <Application>Microsoft Macintosh PowerPoint</Application>
  <PresentationFormat>On-screen Show (16:9)</PresentationFormat>
  <Paragraphs>99</Paragraphs>
  <Slides>6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Pay, Oscillate, or Learn? Three Agent Decision Rules under Congestion Pricing</dc:title>
  <dc:subject>PptxGenJS Presentation</dc:subject>
  <dc:creator>Hyesop Shin</dc:creator>
  <cp:lastModifiedBy>Hyesop Shin</cp:lastModifiedBy>
  <cp:revision>2</cp:revision>
  <dcterms:created xsi:type="dcterms:W3CDTF">2026-06-03T22:09:15Z</dcterms:created>
  <dcterms:modified xsi:type="dcterms:W3CDTF">2026-06-03T22:15:07Z</dcterms:modified>
</cp:coreProperties>
</file>